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15 seconds.
SAY: "Good morning. We are [introduce the three team members]. Our project is ProcScope, a Linux Process Tree Visualizer for Ubuntu. It shows how running programs are connected as parents and children, live in a web browser."
TERMS: A "process" is a running program. A "process tree" shows which process started which.
TRANSITION: "Let me first explain the problem we wanted to solve."
NOTE: Faculty guide name is intentionally omitted (not supplied). Add it here only if your department requires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25 seconds.
SAY: "Every program on Linux is a process, and every process is started by another process, its parent. Together they form a family tree. The trouble is that this tree changes constantly, and the standard command-line tools print it as flat text. A first-year student looking at rows of numbers cannot easily see who is whose parent, or notice a zombie or an orphan."
TERMS: PID = process ID number. PPID = the parent's PID. The tool output on the right is ILLUSTRATIVE, not real output from our machine.
TRANSITION: "So our objectives were as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20 seconds.
SAY: "We had six objectives, and all six are implemented in the delivered code: draw the live tree, let users explore it, show process details, show lifecycle changes, teach OS concepts with controlled experiments, and cross-check the result against existing Linux tools."
TERMS: "Lifecycle" means start, run, exit. "Controlled experiments" are small C programs that create specific process situations on purpose.
WARNING: "Implemented" is supported by the code and the validation report. Browser behaviour on the target Ubuntu machine has not yet been confirmed by an end-to-end review (see slide 11).
TRANSITION: "Before the design, how do existing tools fit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30 seconds.
SAY: "ps, pstree and htop are mature, trusted tools, and we used ps and pstree to check our own results. We do not claim ProcScope is better. It complements them: an interactive tree in the browser, clear labels that separate what was observed from what was inferred, identity handling that survives PID reuse, a verification script, and a Lab for learning."
TERMS: "PID reuse" means Linux can give an old PID to a brand-new process later.
WARNING: Do not say ProcScope replaces or beats these tools. The README states it does not.
TRANSITION: "Here is how the system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45 seconds.
SAY: "Follow the top row left to right. Linux exposes process data through /proc. Our Python collector reads it. We then build each process's identity and the parent-to-children map. A small Python server, bound to 127.0.0.1 only, serves this as JSON, and the browser draws it using plain HTML, CSS and JavaScript."
SAY: "Below are the optional parts. The timeline tracker compares snapshots. The optional event collector can add kernel events if the kernel and permissions allow. The C Process Lab is separate: it only creates controlled processes so you can watch them appear in the tree."
KEY POINT: "The core Explorer works by itself. If the Lab or event collector is missing, the snapshot tree still works."
TERMS: "Loopback / 127.0.0.1" means only this computer can connect. "Netlink / CN_PROC" is a Linux kernel interface that can report process events.
TRANSITION: "The most important screen is the tree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50 seconds.
SAY: "This is a CONCEPTUAL mockup, not a screenshot, and the PIDs are illustrative. Each box is a process showing its PID and its PPID. The line to a child is drawn because the child's PPID equals the parent's PID. In the real Explorer you can expand and collapse branches, search by name or PID, click a process to see its details, and press Follow family to highlight a process, its ancestors and its descendants, as shown here."
TERMS: "Ancestor" = parent, grandparent and so on. "Descendant" = children, grandchildren and so on.
DEMO TIP: If the live demo works, switch to the real Explorer at this point.
WARNING: This slide is a mockup. Replace it with a real screenshot taken on the target Ubuntu machine if possible.
TRANSITION: "Now, what technology is under the 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25 seconds.
SAY: "The backend is Python using only the standard library, reading /proc. The frontend is plain HTML, CSS and JavaScript with no build step and no Node.js needed at runtime. The Lab is written in C and compiled when you start an experiment. To tell processes apart across time we use the boot ID, PID and start time."
IMPORTANT: "For live updates the browser polls the server every two seconds using fetch. We do NOT use Server-Sent Events." This matches the code (setInterval 2000 ms in static/app.js).
SAY: "We also have a unittest suite and a verification script."
TERMS: "Standard library" = comes with Python, nothing extra to install. "Polling" = asking again at fixed intervals.
TRANSITION: "Now the timeline and why identity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45 seconds.
SAY: "Our timeline works by comparing one snapshot of /proc with the previous one. If a process is new, or has vanished, we record that, and we label it 'inferred', because we did not see the event happen. If optional kernel events are available, those are labelled 'observed'."
SAY: "PID alone is not enough: Linux can reuse a PID after a process exits. So we combine the boot ID, the PID, and the process start time. Two processes with the same PID but different start times are different lifetimes. The numbers on the slide are illustrative."
LIMITS: "A process that starts and exits between two snapshots is invisible to snapshot mode. Event mode depends on kernel support and permissions, may lose events, and is not an audit log."
WARNING: Optional event mode was NOT confirmed in the validation run. Do not claim it works on the demo machine unless you test it first.
TERMS: "Boot ID" = a unique ID created each time the computer boots. "Start time ticks" = when the process began, in kernel clock units.
TRANSITION: "Next, the educational part: the Process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50 seconds.
SAY: "The Lab has five small C programs. Each creates a situation from an operating-systems course so you can watch it in the live tree."
1) ZOMBIE: "A child finishes but its parent has not yet collected its exit status, so it stays in the table in state Z."
2) ORPHAN: "The parent exits while the child keeps running, and Linux re-parents the child to init or a subreaper."
3) PIPELINE: "A parent creates two children connected by a pipe."
4) THREADS: "Three threads run inside ONE process; threads share memory, processes do not."
5) FORK/EXEC: "fork creates a child; exec replaces its program with another, here sleep."
SAFETY: "Only these five fixed names can be run. They run as the current user, last 20 to 25 seconds, at most four at once, and are cleaned up with Stop or on shutdown. The Lab is educational, not a sandbox. The core Explorer works without it."
DEMO TIP: Run Zombie or Fork/exec first: easiest to see.
WARNING: Real Lab behaviour in a browser on the target machine still needs to be confirmed; the Lab manager start/stop was verified in the development environment.
TRANSITION: "How do we check our results are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30 seconds.
SAY: "Reports let you export a snapshot as JSON or CSV. Command-line arguments and executable paths are redacted by default, because they can contain private data. You can also compare snapshots in the session and see collector diagnostics."
SAY: "For verification, our script verify_tree.py reads parent IDs from ps and compares them to ours. If pstree is installed, it samples up to 50 processes and compares each one's immediate parent from pstree's ancestry output."
CAUTION: "These commands run one after another, so a process can change in between. A small mismatch is not automatically a bug; repeat on a quiet system."
TERMS: "Redacted" = hidden. "Cross-check" = comparing with an independent source.
TRANSITION: "Here is what the supplied evidence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30 seconds.
SAY: "These results come from the project's own validation report for version 1.0.1, and they were produced in a development Linux environment, not on our target Ubuntu machine. 23 automated tests passed, Python and strict C compilation passed, all five Lab experiments were started and stopped with no leftover processes, the main web endpoints responded, and the tree check found zero mismatches in 18 comparisons with ps and 13 with pstree; five pstree checks were skipped."
SAY: "We also want to be honest about what is not yet verified: a real-browser click-through, acceptance testing on the target Ubuntu machine, and kernel event mode with privileges."
WARNING: Do NOT say 'tested on Ubuntu' or 'browser tested' unless you have personally run ./run_tests.sh, python3 verify_tree.py and clicked through all four sections on the demo machine. If you have, update this slide with your own results and screenshots. No application screenshots were in the supplied ZIP.
TRANSITION: "Now the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20 seconds.
SAY: "Being honest about limits is part of the design. Snapshots are best-effort and not atomic, so very short-lived processes can be missed. Event collection is optional and depends on kernel support and permissions. Some fields are not readable for every process. Timeline history is held in memory and resets when the server restarts."
SAY: "Future work, which we have NOT implemented, could include saving history, deeper historical analysis, and more visualizations."
TERMS: "Atomic" = captured at one single instant.
TRANSITION: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20 seconds.
SAY: "To conclude: ProcScope turns the hidden Linux process family tree into something you can see, search and explore. Technically it combines a /proc collector, PID-reuse-aware identity, and clearly labelled inferred versus observed timeline entries. Educationally, five controlled experiments let students watch zombies, orphans, pipes, threads and exec happen. And it is checked against ps and pstree. We are clear about what remains to be verified on the target machine."
TRANSITION: "Thank you. We would be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remaining buffer (about 10 seconds); total talk about 6 minutes 50 seconds.
SAY: "Thank you. We are happy to answer questions."
PREPARE: See ProcScope_Viva_Preparation.docx. If asked about browser or Ubuntu testing, say plainly what the validation report shows (development-environment results) and what remains to be done.
IF ASKED TO DEMO: Follow ProcScope_Demo_Script.docx recovery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426"/>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7F93AB"/>
                </a:solidFill>
                <a:latin typeface="Calibri" pitchFamily="34" charset="0"/>
                <a:ea typeface="Calibri" pitchFamily="34" charset="-122"/>
                <a:cs typeface="Calibri" pitchFamily="34" charset="-120"/>
              </a:rPr>
              <a:t>ProcScope · Linux Process Tree Visualizer</a:t>
            </a:r>
            <a:endParaRPr lang="en-US" sz="1100" dirty="0"/>
          </a:p>
        </p:txBody>
      </p:sp>
      <p:sp>
        <p:nvSpPr>
          <p:cNvPr id="3" name="Text 1"/>
          <p:cNvSpPr/>
          <p:nvPr>
            <p:ph idx="101"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rgbClr val="F1F6FB"/>
                </a:solidFill>
                <a:latin typeface="Calibri" pitchFamily="34" charset="0"/>
                <a:ea typeface="Calibri" pitchFamily="34" charset="-122"/>
                <a:cs typeface="Calibri"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93A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RO">
    <p:bg>
      <p:bgPr>
        <a:solidFill>
          <a:srgbClr val="0B142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93A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692640" y="1636776"/>
            <a:ext cx="0" cy="283464"/>
          </a:xfrm>
          <a:prstGeom prst="line">
            <a:avLst/>
          </a:prstGeom>
          <a:noFill/>
          <a:ln w="19050">
            <a:solidFill>
              <a:srgbClr val="0E7C86"/>
            </a:solidFill>
            <a:prstDash val="solid"/>
          </a:ln>
        </p:spPr>
      </p:sp>
      <p:sp>
        <p:nvSpPr>
          <p:cNvPr id="3" name="Shape 1"/>
          <p:cNvSpPr/>
          <p:nvPr/>
        </p:nvSpPr>
        <p:spPr>
          <a:xfrm>
            <a:off x="8503920" y="1920240"/>
            <a:ext cx="1188720" cy="0"/>
          </a:xfrm>
          <a:prstGeom prst="line">
            <a:avLst/>
          </a:prstGeom>
          <a:noFill/>
          <a:ln w="19050">
            <a:solidFill>
              <a:srgbClr val="0E7C86"/>
            </a:solidFill>
            <a:prstDash val="solid"/>
          </a:ln>
        </p:spPr>
      </p:sp>
      <p:sp>
        <p:nvSpPr>
          <p:cNvPr id="4" name="Shape 2"/>
          <p:cNvSpPr/>
          <p:nvPr/>
        </p:nvSpPr>
        <p:spPr>
          <a:xfrm>
            <a:off x="8503920" y="1920240"/>
            <a:ext cx="0" cy="283464"/>
          </a:xfrm>
          <a:prstGeom prst="line">
            <a:avLst/>
          </a:prstGeom>
          <a:noFill/>
          <a:ln w="19050">
            <a:solidFill>
              <a:srgbClr val="0E7C86"/>
            </a:solidFill>
            <a:prstDash val="solid"/>
          </a:ln>
        </p:spPr>
      </p:sp>
      <p:sp>
        <p:nvSpPr>
          <p:cNvPr id="5" name="Shape 3"/>
          <p:cNvSpPr/>
          <p:nvPr/>
        </p:nvSpPr>
        <p:spPr>
          <a:xfrm>
            <a:off x="9692640" y="1636776"/>
            <a:ext cx="0" cy="283464"/>
          </a:xfrm>
          <a:prstGeom prst="line">
            <a:avLst/>
          </a:prstGeom>
          <a:noFill/>
          <a:ln w="19050">
            <a:solidFill>
              <a:srgbClr val="0E7C86"/>
            </a:solidFill>
            <a:prstDash val="solid"/>
          </a:ln>
        </p:spPr>
      </p:sp>
      <p:sp>
        <p:nvSpPr>
          <p:cNvPr id="6" name="Shape 4"/>
          <p:cNvSpPr/>
          <p:nvPr/>
        </p:nvSpPr>
        <p:spPr>
          <a:xfrm>
            <a:off x="9692640" y="1920240"/>
            <a:ext cx="1188720" cy="0"/>
          </a:xfrm>
          <a:prstGeom prst="line">
            <a:avLst/>
          </a:prstGeom>
          <a:noFill/>
          <a:ln w="19050">
            <a:solidFill>
              <a:srgbClr val="0E7C86"/>
            </a:solidFill>
            <a:prstDash val="solid"/>
          </a:ln>
        </p:spPr>
      </p:sp>
      <p:sp>
        <p:nvSpPr>
          <p:cNvPr id="7" name="Shape 5"/>
          <p:cNvSpPr/>
          <p:nvPr/>
        </p:nvSpPr>
        <p:spPr>
          <a:xfrm>
            <a:off x="10881360" y="1920240"/>
            <a:ext cx="0" cy="283464"/>
          </a:xfrm>
          <a:prstGeom prst="line">
            <a:avLst/>
          </a:prstGeom>
          <a:noFill/>
          <a:ln w="19050">
            <a:solidFill>
              <a:srgbClr val="0E7C86"/>
            </a:solidFill>
            <a:prstDash val="solid"/>
          </a:ln>
        </p:spPr>
      </p:sp>
      <p:sp>
        <p:nvSpPr>
          <p:cNvPr id="8" name="Shape 6"/>
          <p:cNvSpPr/>
          <p:nvPr/>
        </p:nvSpPr>
        <p:spPr>
          <a:xfrm>
            <a:off x="8503920" y="2642616"/>
            <a:ext cx="0" cy="283464"/>
          </a:xfrm>
          <a:prstGeom prst="line">
            <a:avLst/>
          </a:prstGeom>
          <a:noFill/>
          <a:ln w="19050">
            <a:solidFill>
              <a:srgbClr val="0E7C86"/>
            </a:solidFill>
            <a:prstDash val="solid"/>
          </a:ln>
        </p:spPr>
      </p:sp>
      <p:sp>
        <p:nvSpPr>
          <p:cNvPr id="9" name="Shape 7"/>
          <p:cNvSpPr/>
          <p:nvPr/>
        </p:nvSpPr>
        <p:spPr>
          <a:xfrm>
            <a:off x="7863840" y="2926080"/>
            <a:ext cx="640080" cy="0"/>
          </a:xfrm>
          <a:prstGeom prst="line">
            <a:avLst/>
          </a:prstGeom>
          <a:noFill/>
          <a:ln w="19050">
            <a:solidFill>
              <a:srgbClr val="0E7C86"/>
            </a:solidFill>
            <a:prstDash val="solid"/>
          </a:ln>
        </p:spPr>
      </p:sp>
      <p:sp>
        <p:nvSpPr>
          <p:cNvPr id="10" name="Shape 8"/>
          <p:cNvSpPr/>
          <p:nvPr/>
        </p:nvSpPr>
        <p:spPr>
          <a:xfrm>
            <a:off x="7863840" y="2926080"/>
            <a:ext cx="0" cy="283464"/>
          </a:xfrm>
          <a:prstGeom prst="line">
            <a:avLst/>
          </a:prstGeom>
          <a:noFill/>
          <a:ln w="19050">
            <a:solidFill>
              <a:srgbClr val="0E7C86"/>
            </a:solidFill>
            <a:prstDash val="solid"/>
          </a:ln>
        </p:spPr>
      </p:sp>
      <p:sp>
        <p:nvSpPr>
          <p:cNvPr id="11" name="Shape 9"/>
          <p:cNvSpPr/>
          <p:nvPr/>
        </p:nvSpPr>
        <p:spPr>
          <a:xfrm>
            <a:off x="8503920" y="2642616"/>
            <a:ext cx="0" cy="283464"/>
          </a:xfrm>
          <a:prstGeom prst="line">
            <a:avLst/>
          </a:prstGeom>
          <a:noFill/>
          <a:ln w="19050">
            <a:solidFill>
              <a:srgbClr val="0E7C86"/>
            </a:solidFill>
            <a:prstDash val="solid"/>
          </a:ln>
        </p:spPr>
      </p:sp>
      <p:sp>
        <p:nvSpPr>
          <p:cNvPr id="12" name="Shape 10"/>
          <p:cNvSpPr/>
          <p:nvPr/>
        </p:nvSpPr>
        <p:spPr>
          <a:xfrm>
            <a:off x="8503920" y="2926080"/>
            <a:ext cx="640080" cy="0"/>
          </a:xfrm>
          <a:prstGeom prst="line">
            <a:avLst/>
          </a:prstGeom>
          <a:noFill/>
          <a:ln w="19050">
            <a:solidFill>
              <a:srgbClr val="0E7C86"/>
            </a:solidFill>
            <a:prstDash val="solid"/>
          </a:ln>
        </p:spPr>
      </p:sp>
      <p:sp>
        <p:nvSpPr>
          <p:cNvPr id="13" name="Shape 11"/>
          <p:cNvSpPr/>
          <p:nvPr/>
        </p:nvSpPr>
        <p:spPr>
          <a:xfrm>
            <a:off x="9144000" y="2926080"/>
            <a:ext cx="0" cy="283464"/>
          </a:xfrm>
          <a:prstGeom prst="line">
            <a:avLst/>
          </a:prstGeom>
          <a:noFill/>
          <a:ln w="19050">
            <a:solidFill>
              <a:srgbClr val="0E7C86"/>
            </a:solidFill>
            <a:prstDash val="solid"/>
          </a:ln>
        </p:spPr>
      </p:sp>
      <p:sp>
        <p:nvSpPr>
          <p:cNvPr id="14" name="Shape 12"/>
          <p:cNvSpPr/>
          <p:nvPr/>
        </p:nvSpPr>
        <p:spPr>
          <a:xfrm>
            <a:off x="10881360" y="2642616"/>
            <a:ext cx="0" cy="283464"/>
          </a:xfrm>
          <a:prstGeom prst="line">
            <a:avLst/>
          </a:prstGeom>
          <a:noFill/>
          <a:ln w="19050">
            <a:solidFill>
              <a:srgbClr val="0E7C86"/>
            </a:solidFill>
            <a:prstDash val="solid"/>
          </a:ln>
        </p:spPr>
      </p:sp>
      <p:sp>
        <p:nvSpPr>
          <p:cNvPr id="15" name="Shape 13"/>
          <p:cNvSpPr/>
          <p:nvPr/>
        </p:nvSpPr>
        <p:spPr>
          <a:xfrm>
            <a:off x="10515600" y="2926080"/>
            <a:ext cx="365760" cy="0"/>
          </a:xfrm>
          <a:prstGeom prst="line">
            <a:avLst/>
          </a:prstGeom>
          <a:noFill/>
          <a:ln w="19050">
            <a:solidFill>
              <a:srgbClr val="0E7C86"/>
            </a:solidFill>
            <a:prstDash val="solid"/>
          </a:ln>
        </p:spPr>
      </p:sp>
      <p:sp>
        <p:nvSpPr>
          <p:cNvPr id="16" name="Shape 14"/>
          <p:cNvSpPr/>
          <p:nvPr/>
        </p:nvSpPr>
        <p:spPr>
          <a:xfrm>
            <a:off x="10515600" y="2926080"/>
            <a:ext cx="0" cy="283464"/>
          </a:xfrm>
          <a:prstGeom prst="line">
            <a:avLst/>
          </a:prstGeom>
          <a:noFill/>
          <a:ln w="19050">
            <a:solidFill>
              <a:srgbClr val="0E7C86"/>
            </a:solidFill>
            <a:prstDash val="solid"/>
          </a:ln>
        </p:spPr>
      </p:sp>
      <p:sp>
        <p:nvSpPr>
          <p:cNvPr id="17" name="Shape 15"/>
          <p:cNvSpPr/>
          <p:nvPr/>
        </p:nvSpPr>
        <p:spPr>
          <a:xfrm>
            <a:off x="10881360" y="2642616"/>
            <a:ext cx="0" cy="283464"/>
          </a:xfrm>
          <a:prstGeom prst="line">
            <a:avLst/>
          </a:prstGeom>
          <a:noFill/>
          <a:ln w="19050">
            <a:solidFill>
              <a:srgbClr val="0E7C86"/>
            </a:solidFill>
            <a:prstDash val="solid"/>
          </a:ln>
        </p:spPr>
      </p:sp>
      <p:sp>
        <p:nvSpPr>
          <p:cNvPr id="18" name="Shape 16"/>
          <p:cNvSpPr/>
          <p:nvPr/>
        </p:nvSpPr>
        <p:spPr>
          <a:xfrm>
            <a:off x="10881360" y="2926080"/>
            <a:ext cx="640080" cy="0"/>
          </a:xfrm>
          <a:prstGeom prst="line">
            <a:avLst/>
          </a:prstGeom>
          <a:noFill/>
          <a:ln w="19050">
            <a:solidFill>
              <a:srgbClr val="0E7C86"/>
            </a:solidFill>
            <a:prstDash val="solid"/>
          </a:ln>
        </p:spPr>
      </p:sp>
      <p:sp>
        <p:nvSpPr>
          <p:cNvPr id="19" name="Shape 17"/>
          <p:cNvSpPr/>
          <p:nvPr/>
        </p:nvSpPr>
        <p:spPr>
          <a:xfrm>
            <a:off x="11521440" y="2926080"/>
            <a:ext cx="0" cy="283464"/>
          </a:xfrm>
          <a:prstGeom prst="line">
            <a:avLst/>
          </a:prstGeom>
          <a:noFill/>
          <a:ln w="19050">
            <a:solidFill>
              <a:srgbClr val="0E7C86"/>
            </a:solidFill>
            <a:prstDash val="solid"/>
          </a:ln>
        </p:spPr>
      </p:sp>
      <p:sp>
        <p:nvSpPr>
          <p:cNvPr id="20" name="Shape 18"/>
          <p:cNvSpPr/>
          <p:nvPr/>
        </p:nvSpPr>
        <p:spPr>
          <a:xfrm>
            <a:off x="7863840" y="3648456"/>
            <a:ext cx="0" cy="283464"/>
          </a:xfrm>
          <a:prstGeom prst="line">
            <a:avLst/>
          </a:prstGeom>
          <a:noFill/>
          <a:ln w="19050">
            <a:solidFill>
              <a:srgbClr val="0E7C86"/>
            </a:solidFill>
            <a:prstDash val="solid"/>
          </a:ln>
        </p:spPr>
      </p:sp>
      <p:sp>
        <p:nvSpPr>
          <p:cNvPr id="21" name="Shape 19"/>
          <p:cNvSpPr/>
          <p:nvPr/>
        </p:nvSpPr>
        <p:spPr>
          <a:xfrm>
            <a:off x="7498080" y="3931920"/>
            <a:ext cx="365760" cy="0"/>
          </a:xfrm>
          <a:prstGeom prst="line">
            <a:avLst/>
          </a:prstGeom>
          <a:noFill/>
          <a:ln w="19050">
            <a:solidFill>
              <a:srgbClr val="0E7C86"/>
            </a:solidFill>
            <a:prstDash val="solid"/>
          </a:ln>
        </p:spPr>
      </p:sp>
      <p:sp>
        <p:nvSpPr>
          <p:cNvPr id="22" name="Shape 20"/>
          <p:cNvSpPr/>
          <p:nvPr/>
        </p:nvSpPr>
        <p:spPr>
          <a:xfrm>
            <a:off x="7498080" y="3931920"/>
            <a:ext cx="0" cy="283464"/>
          </a:xfrm>
          <a:prstGeom prst="line">
            <a:avLst/>
          </a:prstGeom>
          <a:noFill/>
          <a:ln w="19050">
            <a:solidFill>
              <a:srgbClr val="0E7C86"/>
            </a:solidFill>
            <a:prstDash val="solid"/>
          </a:ln>
        </p:spPr>
      </p:sp>
      <p:sp>
        <p:nvSpPr>
          <p:cNvPr id="23" name="Shape 21"/>
          <p:cNvSpPr/>
          <p:nvPr/>
        </p:nvSpPr>
        <p:spPr>
          <a:xfrm>
            <a:off x="7863840" y="3648456"/>
            <a:ext cx="0" cy="283464"/>
          </a:xfrm>
          <a:prstGeom prst="line">
            <a:avLst/>
          </a:prstGeom>
          <a:noFill/>
          <a:ln w="19050">
            <a:solidFill>
              <a:srgbClr val="0E7C86"/>
            </a:solidFill>
            <a:prstDash val="solid"/>
          </a:ln>
        </p:spPr>
      </p:sp>
      <p:sp>
        <p:nvSpPr>
          <p:cNvPr id="24" name="Shape 22"/>
          <p:cNvSpPr/>
          <p:nvPr/>
        </p:nvSpPr>
        <p:spPr>
          <a:xfrm>
            <a:off x="7863840" y="3931920"/>
            <a:ext cx="457200" cy="0"/>
          </a:xfrm>
          <a:prstGeom prst="line">
            <a:avLst/>
          </a:prstGeom>
          <a:noFill/>
          <a:ln w="19050">
            <a:solidFill>
              <a:srgbClr val="0E7C86"/>
            </a:solidFill>
            <a:prstDash val="solid"/>
          </a:ln>
        </p:spPr>
      </p:sp>
      <p:sp>
        <p:nvSpPr>
          <p:cNvPr id="25" name="Shape 23"/>
          <p:cNvSpPr/>
          <p:nvPr/>
        </p:nvSpPr>
        <p:spPr>
          <a:xfrm>
            <a:off x="8321040" y="3931920"/>
            <a:ext cx="0" cy="283464"/>
          </a:xfrm>
          <a:prstGeom prst="line">
            <a:avLst/>
          </a:prstGeom>
          <a:noFill/>
          <a:ln w="19050">
            <a:solidFill>
              <a:srgbClr val="0E7C86"/>
            </a:solidFill>
            <a:prstDash val="solid"/>
          </a:ln>
        </p:spPr>
      </p:sp>
      <p:sp>
        <p:nvSpPr>
          <p:cNvPr id="26" name="Shape 24"/>
          <p:cNvSpPr/>
          <p:nvPr/>
        </p:nvSpPr>
        <p:spPr>
          <a:xfrm>
            <a:off x="11521440" y="3648456"/>
            <a:ext cx="0" cy="283464"/>
          </a:xfrm>
          <a:prstGeom prst="line">
            <a:avLst/>
          </a:prstGeom>
          <a:noFill/>
          <a:ln w="19050">
            <a:solidFill>
              <a:srgbClr val="0E7C86"/>
            </a:solidFill>
            <a:prstDash val="solid"/>
          </a:ln>
        </p:spPr>
      </p:sp>
      <p:sp>
        <p:nvSpPr>
          <p:cNvPr id="27" name="Shape 25"/>
          <p:cNvSpPr/>
          <p:nvPr/>
        </p:nvSpPr>
        <p:spPr>
          <a:xfrm>
            <a:off x="11521440" y="3931920"/>
            <a:ext cx="0" cy="283464"/>
          </a:xfrm>
          <a:prstGeom prst="line">
            <a:avLst/>
          </a:prstGeom>
          <a:noFill/>
          <a:ln w="19050">
            <a:solidFill>
              <a:srgbClr val="0E7C86"/>
            </a:solidFill>
            <a:prstDash val="solid"/>
          </a:ln>
        </p:spPr>
      </p:sp>
      <p:sp>
        <p:nvSpPr>
          <p:cNvPr id="28" name="Shape 26"/>
          <p:cNvSpPr/>
          <p:nvPr/>
        </p:nvSpPr>
        <p:spPr>
          <a:xfrm>
            <a:off x="9473184" y="1197864"/>
            <a:ext cx="438912" cy="438912"/>
          </a:xfrm>
          <a:prstGeom prst="ellipse">
            <a:avLst/>
          </a:prstGeom>
          <a:solidFill>
            <a:srgbClr val="22D3C5"/>
          </a:solidFill>
          <a:ln w="15875">
            <a:solidFill>
              <a:srgbClr val="22D3C5"/>
            </a:solidFill>
            <a:prstDash val="solid"/>
          </a:ln>
        </p:spPr>
      </p:sp>
      <p:sp>
        <p:nvSpPr>
          <p:cNvPr id="29" name="Shape 27"/>
          <p:cNvSpPr/>
          <p:nvPr/>
        </p:nvSpPr>
        <p:spPr>
          <a:xfrm>
            <a:off x="8284464" y="2203704"/>
            <a:ext cx="438912" cy="438912"/>
          </a:xfrm>
          <a:prstGeom prst="ellipse">
            <a:avLst/>
          </a:prstGeom>
          <a:solidFill>
            <a:srgbClr val="1A2E4D"/>
          </a:solidFill>
          <a:ln w="15875">
            <a:solidFill>
              <a:srgbClr val="22D3C5"/>
            </a:solidFill>
            <a:prstDash val="solid"/>
          </a:ln>
        </p:spPr>
      </p:sp>
      <p:sp>
        <p:nvSpPr>
          <p:cNvPr id="30" name="Shape 28"/>
          <p:cNvSpPr/>
          <p:nvPr/>
        </p:nvSpPr>
        <p:spPr>
          <a:xfrm>
            <a:off x="10661904" y="2203704"/>
            <a:ext cx="438912" cy="438912"/>
          </a:xfrm>
          <a:prstGeom prst="ellipse">
            <a:avLst/>
          </a:prstGeom>
          <a:solidFill>
            <a:srgbClr val="1A2E4D"/>
          </a:solidFill>
          <a:ln w="15875">
            <a:solidFill>
              <a:srgbClr val="22D3C5"/>
            </a:solidFill>
            <a:prstDash val="solid"/>
          </a:ln>
        </p:spPr>
      </p:sp>
      <p:sp>
        <p:nvSpPr>
          <p:cNvPr id="31" name="Shape 29"/>
          <p:cNvSpPr/>
          <p:nvPr/>
        </p:nvSpPr>
        <p:spPr>
          <a:xfrm>
            <a:off x="7644384" y="3209544"/>
            <a:ext cx="438912" cy="438912"/>
          </a:xfrm>
          <a:prstGeom prst="ellipse">
            <a:avLst/>
          </a:prstGeom>
          <a:solidFill>
            <a:srgbClr val="1A2E4D"/>
          </a:solidFill>
          <a:ln w="15875">
            <a:solidFill>
              <a:srgbClr val="22D3C5"/>
            </a:solidFill>
            <a:prstDash val="solid"/>
          </a:ln>
        </p:spPr>
      </p:sp>
      <p:sp>
        <p:nvSpPr>
          <p:cNvPr id="32" name="Shape 30"/>
          <p:cNvSpPr/>
          <p:nvPr/>
        </p:nvSpPr>
        <p:spPr>
          <a:xfrm>
            <a:off x="8924544" y="3209544"/>
            <a:ext cx="438912" cy="438912"/>
          </a:xfrm>
          <a:prstGeom prst="ellipse">
            <a:avLst/>
          </a:prstGeom>
          <a:solidFill>
            <a:srgbClr val="1A2E4D"/>
          </a:solidFill>
          <a:ln w="15875">
            <a:solidFill>
              <a:srgbClr val="22D3C5"/>
            </a:solidFill>
            <a:prstDash val="solid"/>
          </a:ln>
        </p:spPr>
      </p:sp>
      <p:sp>
        <p:nvSpPr>
          <p:cNvPr id="33" name="Shape 31"/>
          <p:cNvSpPr/>
          <p:nvPr/>
        </p:nvSpPr>
        <p:spPr>
          <a:xfrm>
            <a:off x="10296144" y="3209544"/>
            <a:ext cx="438912" cy="438912"/>
          </a:xfrm>
          <a:prstGeom prst="ellipse">
            <a:avLst/>
          </a:prstGeom>
          <a:solidFill>
            <a:srgbClr val="1A2E4D"/>
          </a:solidFill>
          <a:ln w="15875">
            <a:solidFill>
              <a:srgbClr val="22D3C5"/>
            </a:solidFill>
            <a:prstDash val="solid"/>
          </a:ln>
        </p:spPr>
      </p:sp>
      <p:sp>
        <p:nvSpPr>
          <p:cNvPr id="34" name="Shape 32"/>
          <p:cNvSpPr/>
          <p:nvPr/>
        </p:nvSpPr>
        <p:spPr>
          <a:xfrm>
            <a:off x="11301984" y="3209544"/>
            <a:ext cx="438912" cy="438912"/>
          </a:xfrm>
          <a:prstGeom prst="ellipse">
            <a:avLst/>
          </a:prstGeom>
          <a:solidFill>
            <a:srgbClr val="22D3C5"/>
          </a:solidFill>
          <a:ln w="15875">
            <a:solidFill>
              <a:srgbClr val="22D3C5"/>
            </a:solidFill>
            <a:prstDash val="solid"/>
          </a:ln>
        </p:spPr>
      </p:sp>
      <p:sp>
        <p:nvSpPr>
          <p:cNvPr id="35" name="Shape 33"/>
          <p:cNvSpPr/>
          <p:nvPr/>
        </p:nvSpPr>
        <p:spPr>
          <a:xfrm>
            <a:off x="7278624" y="4215384"/>
            <a:ext cx="438912" cy="438912"/>
          </a:xfrm>
          <a:prstGeom prst="ellipse">
            <a:avLst/>
          </a:prstGeom>
          <a:solidFill>
            <a:srgbClr val="1A2E4D"/>
          </a:solidFill>
          <a:ln w="15875">
            <a:solidFill>
              <a:srgbClr val="22D3C5"/>
            </a:solidFill>
            <a:prstDash val="solid"/>
          </a:ln>
        </p:spPr>
      </p:sp>
      <p:sp>
        <p:nvSpPr>
          <p:cNvPr id="36" name="Shape 34"/>
          <p:cNvSpPr/>
          <p:nvPr/>
        </p:nvSpPr>
        <p:spPr>
          <a:xfrm>
            <a:off x="8101584" y="4215384"/>
            <a:ext cx="438912" cy="438912"/>
          </a:xfrm>
          <a:prstGeom prst="ellipse">
            <a:avLst/>
          </a:prstGeom>
          <a:solidFill>
            <a:srgbClr val="1A2E4D"/>
          </a:solidFill>
          <a:ln w="15875">
            <a:solidFill>
              <a:srgbClr val="22D3C5"/>
            </a:solidFill>
            <a:prstDash val="solid"/>
          </a:ln>
        </p:spPr>
      </p:sp>
      <p:sp>
        <p:nvSpPr>
          <p:cNvPr id="37" name="Shape 35"/>
          <p:cNvSpPr/>
          <p:nvPr/>
        </p:nvSpPr>
        <p:spPr>
          <a:xfrm>
            <a:off x="11301984" y="4215384"/>
            <a:ext cx="438912" cy="438912"/>
          </a:xfrm>
          <a:prstGeom prst="ellipse">
            <a:avLst/>
          </a:prstGeom>
          <a:solidFill>
            <a:srgbClr val="1A2E4D"/>
          </a:solidFill>
          <a:ln w="15875">
            <a:solidFill>
              <a:srgbClr val="22D3C5"/>
            </a:solidFill>
            <a:prstDash val="solid"/>
          </a:ln>
        </p:spPr>
      </p:sp>
      <p:sp>
        <p:nvSpPr>
          <p:cNvPr id="38" name="Text 36"/>
          <p:cNvSpPr txBox="1"/>
          <p:nvPr/>
        </p:nvSpPr>
        <p:spPr>
          <a:xfrm>
            <a:off x="8229600" y="5577840"/>
            <a:ext cx="3291840" cy="274320"/>
          </a:xfrm>
          <a:prstGeom prst="rect">
            <a:avLst/>
          </a:prstGeom>
          <a:noFill/>
          <a:ln/>
        </p:spPr>
        <p:txBody>
          <a:bodyPr wrap="square" lIns="0" tIns="0" rIns="0" bIns="0" rtlCol="0" anchor="t"/>
          <a:lstStyle/>
          <a:p>
            <a:pPr algn="ctr" indent="0" marL="0">
              <a:buNone/>
            </a:pPr>
            <a:r>
              <a:rPr lang="en-US" sz="1100" dirty="0">
                <a:solidFill>
                  <a:srgbClr val="7F93AB"/>
                </a:solidFill>
                <a:latin typeface="Calibri" pitchFamily="34" charset="0"/>
                <a:ea typeface="Calibri" pitchFamily="34" charset="-122"/>
                <a:cs typeface="Calibri" pitchFamily="34" charset="-120"/>
              </a:rPr>
              <a:t>Illustrative process tree</a:t>
            </a:r>
            <a:endParaRPr lang="en-US" sz="1100" dirty="0"/>
          </a:p>
        </p:txBody>
      </p:sp>
      <p:sp>
        <p:nvSpPr>
          <p:cNvPr id="39" name="Shape 37"/>
          <p:cNvSpPr/>
          <p:nvPr/>
        </p:nvSpPr>
        <p:spPr>
          <a:xfrm>
            <a:off x="640080" y="640080"/>
            <a:ext cx="2743200" cy="292608"/>
          </a:xfrm>
          <a:prstGeom prst="roundRect">
            <a:avLst>
              <a:gd name="adj" fmla="val 15625"/>
            </a:avLst>
          </a:prstGeom>
          <a:solidFill>
            <a:srgbClr val="0A101D"/>
          </a:solidFill>
          <a:ln w="9525">
            <a:solidFill>
              <a:srgbClr val="22D3C5"/>
            </a:solidFill>
            <a:prstDash val="solid"/>
          </a:ln>
        </p:spPr>
      </p:sp>
      <p:sp>
        <p:nvSpPr>
          <p:cNvPr id="40" name="Text 38"/>
          <p:cNvSpPr txBox="1"/>
          <p:nvPr/>
        </p:nvSpPr>
        <p:spPr>
          <a:xfrm>
            <a:off x="640080" y="640080"/>
            <a:ext cx="2743200" cy="292608"/>
          </a:xfrm>
          <a:prstGeom prst="rect">
            <a:avLst/>
          </a:prstGeom>
          <a:noFill/>
          <a:ln/>
        </p:spPr>
        <p:txBody>
          <a:bodyPr wrap="square" lIns="0" tIns="0" rIns="0" bIns="0" rtlCol="0" anchor="ctr"/>
          <a:lstStyle/>
          <a:p>
            <a:pPr algn="ctr" indent="0" marL="0">
              <a:buNone/>
            </a:pPr>
            <a:r>
              <a:rPr lang="en-US" sz="1100" dirty="0">
                <a:solidFill>
                  <a:srgbClr val="22D3C5"/>
                </a:solidFill>
                <a:latin typeface="Courier New" pitchFamily="34" charset="0"/>
                <a:ea typeface="Courier New" pitchFamily="34" charset="-122"/>
                <a:cs typeface="Courier New" pitchFamily="34" charset="-120"/>
              </a:rPr>
              <a:t>KL UNIVERSITY · HYDERABAD</a:t>
            </a:r>
            <a:endParaRPr lang="en-US" sz="1100" dirty="0"/>
          </a:p>
        </p:txBody>
      </p:sp>
      <p:sp>
        <p:nvSpPr>
          <p:cNvPr id="41" name="Text 39"/>
          <p:cNvSpPr txBox="1"/>
          <p:nvPr/>
        </p:nvSpPr>
        <p:spPr>
          <a:xfrm>
            <a:off x="640080" y="1143000"/>
            <a:ext cx="6766560" cy="1097280"/>
          </a:xfrm>
          <a:prstGeom prst="rect">
            <a:avLst/>
          </a:prstGeom>
          <a:noFill/>
          <a:ln/>
        </p:spPr>
        <p:txBody>
          <a:bodyPr wrap="square" lIns="0" tIns="0" rIns="0" bIns="0" rtlCol="0" anchor="t"/>
          <a:lstStyle/>
          <a:p>
            <a:pPr indent="0" marL="0">
              <a:buNone/>
            </a:pPr>
            <a:r>
              <a:rPr lang="en-US" sz="6600" b="1" dirty="0">
                <a:solidFill>
                  <a:srgbClr val="F1F6FB"/>
                </a:solidFill>
                <a:latin typeface="Calibri" pitchFamily="34" charset="0"/>
                <a:ea typeface="Calibri" pitchFamily="34" charset="-122"/>
                <a:cs typeface="Calibri" pitchFamily="34" charset="-120"/>
              </a:rPr>
              <a:t>ProcScope</a:t>
            </a:r>
            <a:endParaRPr lang="en-US" sz="6600" dirty="0"/>
          </a:p>
        </p:txBody>
      </p:sp>
      <p:sp>
        <p:nvSpPr>
          <p:cNvPr id="42" name="Text 40"/>
          <p:cNvSpPr txBox="1"/>
          <p:nvPr/>
        </p:nvSpPr>
        <p:spPr>
          <a:xfrm>
            <a:off x="640080" y="2240280"/>
            <a:ext cx="6949440" cy="548640"/>
          </a:xfrm>
          <a:prstGeom prst="rect">
            <a:avLst/>
          </a:prstGeom>
          <a:noFill/>
          <a:ln/>
        </p:spPr>
        <p:txBody>
          <a:bodyPr wrap="square" lIns="0" tIns="0" rIns="0" bIns="0" rtlCol="0" anchor="t"/>
          <a:lstStyle/>
          <a:p>
            <a:pPr indent="0" marL="0">
              <a:buNone/>
            </a:pPr>
            <a:r>
              <a:rPr lang="en-US" sz="3000" b="1" dirty="0">
                <a:solidFill>
                  <a:srgbClr val="22D3C5"/>
                </a:solidFill>
                <a:latin typeface="Calibri" pitchFamily="34" charset="0"/>
                <a:ea typeface="Calibri" pitchFamily="34" charset="-122"/>
                <a:cs typeface="Calibri" pitchFamily="34" charset="-120"/>
              </a:rPr>
              <a:t>Linux Process Tree Visualizer</a:t>
            </a:r>
            <a:endParaRPr lang="en-US" sz="3000" dirty="0"/>
          </a:p>
        </p:txBody>
      </p:sp>
      <p:sp>
        <p:nvSpPr>
          <p:cNvPr id="43" name="Text 41"/>
          <p:cNvSpPr txBox="1"/>
          <p:nvPr/>
        </p:nvSpPr>
        <p:spPr>
          <a:xfrm>
            <a:off x="640080" y="2880360"/>
            <a:ext cx="6583680" cy="640080"/>
          </a:xfrm>
          <a:prstGeom prst="rect">
            <a:avLst/>
          </a:prstGeom>
          <a:noFill/>
          <a:ln/>
        </p:spPr>
        <p:txBody>
          <a:bodyPr wrap="square" lIns="0" tIns="0" rIns="0" bIns="0" rtlCol="0" anchor="t"/>
          <a:lstStyle/>
          <a:p>
            <a:pPr indent="0" marL="0">
              <a:buNone/>
            </a:pPr>
            <a:r>
              <a:rPr lang="en-US" sz="1600" dirty="0">
                <a:solidFill>
                  <a:srgbClr val="A9BBD0"/>
                </a:solidFill>
                <a:latin typeface="Calibri" pitchFamily="34" charset="0"/>
                <a:ea typeface="Calibri" pitchFamily="34" charset="-122"/>
                <a:cs typeface="Calibri" pitchFamily="34" charset="-120"/>
              </a:rPr>
              <a:t>Live parent-child process hierarchy from /proc, with a guided C Process Lab</a:t>
            </a:r>
            <a:endParaRPr lang="en-US" sz="1600" dirty="0"/>
          </a:p>
        </p:txBody>
      </p:sp>
      <p:sp>
        <p:nvSpPr>
          <p:cNvPr id="44" name="Text 42"/>
          <p:cNvSpPr txBox="1"/>
          <p:nvPr/>
        </p:nvSpPr>
        <p:spPr>
          <a:xfrm>
            <a:off x="640080" y="3886200"/>
            <a:ext cx="1463040" cy="365760"/>
          </a:xfrm>
          <a:prstGeom prst="rect">
            <a:avLst/>
          </a:prstGeom>
          <a:noFill/>
          <a:ln/>
        </p:spPr>
        <p:txBody>
          <a:bodyPr wrap="square" lIns="0" tIns="0" rIns="0" bIns="0" rtlCol="0" anchor="ctr"/>
          <a:lstStyle/>
          <a:p>
            <a:pPr indent="0" marL="0">
              <a:buNone/>
            </a:pPr>
            <a:r>
              <a:rPr lang="en-US" sz="1600" dirty="0">
                <a:solidFill>
                  <a:srgbClr val="22D3C5"/>
                </a:solidFill>
                <a:latin typeface="Courier New" pitchFamily="34" charset="0"/>
                <a:ea typeface="Courier New" pitchFamily="34" charset="-122"/>
                <a:cs typeface="Courier New" pitchFamily="34" charset="-120"/>
              </a:rPr>
              <a:t>2520030068</a:t>
            </a:r>
            <a:endParaRPr lang="en-US" sz="1600" dirty="0"/>
          </a:p>
        </p:txBody>
      </p:sp>
      <p:sp>
        <p:nvSpPr>
          <p:cNvPr id="45" name="Text 43"/>
          <p:cNvSpPr txBox="1"/>
          <p:nvPr/>
        </p:nvSpPr>
        <p:spPr>
          <a:xfrm>
            <a:off x="2194560" y="3886200"/>
            <a:ext cx="4114800" cy="365760"/>
          </a:xfrm>
          <a:prstGeom prst="rect">
            <a:avLst/>
          </a:prstGeom>
          <a:noFill/>
          <a:ln/>
        </p:spPr>
        <p:txBody>
          <a:bodyPr wrap="square" lIns="0" tIns="0" rIns="0" bIns="0" rtlCol="0" anchor="ctr"/>
          <a:lstStyle/>
          <a:p>
            <a:pPr indent="0" marL="0">
              <a:buNone/>
            </a:pPr>
            <a:r>
              <a:rPr lang="en-US" sz="1800" b="1" dirty="0">
                <a:solidFill>
                  <a:srgbClr val="F1F6FB"/>
                </a:solidFill>
                <a:latin typeface="Calibri" pitchFamily="34" charset="0"/>
                <a:ea typeface="Calibri" pitchFamily="34" charset="-122"/>
                <a:cs typeface="Calibri" pitchFamily="34" charset="-120"/>
              </a:rPr>
              <a:t>G.Neha Deepika</a:t>
            </a:r>
            <a:endParaRPr lang="en-US" sz="1800" dirty="0"/>
          </a:p>
        </p:txBody>
      </p:sp>
      <p:sp>
        <p:nvSpPr>
          <p:cNvPr id="46" name="Text 44"/>
          <p:cNvSpPr txBox="1"/>
          <p:nvPr/>
        </p:nvSpPr>
        <p:spPr>
          <a:xfrm>
            <a:off x="640080" y="4325112"/>
            <a:ext cx="1463040" cy="365760"/>
          </a:xfrm>
          <a:prstGeom prst="rect">
            <a:avLst/>
          </a:prstGeom>
          <a:noFill/>
          <a:ln/>
        </p:spPr>
        <p:txBody>
          <a:bodyPr wrap="square" lIns="0" tIns="0" rIns="0" bIns="0" rtlCol="0" anchor="ctr"/>
          <a:lstStyle/>
          <a:p>
            <a:pPr indent="0" marL="0">
              <a:buNone/>
            </a:pPr>
            <a:r>
              <a:rPr lang="en-US" sz="1600" dirty="0">
                <a:solidFill>
                  <a:srgbClr val="22D3C5"/>
                </a:solidFill>
                <a:latin typeface="Courier New" pitchFamily="34" charset="0"/>
                <a:ea typeface="Courier New" pitchFamily="34" charset="-122"/>
                <a:cs typeface="Courier New" pitchFamily="34" charset="-120"/>
              </a:rPr>
              <a:t>2520030103</a:t>
            </a:r>
            <a:endParaRPr lang="en-US" sz="1600" dirty="0"/>
          </a:p>
        </p:txBody>
      </p:sp>
      <p:sp>
        <p:nvSpPr>
          <p:cNvPr id="47" name="Text 45"/>
          <p:cNvSpPr txBox="1"/>
          <p:nvPr/>
        </p:nvSpPr>
        <p:spPr>
          <a:xfrm>
            <a:off x="2194560" y="4325112"/>
            <a:ext cx="4114800" cy="365760"/>
          </a:xfrm>
          <a:prstGeom prst="rect">
            <a:avLst/>
          </a:prstGeom>
          <a:noFill/>
          <a:ln/>
        </p:spPr>
        <p:txBody>
          <a:bodyPr wrap="square" lIns="0" tIns="0" rIns="0" bIns="0" rtlCol="0" anchor="ctr"/>
          <a:lstStyle/>
          <a:p>
            <a:pPr indent="0" marL="0">
              <a:buNone/>
            </a:pPr>
            <a:r>
              <a:rPr lang="en-US" sz="1800" b="1" dirty="0">
                <a:solidFill>
                  <a:srgbClr val="F1F6FB"/>
                </a:solidFill>
                <a:latin typeface="Calibri" pitchFamily="34" charset="0"/>
                <a:ea typeface="Calibri" pitchFamily="34" charset="-122"/>
                <a:cs typeface="Calibri" pitchFamily="34" charset="-120"/>
              </a:rPr>
              <a:t>Poojitha Sai</a:t>
            </a:r>
            <a:endParaRPr lang="en-US" sz="1800" dirty="0"/>
          </a:p>
        </p:txBody>
      </p:sp>
      <p:sp>
        <p:nvSpPr>
          <p:cNvPr id="48" name="Text 46"/>
          <p:cNvSpPr txBox="1"/>
          <p:nvPr/>
        </p:nvSpPr>
        <p:spPr>
          <a:xfrm>
            <a:off x="640080" y="4764024"/>
            <a:ext cx="1463040" cy="365760"/>
          </a:xfrm>
          <a:prstGeom prst="rect">
            <a:avLst/>
          </a:prstGeom>
          <a:noFill/>
          <a:ln/>
        </p:spPr>
        <p:txBody>
          <a:bodyPr wrap="square" lIns="0" tIns="0" rIns="0" bIns="0" rtlCol="0" anchor="ctr"/>
          <a:lstStyle/>
          <a:p>
            <a:pPr indent="0" marL="0">
              <a:buNone/>
            </a:pPr>
            <a:r>
              <a:rPr lang="en-US" sz="1600" dirty="0">
                <a:solidFill>
                  <a:srgbClr val="22D3C5"/>
                </a:solidFill>
                <a:latin typeface="Courier New" pitchFamily="34" charset="0"/>
                <a:ea typeface="Courier New" pitchFamily="34" charset="-122"/>
                <a:cs typeface="Courier New" pitchFamily="34" charset="-120"/>
              </a:rPr>
              <a:t>2520030541</a:t>
            </a:r>
            <a:endParaRPr lang="en-US" sz="1600" dirty="0"/>
          </a:p>
        </p:txBody>
      </p:sp>
      <p:sp>
        <p:nvSpPr>
          <p:cNvPr id="49" name="Text 47"/>
          <p:cNvSpPr txBox="1"/>
          <p:nvPr/>
        </p:nvSpPr>
        <p:spPr>
          <a:xfrm>
            <a:off x="2194560" y="4764024"/>
            <a:ext cx="4114800" cy="365760"/>
          </a:xfrm>
          <a:prstGeom prst="rect">
            <a:avLst/>
          </a:prstGeom>
          <a:noFill/>
          <a:ln/>
        </p:spPr>
        <p:txBody>
          <a:bodyPr wrap="square" lIns="0" tIns="0" rIns="0" bIns="0" rtlCol="0" anchor="ctr"/>
          <a:lstStyle/>
          <a:p>
            <a:pPr indent="0" marL="0">
              <a:buNone/>
            </a:pPr>
            <a:r>
              <a:rPr lang="en-US" sz="1800" b="1" dirty="0">
                <a:solidFill>
                  <a:srgbClr val="F1F6FB"/>
                </a:solidFill>
                <a:latin typeface="Calibri" pitchFamily="34" charset="0"/>
                <a:ea typeface="Calibri" pitchFamily="34" charset="-122"/>
                <a:cs typeface="Calibri" pitchFamily="34" charset="-120"/>
              </a:rPr>
              <a:t>M.Poojitha</a:t>
            </a:r>
            <a:endParaRPr lang="en-US" sz="1800" dirty="0"/>
          </a:p>
        </p:txBody>
      </p:sp>
      <p:sp>
        <p:nvSpPr>
          <p:cNvPr id="50" name="Text 48"/>
          <p:cNvSpPr txBox="1"/>
          <p:nvPr/>
        </p:nvSpPr>
        <p:spPr>
          <a:xfrm>
            <a:off x="640080" y="5440680"/>
            <a:ext cx="6766560" cy="54864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Department of Computer Science and Engineering (Artificial Intelligence and Machine Learning)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rgbClr val="F1F6FB"/>
                </a:solidFill>
                <a:latin typeface="Calibri" pitchFamily="34" charset="0"/>
                <a:ea typeface="Calibri" pitchFamily="34" charset="-122"/>
                <a:cs typeface="Calibri" pitchFamily="34" charset="-120"/>
              </a:rPr>
              <a:t>Why process hierarchies are hard to see</a:t>
            </a:r>
            <a:endParaRPr lang="en-US" sz="3400" dirty="0"/>
          </a:p>
        </p:txBody>
      </p:sp>
      <p:sp>
        <p:nvSpPr>
          <p:cNvPr id="4" name="Shape 1"/>
          <p:cNvSpPr/>
          <p:nvPr/>
        </p:nvSpPr>
        <p:spPr>
          <a:xfrm>
            <a:off x="548640" y="1508760"/>
            <a:ext cx="502920" cy="502920"/>
          </a:xfrm>
          <a:prstGeom prst="ellipse">
            <a:avLst/>
          </a:prstGeom>
          <a:solidFill>
            <a:srgbClr val="0E7C86"/>
          </a:solidFill>
          <a:ln w="12700">
            <a:solidFill>
              <a:srgbClr val="22D3C5"/>
            </a:solidFill>
            <a:prstDash val="solid"/>
          </a:ln>
        </p:spPr>
      </p:sp>
      <p:sp>
        <p:nvSpPr>
          <p:cNvPr id="5" name="Text 2"/>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600" b="1" dirty="0">
                <a:solidFill>
                  <a:srgbClr val="F1F6FB"/>
                </a:solidFill>
                <a:latin typeface="Calibri" pitchFamily="34" charset="0"/>
                <a:ea typeface="Calibri" pitchFamily="34" charset="-122"/>
                <a:cs typeface="Calibri" pitchFamily="34" charset="-120"/>
              </a:rPr>
              <a:t>1</a:t>
            </a:r>
            <a:endParaRPr lang="en-US" sz="1600" dirty="0"/>
          </a:p>
        </p:txBody>
      </p:sp>
      <p:sp>
        <p:nvSpPr>
          <p:cNvPr id="6" name="Text 3"/>
          <p:cNvSpPr txBox="1"/>
          <p:nvPr/>
        </p:nvSpPr>
        <p:spPr>
          <a:xfrm>
            <a:off x="1280160" y="1490472"/>
            <a:ext cx="4846320" cy="365760"/>
          </a:xfrm>
          <a:prstGeom prst="rect">
            <a:avLst/>
          </a:prstGeom>
          <a:noFill/>
          <a:ln/>
        </p:spPr>
        <p:txBody>
          <a:bodyPr wrap="square" lIns="0" tIns="0" rIns="0" bIns="0" rtlCol="0" anchor="t"/>
          <a:lstStyle/>
          <a:p>
            <a:pPr indent="0" marL="0">
              <a:buNone/>
            </a:pPr>
            <a:r>
              <a:rPr lang="en-US" sz="2000" b="1" dirty="0">
                <a:solidFill>
                  <a:srgbClr val="F1F6FB"/>
                </a:solidFill>
                <a:latin typeface="Calibri" pitchFamily="34" charset="0"/>
                <a:ea typeface="Calibri" pitchFamily="34" charset="-122"/>
                <a:cs typeface="Calibri" pitchFamily="34" charset="-120"/>
              </a:rPr>
              <a:t>Processes form a family tree</a:t>
            </a:r>
            <a:endParaRPr lang="en-US" sz="2000" dirty="0"/>
          </a:p>
        </p:txBody>
      </p:sp>
      <p:sp>
        <p:nvSpPr>
          <p:cNvPr id="7" name="Text 4"/>
          <p:cNvSpPr txBox="1"/>
          <p:nvPr/>
        </p:nvSpPr>
        <p:spPr>
          <a:xfrm>
            <a:off x="1280160" y="1892808"/>
            <a:ext cx="4846320" cy="822960"/>
          </a:xfrm>
          <a:prstGeom prst="rect">
            <a:avLst/>
          </a:prstGeom>
          <a:noFill/>
          <a:ln/>
        </p:spPr>
        <p:txBody>
          <a:bodyPr wrap="square" lIns="0" tIns="0" rIns="0" bIns="0" rtlCol="0" anchor="t"/>
          <a:lstStyle/>
          <a:p>
            <a:pPr indent="0" marL="0">
              <a:buNone/>
            </a:pPr>
            <a:r>
              <a:rPr lang="en-US" sz="1500" dirty="0">
                <a:solidFill>
                  <a:srgbClr val="A9BBD0"/>
                </a:solidFill>
                <a:latin typeface="Calibri" pitchFamily="34" charset="0"/>
                <a:ea typeface="Calibri" pitchFamily="34" charset="-122"/>
                <a:cs typeface="Calibri" pitchFamily="34" charset="-120"/>
              </a:rPr>
              <a:t>Each process is started by a parent. Its PPID links it upward, all the way to PID 1.</a:t>
            </a:r>
            <a:endParaRPr lang="en-US" sz="1500" dirty="0"/>
          </a:p>
        </p:txBody>
      </p:sp>
      <p:sp>
        <p:nvSpPr>
          <p:cNvPr id="8" name="Shape 5"/>
          <p:cNvSpPr/>
          <p:nvPr/>
        </p:nvSpPr>
        <p:spPr>
          <a:xfrm>
            <a:off x="548640" y="3017520"/>
            <a:ext cx="502920" cy="502920"/>
          </a:xfrm>
          <a:prstGeom prst="ellipse">
            <a:avLst/>
          </a:prstGeom>
          <a:solidFill>
            <a:srgbClr val="0E7C86"/>
          </a:solidFill>
          <a:ln w="12700">
            <a:solidFill>
              <a:srgbClr val="22D3C5"/>
            </a:solidFill>
            <a:prstDash val="solid"/>
          </a:ln>
        </p:spPr>
      </p:sp>
      <p:sp>
        <p:nvSpPr>
          <p:cNvPr id="9" name="Text 6"/>
          <p:cNvSpPr txBox="1"/>
          <p:nvPr/>
        </p:nvSpPr>
        <p:spPr>
          <a:xfrm>
            <a:off x="548640" y="3017520"/>
            <a:ext cx="502920" cy="502920"/>
          </a:xfrm>
          <a:prstGeom prst="rect">
            <a:avLst/>
          </a:prstGeom>
          <a:noFill/>
          <a:ln/>
        </p:spPr>
        <p:txBody>
          <a:bodyPr wrap="square" lIns="0" tIns="0" rIns="0" bIns="0" rtlCol="0" anchor="ctr"/>
          <a:lstStyle/>
          <a:p>
            <a:pPr algn="ctr" indent="0" marL="0">
              <a:buNone/>
            </a:pPr>
            <a:r>
              <a:rPr lang="en-US" sz="1600" b="1" dirty="0">
                <a:solidFill>
                  <a:srgbClr val="F1F6FB"/>
                </a:solidFill>
                <a:latin typeface="Calibri" pitchFamily="34" charset="0"/>
                <a:ea typeface="Calibri" pitchFamily="34" charset="-122"/>
                <a:cs typeface="Calibri" pitchFamily="34" charset="-120"/>
              </a:rPr>
              <a:t>2</a:t>
            </a:r>
            <a:endParaRPr lang="en-US" sz="1600" dirty="0"/>
          </a:p>
        </p:txBody>
      </p:sp>
      <p:sp>
        <p:nvSpPr>
          <p:cNvPr id="10" name="Text 7"/>
          <p:cNvSpPr txBox="1"/>
          <p:nvPr/>
        </p:nvSpPr>
        <p:spPr>
          <a:xfrm>
            <a:off x="1280160" y="2999232"/>
            <a:ext cx="4846320" cy="365760"/>
          </a:xfrm>
          <a:prstGeom prst="rect">
            <a:avLst/>
          </a:prstGeom>
          <a:noFill/>
          <a:ln/>
        </p:spPr>
        <p:txBody>
          <a:bodyPr wrap="square" lIns="0" tIns="0" rIns="0" bIns="0" rtlCol="0" anchor="t"/>
          <a:lstStyle/>
          <a:p>
            <a:pPr indent="0" marL="0">
              <a:buNone/>
            </a:pPr>
            <a:r>
              <a:rPr lang="en-US" sz="2000" b="1" dirty="0">
                <a:solidFill>
                  <a:srgbClr val="F1F6FB"/>
                </a:solidFill>
                <a:latin typeface="Calibri" pitchFamily="34" charset="0"/>
                <a:ea typeface="Calibri" pitchFamily="34" charset="-122"/>
                <a:cs typeface="Calibri" pitchFamily="34" charset="-120"/>
              </a:rPr>
              <a:t>The tree never stops changing</a:t>
            </a:r>
            <a:endParaRPr lang="en-US" sz="2000" dirty="0"/>
          </a:p>
        </p:txBody>
      </p:sp>
      <p:sp>
        <p:nvSpPr>
          <p:cNvPr id="11" name="Text 8"/>
          <p:cNvSpPr txBox="1"/>
          <p:nvPr/>
        </p:nvSpPr>
        <p:spPr>
          <a:xfrm>
            <a:off x="1280160" y="3401568"/>
            <a:ext cx="4846320" cy="822960"/>
          </a:xfrm>
          <a:prstGeom prst="rect">
            <a:avLst/>
          </a:prstGeom>
          <a:noFill/>
          <a:ln/>
        </p:spPr>
        <p:txBody>
          <a:bodyPr wrap="square" lIns="0" tIns="0" rIns="0" bIns="0" rtlCol="0" anchor="t"/>
          <a:lstStyle/>
          <a:p>
            <a:pPr indent="0" marL="0">
              <a:buNone/>
            </a:pPr>
            <a:r>
              <a:rPr lang="en-US" sz="1500" dirty="0">
                <a:solidFill>
                  <a:srgbClr val="A9BBD0"/>
                </a:solidFill>
                <a:latin typeface="Calibri" pitchFamily="34" charset="0"/>
                <a:ea typeface="Calibri" pitchFamily="34" charset="-122"/>
                <a:cs typeface="Calibri" pitchFamily="34" charset="-120"/>
              </a:rPr>
              <a:t>Processes start, exit and get re-parented within moments, so a printed list is quickly out of date.</a:t>
            </a:r>
            <a:endParaRPr lang="en-US" sz="1500" dirty="0"/>
          </a:p>
        </p:txBody>
      </p:sp>
      <p:sp>
        <p:nvSpPr>
          <p:cNvPr id="12" name="Shape 9"/>
          <p:cNvSpPr/>
          <p:nvPr/>
        </p:nvSpPr>
        <p:spPr>
          <a:xfrm>
            <a:off x="548640" y="4526280"/>
            <a:ext cx="502920" cy="502920"/>
          </a:xfrm>
          <a:prstGeom prst="ellipse">
            <a:avLst/>
          </a:prstGeom>
          <a:solidFill>
            <a:srgbClr val="0E7C86"/>
          </a:solidFill>
          <a:ln w="12700">
            <a:solidFill>
              <a:srgbClr val="22D3C5"/>
            </a:solidFill>
            <a:prstDash val="solid"/>
          </a:ln>
        </p:spPr>
      </p:sp>
      <p:sp>
        <p:nvSpPr>
          <p:cNvPr id="13" name="Text 10"/>
          <p:cNvSpPr txBox="1"/>
          <p:nvPr/>
        </p:nvSpPr>
        <p:spPr>
          <a:xfrm>
            <a:off x="548640" y="4526280"/>
            <a:ext cx="502920" cy="502920"/>
          </a:xfrm>
          <a:prstGeom prst="rect">
            <a:avLst/>
          </a:prstGeom>
          <a:noFill/>
          <a:ln/>
        </p:spPr>
        <p:txBody>
          <a:bodyPr wrap="square" lIns="0" tIns="0" rIns="0" bIns="0" rtlCol="0" anchor="ctr"/>
          <a:lstStyle/>
          <a:p>
            <a:pPr algn="ctr" indent="0" marL="0">
              <a:buNone/>
            </a:pPr>
            <a:r>
              <a:rPr lang="en-US" sz="1600" b="1" dirty="0">
                <a:solidFill>
                  <a:srgbClr val="F1F6FB"/>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1280160" y="4507992"/>
            <a:ext cx="4846320" cy="365760"/>
          </a:xfrm>
          <a:prstGeom prst="rect">
            <a:avLst/>
          </a:prstGeom>
          <a:noFill/>
          <a:ln/>
        </p:spPr>
        <p:txBody>
          <a:bodyPr wrap="square" lIns="0" tIns="0" rIns="0" bIns="0" rtlCol="0" anchor="t"/>
          <a:lstStyle/>
          <a:p>
            <a:pPr indent="0" marL="0">
              <a:buNone/>
            </a:pPr>
            <a:r>
              <a:rPr lang="en-US" sz="2000" b="1" dirty="0">
                <a:solidFill>
                  <a:srgbClr val="F1F6FB"/>
                </a:solidFill>
                <a:latin typeface="Calibri" pitchFamily="34" charset="0"/>
                <a:ea typeface="Calibri" pitchFamily="34" charset="-122"/>
                <a:cs typeface="Calibri" pitchFamily="34" charset="-120"/>
              </a:rPr>
              <a:t>Command-line output is flat text</a:t>
            </a:r>
            <a:endParaRPr lang="en-US" sz="2000" dirty="0"/>
          </a:p>
        </p:txBody>
      </p:sp>
      <p:sp>
        <p:nvSpPr>
          <p:cNvPr id="15" name="Text 12"/>
          <p:cNvSpPr txBox="1"/>
          <p:nvPr/>
        </p:nvSpPr>
        <p:spPr>
          <a:xfrm>
            <a:off x="1280160" y="4910328"/>
            <a:ext cx="4846320" cy="822960"/>
          </a:xfrm>
          <a:prstGeom prst="rect">
            <a:avLst/>
          </a:prstGeom>
          <a:noFill/>
          <a:ln/>
        </p:spPr>
        <p:txBody>
          <a:bodyPr wrap="square" lIns="0" tIns="0" rIns="0" bIns="0" rtlCol="0" anchor="t"/>
          <a:lstStyle/>
          <a:p>
            <a:pPr indent="0" marL="0">
              <a:buNone/>
            </a:pPr>
            <a:r>
              <a:rPr lang="en-US" sz="1500" dirty="0">
                <a:solidFill>
                  <a:srgbClr val="A9BBD0"/>
                </a:solidFill>
                <a:latin typeface="Calibri" pitchFamily="34" charset="0"/>
                <a:ea typeface="Calibri" pitchFamily="34" charset="-122"/>
                <a:cs typeface="Calibri" pitchFamily="34" charset="-120"/>
              </a:rPr>
              <a:t>Rows of numbers hide the structure. Zombies, orphans and short-lived children are hard to spot.</a:t>
            </a:r>
            <a:endParaRPr lang="en-US" sz="1500" dirty="0"/>
          </a:p>
        </p:txBody>
      </p:sp>
      <p:sp>
        <p:nvSpPr>
          <p:cNvPr id="16" name="Shape 13"/>
          <p:cNvSpPr/>
          <p:nvPr/>
        </p:nvSpPr>
        <p:spPr>
          <a:xfrm>
            <a:off x="6675120" y="1508760"/>
            <a:ext cx="4937760" cy="4160520"/>
          </a:xfrm>
          <a:prstGeom prst="roundRect">
            <a:avLst>
              <a:gd name="adj" fmla="val 1758"/>
            </a:avLst>
          </a:prstGeom>
          <a:solidFill>
            <a:srgbClr val="0A101D"/>
          </a:solidFill>
          <a:ln w="12700">
            <a:solidFill>
              <a:srgbClr val="2A4468"/>
            </a:solidFill>
            <a:prstDash val="solid"/>
          </a:ln>
        </p:spPr>
      </p:sp>
      <p:sp>
        <p:nvSpPr>
          <p:cNvPr id="17" name="Text 14"/>
          <p:cNvSpPr txBox="1"/>
          <p:nvPr/>
        </p:nvSpPr>
        <p:spPr>
          <a:xfrm>
            <a:off x="6949440" y="1691640"/>
            <a:ext cx="4389120" cy="274320"/>
          </a:xfrm>
          <a:prstGeom prst="rect">
            <a:avLst/>
          </a:prstGeom>
          <a:noFill/>
          <a:ln/>
        </p:spPr>
        <p:txBody>
          <a:bodyPr wrap="square" lIns="0" tIns="0" rIns="0" bIns="0" rtlCol="0" anchor="t"/>
          <a:lstStyle/>
          <a:p>
            <a:pPr indent="0" marL="0">
              <a:buNone/>
            </a:pPr>
            <a:r>
              <a:rPr lang="en-US" sz="1200" dirty="0">
                <a:solidFill>
                  <a:srgbClr val="22D3C5"/>
                </a:solidFill>
                <a:latin typeface="Courier New" pitchFamily="34" charset="0"/>
                <a:ea typeface="Courier New" pitchFamily="34" charset="-122"/>
                <a:cs typeface="Courier New" pitchFamily="34" charset="-120"/>
              </a:rPr>
              <a:t>ps output (flat list)</a:t>
            </a:r>
            <a:endParaRPr lang="en-US" sz="1200" dirty="0"/>
          </a:p>
        </p:txBody>
      </p:sp>
      <p:sp>
        <p:nvSpPr>
          <p:cNvPr id="18" name="Text 15"/>
          <p:cNvSpPr txBox="1"/>
          <p:nvPr/>
        </p:nvSpPr>
        <p:spPr>
          <a:xfrm>
            <a:off x="6949440" y="2148840"/>
            <a:ext cx="4480560" cy="2011680"/>
          </a:xfrm>
          <a:prstGeom prst="rect">
            <a:avLst/>
          </a:prstGeom>
          <a:noFill/>
          <a:ln/>
        </p:spPr>
        <p:txBody>
          <a:bodyPr wrap="square" lIns="0" tIns="0" rIns="0" bIns="0" rtlCol="0" anchor="t"/>
          <a:lstStyle/>
          <a:p>
            <a:pPr indent="0" marL="0">
              <a:spcAft>
                <a:spcPts val="600"/>
              </a:spcAft>
              <a:buNone/>
            </a:pPr>
            <a:r>
              <a:rPr lang="en-US" sz="1600" dirty="0">
                <a:solidFill>
                  <a:srgbClr val="A9BBD0"/>
                </a:solidFill>
                <a:latin typeface="Courier New" pitchFamily="34" charset="0"/>
                <a:ea typeface="Courier New" pitchFamily="34" charset="-122"/>
                <a:cs typeface="Courier New" pitchFamily="34" charset="-120"/>
              </a:rPr>
              <a:t>  PID  PPID  COMMAND</a:t>
            </a:r>
            <a:endParaRPr lang="en-US" sz="1600" dirty="0"/>
          </a:p>
          <a:p>
            <a:pPr indent="0" marL="0">
              <a:spcAft>
                <a:spcPts val="600"/>
              </a:spcAft>
              <a:buNone/>
            </a:pPr>
            <a:r>
              <a:rPr lang="en-US" sz="1600" dirty="0">
                <a:solidFill>
                  <a:srgbClr val="F1F6FB"/>
                </a:solidFill>
                <a:latin typeface="Courier New" pitchFamily="34" charset="0"/>
                <a:ea typeface="Courier New" pitchFamily="34" charset="-122"/>
                <a:cs typeface="Courier New" pitchFamily="34" charset="-120"/>
              </a:rPr>
              <a:t>    1     0  systemd</a:t>
            </a:r>
            <a:endParaRPr lang="en-US" sz="1600" dirty="0"/>
          </a:p>
          <a:p>
            <a:pPr indent="0" marL="0">
              <a:spcAft>
                <a:spcPts val="600"/>
              </a:spcAft>
              <a:buNone/>
            </a:pPr>
            <a:r>
              <a:rPr lang="en-US" sz="1600" dirty="0">
                <a:solidFill>
                  <a:srgbClr val="F1F6FB"/>
                </a:solidFill>
                <a:latin typeface="Courier New" pitchFamily="34" charset="0"/>
                <a:ea typeface="Courier New" pitchFamily="34" charset="-122"/>
                <a:cs typeface="Courier New" pitchFamily="34" charset="-120"/>
              </a:rPr>
              <a:t> 2210     1  bash</a:t>
            </a:r>
            <a:endParaRPr lang="en-US" sz="1600" dirty="0"/>
          </a:p>
          <a:p>
            <a:pPr indent="0" marL="0">
              <a:spcAft>
                <a:spcPts val="600"/>
              </a:spcAft>
              <a:buNone/>
            </a:pPr>
            <a:r>
              <a:rPr lang="en-US" sz="1600" dirty="0">
                <a:solidFill>
                  <a:srgbClr val="F1F6FB"/>
                </a:solidFill>
                <a:latin typeface="Courier New" pitchFamily="34" charset="0"/>
                <a:ea typeface="Courier New" pitchFamily="34" charset="-122"/>
                <a:cs typeface="Courier New" pitchFamily="34" charset="-120"/>
              </a:rPr>
              <a:t> 2455  2210  procscope-lab</a:t>
            </a:r>
            <a:endParaRPr lang="en-US" sz="1600" dirty="0"/>
          </a:p>
          <a:p>
            <a:pPr indent="0" marL="0">
              <a:spcAft>
                <a:spcPts val="600"/>
              </a:spcAft>
              <a:buNone/>
            </a:pPr>
            <a:r>
              <a:rPr lang="en-US" sz="1600" dirty="0">
                <a:solidFill>
                  <a:srgbClr val="F1F6FB"/>
                </a:solidFill>
                <a:latin typeface="Courier New" pitchFamily="34" charset="0"/>
                <a:ea typeface="Courier New" pitchFamily="34" charset="-122"/>
                <a:cs typeface="Courier New" pitchFamily="34" charset="-120"/>
              </a:rPr>
              <a:t> 2456  2455  procscope-lab</a:t>
            </a:r>
            <a:endParaRPr lang="en-US" sz="1600" dirty="0"/>
          </a:p>
          <a:p>
            <a:pPr indent="0" marL="0">
              <a:spcAft>
                <a:spcPts val="600"/>
              </a:spcAft>
              <a:buNone/>
            </a:pPr>
            <a:r>
              <a:rPr lang="en-US" sz="1600" dirty="0">
                <a:solidFill>
                  <a:srgbClr val="F1F6FB"/>
                </a:solidFill>
                <a:latin typeface="Courier New" pitchFamily="34" charset="0"/>
                <a:ea typeface="Courier New" pitchFamily="34" charset="-122"/>
                <a:cs typeface="Courier New" pitchFamily="34" charset="-120"/>
              </a:rPr>
              <a:t> 2457  2455  procscope-lab</a:t>
            </a:r>
            <a:endParaRPr lang="en-US" sz="1600" dirty="0"/>
          </a:p>
        </p:txBody>
      </p:sp>
      <p:sp>
        <p:nvSpPr>
          <p:cNvPr id="19" name="Text 16"/>
          <p:cNvSpPr txBox="1"/>
          <p:nvPr/>
        </p:nvSpPr>
        <p:spPr>
          <a:xfrm>
            <a:off x="6949440" y="4343400"/>
            <a:ext cx="4389120" cy="731520"/>
          </a:xfrm>
          <a:prstGeom prst="rect">
            <a:avLst/>
          </a:prstGeom>
          <a:noFill/>
          <a:ln/>
        </p:spPr>
        <p:txBody>
          <a:bodyPr wrap="square" lIns="0" tIns="0" rIns="0" bIns="0" rtlCol="0" anchor="t"/>
          <a:lstStyle/>
          <a:p>
            <a:pPr indent="0" marL="0">
              <a:buNone/>
            </a:pPr>
            <a:r>
              <a:rPr lang="en-US" sz="1500" dirty="0">
                <a:solidFill>
                  <a:srgbClr val="F1F6FB"/>
                </a:solidFill>
                <a:latin typeface="Calibri" pitchFamily="34" charset="0"/>
                <a:ea typeface="Calibri" pitchFamily="34" charset="-122"/>
                <a:cs typeface="Calibri" pitchFamily="34" charset="-120"/>
              </a:rPr>
              <a:t>Who is whose parent? The answer is only a number in the second column.</a:t>
            </a:r>
            <a:endParaRPr lang="en-US" sz="1500" dirty="0"/>
          </a:p>
        </p:txBody>
      </p:sp>
      <p:sp>
        <p:nvSpPr>
          <p:cNvPr id="20" name="Text 17"/>
          <p:cNvSpPr txBox="1"/>
          <p:nvPr/>
        </p:nvSpPr>
        <p:spPr>
          <a:xfrm>
            <a:off x="6949440" y="5166360"/>
            <a:ext cx="4389120" cy="274320"/>
          </a:xfrm>
          <a:prstGeom prst="rect">
            <a:avLst/>
          </a:prstGeom>
          <a:noFill/>
          <a:ln/>
        </p:spPr>
        <p:txBody>
          <a:bodyPr wrap="square" lIns="0" tIns="0" rIns="0" bIns="0" rtlCol="0" anchor="t"/>
          <a:lstStyle/>
          <a:p>
            <a:pPr indent="0" marL="0">
              <a:buNone/>
            </a:pPr>
            <a:r>
              <a:rPr lang="en-US" sz="1100" dirty="0">
                <a:solidFill>
                  <a:srgbClr val="F5B94A"/>
                </a:solidFill>
                <a:latin typeface="Calibri" pitchFamily="34" charset="0"/>
                <a:ea typeface="Calibri" pitchFamily="34" charset="-122"/>
                <a:cs typeface="Calibri" pitchFamily="34" charset="-120"/>
              </a:rPr>
              <a:t>Illustrative values for explanation only.</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93A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rgbClr val="F1F6FB"/>
                </a:solidFill>
                <a:latin typeface="Calibri" pitchFamily="34" charset="0"/>
                <a:ea typeface="Calibri" pitchFamily="34" charset="-122"/>
                <a:cs typeface="Calibri" pitchFamily="34" charset="-120"/>
              </a:rPr>
              <a:t>Project objectives</a:t>
            </a:r>
            <a:endParaRPr lang="en-US" sz="3400" dirty="0"/>
          </a:p>
        </p:txBody>
      </p:sp>
      <p:sp>
        <p:nvSpPr>
          <p:cNvPr id="4" name="Shape 1"/>
          <p:cNvSpPr/>
          <p:nvPr/>
        </p:nvSpPr>
        <p:spPr>
          <a:xfrm>
            <a:off x="548640" y="1417320"/>
            <a:ext cx="3566160" cy="2194560"/>
          </a:xfrm>
          <a:prstGeom prst="roundRect">
            <a:avLst>
              <a:gd name="adj" fmla="val 3333"/>
            </a:avLst>
          </a:prstGeom>
          <a:solidFill>
            <a:srgbClr val="13233D"/>
          </a:solidFill>
          <a:ln w="12700">
            <a:solidFill>
              <a:srgbClr val="2A4468"/>
            </a:solidFill>
            <a:prstDash val="solid"/>
          </a:ln>
        </p:spPr>
      </p:sp>
      <p:sp>
        <p:nvSpPr>
          <p:cNvPr id="5" name="Shape 2"/>
          <p:cNvSpPr/>
          <p:nvPr/>
        </p:nvSpPr>
        <p:spPr>
          <a:xfrm>
            <a:off x="777240" y="1645920"/>
            <a:ext cx="457200" cy="457200"/>
          </a:xfrm>
          <a:prstGeom prst="ellipse">
            <a:avLst/>
          </a:prstGeom>
          <a:solidFill>
            <a:srgbClr val="0E7C86"/>
          </a:solidFill>
          <a:ln w="12700">
            <a:solidFill>
              <a:srgbClr val="22D3C5"/>
            </a:solidFill>
            <a:prstDash val="solid"/>
          </a:ln>
        </p:spPr>
      </p:sp>
      <p:sp>
        <p:nvSpPr>
          <p:cNvPr id="6" name="Text 3"/>
          <p:cNvSpPr txBox="1"/>
          <p:nvPr/>
        </p:nvSpPr>
        <p:spPr>
          <a:xfrm>
            <a:off x="777240" y="1645920"/>
            <a:ext cx="457200" cy="457200"/>
          </a:xfrm>
          <a:prstGeom prst="rect">
            <a:avLst/>
          </a:prstGeom>
          <a:noFill/>
          <a:ln/>
        </p:spPr>
        <p:txBody>
          <a:bodyPr wrap="square" lIns="0" tIns="0" rIns="0" bIns="0" rtlCol="0" anchor="ctr"/>
          <a:lstStyle/>
          <a:p>
            <a:pPr algn="ctr" indent="0" marL="0">
              <a:buNone/>
            </a:pPr>
            <a:r>
              <a:rPr lang="en-US" sz="1600" b="1" dirty="0">
                <a:solidFill>
                  <a:srgbClr val="F1F6FB"/>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417320" y="1645920"/>
            <a:ext cx="2560320" cy="502920"/>
          </a:xfrm>
          <a:prstGeom prst="rect">
            <a:avLst/>
          </a:prstGeom>
          <a:noFill/>
          <a:ln/>
        </p:spPr>
        <p:txBody>
          <a:bodyPr wrap="square" lIns="0" tIns="0" rIns="0" bIns="0" rtlCol="0" anchor="ctr"/>
          <a:lstStyle/>
          <a:p>
            <a:pPr indent="0" marL="0">
              <a:buNone/>
            </a:pPr>
            <a:r>
              <a:rPr lang="en-US" sz="1800" b="1" dirty="0">
                <a:solidFill>
                  <a:srgbClr val="F1F6FB"/>
                </a:solidFill>
                <a:latin typeface="Calibri" pitchFamily="34" charset="0"/>
                <a:ea typeface="Calibri" pitchFamily="34" charset="-122"/>
                <a:cs typeface="Calibri" pitchFamily="34" charset="-120"/>
              </a:rPr>
              <a:t>Visualize the live hierarchy</a:t>
            </a:r>
            <a:endParaRPr lang="en-US" sz="1800" dirty="0"/>
          </a:p>
        </p:txBody>
      </p:sp>
      <p:sp>
        <p:nvSpPr>
          <p:cNvPr id="8" name="Text 5"/>
          <p:cNvSpPr txBox="1"/>
          <p:nvPr/>
        </p:nvSpPr>
        <p:spPr>
          <a:xfrm>
            <a:off x="777240" y="2331720"/>
            <a:ext cx="3154680" cy="118872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Read /proc and draw the real parent-child tree, refreshed every 2 seconds.</a:t>
            </a:r>
            <a:endParaRPr lang="en-US" sz="1400" dirty="0"/>
          </a:p>
        </p:txBody>
      </p:sp>
      <p:sp>
        <p:nvSpPr>
          <p:cNvPr id="9" name="Shape 6"/>
          <p:cNvSpPr/>
          <p:nvPr/>
        </p:nvSpPr>
        <p:spPr>
          <a:xfrm>
            <a:off x="4297680" y="1417320"/>
            <a:ext cx="3566160" cy="2194560"/>
          </a:xfrm>
          <a:prstGeom prst="roundRect">
            <a:avLst>
              <a:gd name="adj" fmla="val 3333"/>
            </a:avLst>
          </a:prstGeom>
          <a:solidFill>
            <a:srgbClr val="13233D"/>
          </a:solidFill>
          <a:ln w="12700">
            <a:solidFill>
              <a:srgbClr val="2A4468"/>
            </a:solidFill>
            <a:prstDash val="solid"/>
          </a:ln>
        </p:spPr>
      </p:sp>
      <p:sp>
        <p:nvSpPr>
          <p:cNvPr id="10" name="Shape 7"/>
          <p:cNvSpPr/>
          <p:nvPr/>
        </p:nvSpPr>
        <p:spPr>
          <a:xfrm>
            <a:off x="4526280" y="1645920"/>
            <a:ext cx="457200" cy="457200"/>
          </a:xfrm>
          <a:prstGeom prst="ellipse">
            <a:avLst/>
          </a:prstGeom>
          <a:solidFill>
            <a:srgbClr val="0E7C86"/>
          </a:solidFill>
          <a:ln w="12700">
            <a:solidFill>
              <a:srgbClr val="22D3C5"/>
            </a:solidFill>
            <a:prstDash val="solid"/>
          </a:ln>
        </p:spPr>
      </p:sp>
      <p:sp>
        <p:nvSpPr>
          <p:cNvPr id="11" name="Text 8"/>
          <p:cNvSpPr txBox="1"/>
          <p:nvPr/>
        </p:nvSpPr>
        <p:spPr>
          <a:xfrm>
            <a:off x="4526280" y="1645920"/>
            <a:ext cx="457200" cy="457200"/>
          </a:xfrm>
          <a:prstGeom prst="rect">
            <a:avLst/>
          </a:prstGeom>
          <a:noFill/>
          <a:ln/>
        </p:spPr>
        <p:txBody>
          <a:bodyPr wrap="square" lIns="0" tIns="0" rIns="0" bIns="0" rtlCol="0" anchor="ctr"/>
          <a:lstStyle/>
          <a:p>
            <a:pPr algn="ctr" indent="0" marL="0">
              <a:buNone/>
            </a:pPr>
            <a:r>
              <a:rPr lang="en-US" sz="1600" b="1" dirty="0">
                <a:solidFill>
                  <a:srgbClr val="F1F6FB"/>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5166360" y="1645920"/>
            <a:ext cx="2560320" cy="502920"/>
          </a:xfrm>
          <a:prstGeom prst="rect">
            <a:avLst/>
          </a:prstGeom>
          <a:noFill/>
          <a:ln/>
        </p:spPr>
        <p:txBody>
          <a:bodyPr wrap="square" lIns="0" tIns="0" rIns="0" bIns="0" rtlCol="0" anchor="ctr"/>
          <a:lstStyle/>
          <a:p>
            <a:pPr indent="0" marL="0">
              <a:buNone/>
            </a:pPr>
            <a:r>
              <a:rPr lang="en-US" sz="1800" b="1" dirty="0">
                <a:solidFill>
                  <a:srgbClr val="F1F6FB"/>
                </a:solidFill>
                <a:latin typeface="Calibri" pitchFamily="34" charset="0"/>
                <a:ea typeface="Calibri" pitchFamily="34" charset="-122"/>
                <a:cs typeface="Calibri" pitchFamily="34" charset="-120"/>
              </a:rPr>
              <a:t>Explore relationships</a:t>
            </a:r>
            <a:endParaRPr lang="en-US" sz="1800" dirty="0"/>
          </a:p>
        </p:txBody>
      </p:sp>
      <p:sp>
        <p:nvSpPr>
          <p:cNvPr id="13" name="Text 10"/>
          <p:cNvSpPr txBox="1"/>
          <p:nvPr/>
        </p:nvSpPr>
        <p:spPr>
          <a:xfrm>
            <a:off x="4526280" y="2331720"/>
            <a:ext cx="3154680" cy="118872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Search, expand or collapse branches, and Follow family to highlight ancestors and descendants.</a:t>
            </a:r>
            <a:endParaRPr lang="en-US" sz="1400" dirty="0"/>
          </a:p>
        </p:txBody>
      </p:sp>
      <p:sp>
        <p:nvSpPr>
          <p:cNvPr id="14" name="Shape 11"/>
          <p:cNvSpPr/>
          <p:nvPr/>
        </p:nvSpPr>
        <p:spPr>
          <a:xfrm>
            <a:off x="8046720" y="1417320"/>
            <a:ext cx="3566160" cy="2194560"/>
          </a:xfrm>
          <a:prstGeom prst="roundRect">
            <a:avLst>
              <a:gd name="adj" fmla="val 3333"/>
            </a:avLst>
          </a:prstGeom>
          <a:solidFill>
            <a:srgbClr val="13233D"/>
          </a:solidFill>
          <a:ln w="12700">
            <a:solidFill>
              <a:srgbClr val="2A4468"/>
            </a:solidFill>
            <a:prstDash val="solid"/>
          </a:ln>
        </p:spPr>
      </p:sp>
      <p:sp>
        <p:nvSpPr>
          <p:cNvPr id="15" name="Shape 12"/>
          <p:cNvSpPr/>
          <p:nvPr/>
        </p:nvSpPr>
        <p:spPr>
          <a:xfrm>
            <a:off x="8275320" y="1645920"/>
            <a:ext cx="457200" cy="457200"/>
          </a:xfrm>
          <a:prstGeom prst="ellipse">
            <a:avLst/>
          </a:prstGeom>
          <a:solidFill>
            <a:srgbClr val="0E7C86"/>
          </a:solidFill>
          <a:ln w="12700">
            <a:solidFill>
              <a:srgbClr val="22D3C5"/>
            </a:solidFill>
            <a:prstDash val="solid"/>
          </a:ln>
        </p:spPr>
      </p:sp>
      <p:sp>
        <p:nvSpPr>
          <p:cNvPr id="16" name="Text 13"/>
          <p:cNvSpPr txBox="1"/>
          <p:nvPr/>
        </p:nvSpPr>
        <p:spPr>
          <a:xfrm>
            <a:off x="8275320" y="1645920"/>
            <a:ext cx="457200" cy="457200"/>
          </a:xfrm>
          <a:prstGeom prst="rect">
            <a:avLst/>
          </a:prstGeom>
          <a:noFill/>
          <a:ln/>
        </p:spPr>
        <p:txBody>
          <a:bodyPr wrap="square" lIns="0" tIns="0" rIns="0" bIns="0" rtlCol="0" anchor="ctr"/>
          <a:lstStyle/>
          <a:p>
            <a:pPr algn="ctr" indent="0" marL="0">
              <a:buNone/>
            </a:pPr>
            <a:r>
              <a:rPr lang="en-US" sz="1600" b="1" dirty="0">
                <a:solidFill>
                  <a:srgbClr val="F1F6FB"/>
                </a:solidFill>
                <a:latin typeface="Calibri" pitchFamily="34" charset="0"/>
                <a:ea typeface="Calibri" pitchFamily="34" charset="-122"/>
                <a:cs typeface="Calibri" pitchFamily="34" charset="-120"/>
              </a:rPr>
              <a:t>3</a:t>
            </a:r>
            <a:endParaRPr lang="en-US" sz="1600" dirty="0"/>
          </a:p>
        </p:txBody>
      </p:sp>
      <p:sp>
        <p:nvSpPr>
          <p:cNvPr id="17" name="Text 14"/>
          <p:cNvSpPr txBox="1"/>
          <p:nvPr/>
        </p:nvSpPr>
        <p:spPr>
          <a:xfrm>
            <a:off x="8915400" y="1645920"/>
            <a:ext cx="2560320" cy="502920"/>
          </a:xfrm>
          <a:prstGeom prst="rect">
            <a:avLst/>
          </a:prstGeom>
          <a:noFill/>
          <a:ln/>
        </p:spPr>
        <p:txBody>
          <a:bodyPr wrap="square" lIns="0" tIns="0" rIns="0" bIns="0" rtlCol="0" anchor="ctr"/>
          <a:lstStyle/>
          <a:p>
            <a:pPr indent="0" marL="0">
              <a:buNone/>
            </a:pPr>
            <a:r>
              <a:rPr lang="en-US" sz="1800" b="1" dirty="0">
                <a:solidFill>
                  <a:srgbClr val="F1F6FB"/>
                </a:solidFill>
                <a:latin typeface="Calibri" pitchFamily="34" charset="0"/>
                <a:ea typeface="Calibri" pitchFamily="34" charset="-122"/>
                <a:cs typeface="Calibri" pitchFamily="34" charset="-120"/>
              </a:rPr>
              <a:t>Inspect process information</a:t>
            </a:r>
            <a:endParaRPr lang="en-US" sz="1800" dirty="0"/>
          </a:p>
        </p:txBody>
      </p:sp>
      <p:sp>
        <p:nvSpPr>
          <p:cNvPr id="18" name="Text 15"/>
          <p:cNvSpPr txBox="1"/>
          <p:nvPr/>
        </p:nvSpPr>
        <p:spPr>
          <a:xfrm>
            <a:off x="8275320" y="2331720"/>
            <a:ext cx="3154680" cy="118872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Show identity, state and available details for a selected process. Restricted fields are shown as unavailable.</a:t>
            </a:r>
            <a:endParaRPr lang="en-US" sz="1400" dirty="0"/>
          </a:p>
        </p:txBody>
      </p:sp>
      <p:sp>
        <p:nvSpPr>
          <p:cNvPr id="19" name="Shape 16"/>
          <p:cNvSpPr/>
          <p:nvPr/>
        </p:nvSpPr>
        <p:spPr>
          <a:xfrm>
            <a:off x="548640" y="3794760"/>
            <a:ext cx="3566160" cy="2194560"/>
          </a:xfrm>
          <a:prstGeom prst="roundRect">
            <a:avLst>
              <a:gd name="adj" fmla="val 3333"/>
            </a:avLst>
          </a:prstGeom>
          <a:solidFill>
            <a:srgbClr val="13233D"/>
          </a:solidFill>
          <a:ln w="12700">
            <a:solidFill>
              <a:srgbClr val="2A4468"/>
            </a:solidFill>
            <a:prstDash val="solid"/>
          </a:ln>
        </p:spPr>
      </p:sp>
      <p:sp>
        <p:nvSpPr>
          <p:cNvPr id="20" name="Shape 17"/>
          <p:cNvSpPr/>
          <p:nvPr/>
        </p:nvSpPr>
        <p:spPr>
          <a:xfrm>
            <a:off x="777240" y="4023360"/>
            <a:ext cx="457200" cy="457200"/>
          </a:xfrm>
          <a:prstGeom prst="ellipse">
            <a:avLst/>
          </a:prstGeom>
          <a:solidFill>
            <a:srgbClr val="0E7C86"/>
          </a:solidFill>
          <a:ln w="12700">
            <a:solidFill>
              <a:srgbClr val="22D3C5"/>
            </a:solidFill>
            <a:prstDash val="solid"/>
          </a:ln>
        </p:spPr>
      </p:sp>
      <p:sp>
        <p:nvSpPr>
          <p:cNvPr id="21" name="Text 18"/>
          <p:cNvSpPr txBox="1"/>
          <p:nvPr/>
        </p:nvSpPr>
        <p:spPr>
          <a:xfrm>
            <a:off x="777240" y="4023360"/>
            <a:ext cx="457200" cy="457200"/>
          </a:xfrm>
          <a:prstGeom prst="rect">
            <a:avLst/>
          </a:prstGeom>
          <a:noFill/>
          <a:ln/>
        </p:spPr>
        <p:txBody>
          <a:bodyPr wrap="square" lIns="0" tIns="0" rIns="0" bIns="0" rtlCol="0" anchor="ctr"/>
          <a:lstStyle/>
          <a:p>
            <a:pPr algn="ctr" indent="0" marL="0">
              <a:buNone/>
            </a:pPr>
            <a:r>
              <a:rPr lang="en-US" sz="1600" b="1" dirty="0">
                <a:solidFill>
                  <a:srgbClr val="F1F6FB"/>
                </a:solidFill>
                <a:latin typeface="Calibri" pitchFamily="34" charset="0"/>
                <a:ea typeface="Calibri" pitchFamily="34" charset="-122"/>
                <a:cs typeface="Calibri" pitchFamily="34" charset="-120"/>
              </a:rPr>
              <a:t>4</a:t>
            </a:r>
            <a:endParaRPr lang="en-US" sz="1600" dirty="0"/>
          </a:p>
        </p:txBody>
      </p:sp>
      <p:sp>
        <p:nvSpPr>
          <p:cNvPr id="22" name="Text 19"/>
          <p:cNvSpPr txBox="1"/>
          <p:nvPr/>
        </p:nvSpPr>
        <p:spPr>
          <a:xfrm>
            <a:off x="1417320" y="4023360"/>
            <a:ext cx="2560320" cy="502920"/>
          </a:xfrm>
          <a:prstGeom prst="rect">
            <a:avLst/>
          </a:prstGeom>
          <a:noFill/>
          <a:ln/>
        </p:spPr>
        <p:txBody>
          <a:bodyPr wrap="square" lIns="0" tIns="0" rIns="0" bIns="0" rtlCol="0" anchor="ctr"/>
          <a:lstStyle/>
          <a:p>
            <a:pPr indent="0" marL="0">
              <a:buNone/>
            </a:pPr>
            <a:r>
              <a:rPr lang="en-US" sz="1800" b="1" dirty="0">
                <a:solidFill>
                  <a:srgbClr val="F1F6FB"/>
                </a:solidFill>
                <a:latin typeface="Calibri" pitchFamily="34" charset="0"/>
                <a:ea typeface="Calibri" pitchFamily="34" charset="-122"/>
                <a:cs typeface="Calibri" pitchFamily="34" charset="-120"/>
              </a:rPr>
              <a:t>Observe lifecycle changes</a:t>
            </a:r>
            <a:endParaRPr lang="en-US" sz="1800" dirty="0"/>
          </a:p>
        </p:txBody>
      </p:sp>
      <p:sp>
        <p:nvSpPr>
          <p:cNvPr id="23" name="Text 20"/>
          <p:cNvSpPr txBox="1"/>
          <p:nvPr/>
        </p:nvSpPr>
        <p:spPr>
          <a:xfrm>
            <a:off x="777240" y="4709160"/>
            <a:ext cx="3154680" cy="118872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A timeline of snapshot-inferred changes, plus optional kernel events when supported.</a:t>
            </a:r>
            <a:endParaRPr lang="en-US" sz="1400" dirty="0"/>
          </a:p>
        </p:txBody>
      </p:sp>
      <p:sp>
        <p:nvSpPr>
          <p:cNvPr id="24" name="Shape 21"/>
          <p:cNvSpPr/>
          <p:nvPr/>
        </p:nvSpPr>
        <p:spPr>
          <a:xfrm>
            <a:off x="4297680" y="3794760"/>
            <a:ext cx="3566160" cy="2194560"/>
          </a:xfrm>
          <a:prstGeom prst="roundRect">
            <a:avLst>
              <a:gd name="adj" fmla="val 3333"/>
            </a:avLst>
          </a:prstGeom>
          <a:solidFill>
            <a:srgbClr val="13233D"/>
          </a:solidFill>
          <a:ln w="12700">
            <a:solidFill>
              <a:srgbClr val="2A4468"/>
            </a:solidFill>
            <a:prstDash val="solid"/>
          </a:ln>
        </p:spPr>
      </p:sp>
      <p:sp>
        <p:nvSpPr>
          <p:cNvPr id="25" name="Shape 22"/>
          <p:cNvSpPr/>
          <p:nvPr/>
        </p:nvSpPr>
        <p:spPr>
          <a:xfrm>
            <a:off x="4526280" y="4023360"/>
            <a:ext cx="457200" cy="457200"/>
          </a:xfrm>
          <a:prstGeom prst="ellipse">
            <a:avLst/>
          </a:prstGeom>
          <a:solidFill>
            <a:srgbClr val="0E7C86"/>
          </a:solidFill>
          <a:ln w="12700">
            <a:solidFill>
              <a:srgbClr val="22D3C5"/>
            </a:solidFill>
            <a:prstDash val="solid"/>
          </a:ln>
        </p:spPr>
      </p:sp>
      <p:sp>
        <p:nvSpPr>
          <p:cNvPr id="26" name="Text 23"/>
          <p:cNvSpPr txBox="1"/>
          <p:nvPr/>
        </p:nvSpPr>
        <p:spPr>
          <a:xfrm>
            <a:off x="4526280" y="4023360"/>
            <a:ext cx="457200" cy="457200"/>
          </a:xfrm>
          <a:prstGeom prst="rect">
            <a:avLst/>
          </a:prstGeom>
          <a:noFill/>
          <a:ln/>
        </p:spPr>
        <p:txBody>
          <a:bodyPr wrap="square" lIns="0" tIns="0" rIns="0" bIns="0" rtlCol="0" anchor="ctr"/>
          <a:lstStyle/>
          <a:p>
            <a:pPr algn="ctr" indent="0" marL="0">
              <a:buNone/>
            </a:pPr>
            <a:r>
              <a:rPr lang="en-US" sz="1600" b="1" dirty="0">
                <a:solidFill>
                  <a:srgbClr val="F1F6FB"/>
                </a:solidFill>
                <a:latin typeface="Calibri" pitchFamily="34" charset="0"/>
                <a:ea typeface="Calibri" pitchFamily="34" charset="-122"/>
                <a:cs typeface="Calibri" pitchFamily="34" charset="-120"/>
              </a:rPr>
              <a:t>5</a:t>
            </a:r>
            <a:endParaRPr lang="en-US" sz="1600" dirty="0"/>
          </a:p>
        </p:txBody>
      </p:sp>
      <p:sp>
        <p:nvSpPr>
          <p:cNvPr id="27" name="Text 24"/>
          <p:cNvSpPr txBox="1"/>
          <p:nvPr/>
        </p:nvSpPr>
        <p:spPr>
          <a:xfrm>
            <a:off x="5166360" y="4023360"/>
            <a:ext cx="2560320" cy="502920"/>
          </a:xfrm>
          <a:prstGeom prst="rect">
            <a:avLst/>
          </a:prstGeom>
          <a:noFill/>
          <a:ln/>
        </p:spPr>
        <p:txBody>
          <a:bodyPr wrap="square" lIns="0" tIns="0" rIns="0" bIns="0" rtlCol="0" anchor="ctr"/>
          <a:lstStyle/>
          <a:p>
            <a:pPr indent="0" marL="0">
              <a:buNone/>
            </a:pPr>
            <a:r>
              <a:rPr lang="en-US" sz="1800" b="1" dirty="0">
                <a:solidFill>
                  <a:srgbClr val="F1F6FB"/>
                </a:solidFill>
                <a:latin typeface="Calibri" pitchFamily="34" charset="0"/>
                <a:ea typeface="Calibri" pitchFamily="34" charset="-122"/>
                <a:cs typeface="Calibri" pitchFamily="34" charset="-120"/>
              </a:rPr>
              <a:t>Teach OS concepts</a:t>
            </a:r>
            <a:endParaRPr lang="en-US" sz="1800" dirty="0"/>
          </a:p>
        </p:txBody>
      </p:sp>
      <p:sp>
        <p:nvSpPr>
          <p:cNvPr id="28" name="Text 25"/>
          <p:cNvSpPr txBox="1"/>
          <p:nvPr/>
        </p:nvSpPr>
        <p:spPr>
          <a:xfrm>
            <a:off x="4526280" y="4709160"/>
            <a:ext cx="3154680" cy="118872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Five guided C experiments: zombie, orphan, pipeline, threads and fork/exec.</a:t>
            </a:r>
            <a:endParaRPr lang="en-US" sz="1400" dirty="0"/>
          </a:p>
        </p:txBody>
      </p:sp>
      <p:sp>
        <p:nvSpPr>
          <p:cNvPr id="29" name="Shape 26"/>
          <p:cNvSpPr/>
          <p:nvPr/>
        </p:nvSpPr>
        <p:spPr>
          <a:xfrm>
            <a:off x="8046720" y="3794760"/>
            <a:ext cx="3566160" cy="2194560"/>
          </a:xfrm>
          <a:prstGeom prst="roundRect">
            <a:avLst>
              <a:gd name="adj" fmla="val 3333"/>
            </a:avLst>
          </a:prstGeom>
          <a:solidFill>
            <a:srgbClr val="13233D"/>
          </a:solidFill>
          <a:ln w="12700">
            <a:solidFill>
              <a:srgbClr val="2A4468"/>
            </a:solidFill>
            <a:prstDash val="solid"/>
          </a:ln>
        </p:spPr>
      </p:sp>
      <p:sp>
        <p:nvSpPr>
          <p:cNvPr id="30" name="Shape 27"/>
          <p:cNvSpPr/>
          <p:nvPr/>
        </p:nvSpPr>
        <p:spPr>
          <a:xfrm>
            <a:off x="8275320" y="4023360"/>
            <a:ext cx="457200" cy="457200"/>
          </a:xfrm>
          <a:prstGeom prst="ellipse">
            <a:avLst/>
          </a:prstGeom>
          <a:solidFill>
            <a:srgbClr val="0E7C86"/>
          </a:solidFill>
          <a:ln w="12700">
            <a:solidFill>
              <a:srgbClr val="22D3C5"/>
            </a:solidFill>
            <a:prstDash val="solid"/>
          </a:ln>
        </p:spPr>
      </p:sp>
      <p:sp>
        <p:nvSpPr>
          <p:cNvPr id="31" name="Text 28"/>
          <p:cNvSpPr txBox="1"/>
          <p:nvPr/>
        </p:nvSpPr>
        <p:spPr>
          <a:xfrm>
            <a:off x="8275320" y="4023360"/>
            <a:ext cx="457200" cy="457200"/>
          </a:xfrm>
          <a:prstGeom prst="rect">
            <a:avLst/>
          </a:prstGeom>
          <a:noFill/>
          <a:ln/>
        </p:spPr>
        <p:txBody>
          <a:bodyPr wrap="square" lIns="0" tIns="0" rIns="0" bIns="0" rtlCol="0" anchor="ctr"/>
          <a:lstStyle/>
          <a:p>
            <a:pPr algn="ctr" indent="0" marL="0">
              <a:buNone/>
            </a:pPr>
            <a:r>
              <a:rPr lang="en-US" sz="1600" b="1" dirty="0">
                <a:solidFill>
                  <a:srgbClr val="F1F6FB"/>
                </a:solidFill>
                <a:latin typeface="Calibri" pitchFamily="34" charset="0"/>
                <a:ea typeface="Calibri" pitchFamily="34" charset="-122"/>
                <a:cs typeface="Calibri" pitchFamily="34" charset="-120"/>
              </a:rPr>
              <a:t>6</a:t>
            </a:r>
            <a:endParaRPr lang="en-US" sz="1600" dirty="0"/>
          </a:p>
        </p:txBody>
      </p:sp>
      <p:sp>
        <p:nvSpPr>
          <p:cNvPr id="32" name="Text 29"/>
          <p:cNvSpPr txBox="1"/>
          <p:nvPr/>
        </p:nvSpPr>
        <p:spPr>
          <a:xfrm>
            <a:off x="8915400" y="4023360"/>
            <a:ext cx="2560320" cy="502920"/>
          </a:xfrm>
          <a:prstGeom prst="rect">
            <a:avLst/>
          </a:prstGeom>
          <a:noFill/>
          <a:ln/>
        </p:spPr>
        <p:txBody>
          <a:bodyPr wrap="square" lIns="0" tIns="0" rIns="0" bIns="0" rtlCol="0" anchor="ctr"/>
          <a:lstStyle/>
          <a:p>
            <a:pPr indent="0" marL="0">
              <a:buNone/>
            </a:pPr>
            <a:r>
              <a:rPr lang="en-US" sz="1800" b="1" dirty="0">
                <a:solidFill>
                  <a:srgbClr val="F1F6FB"/>
                </a:solidFill>
                <a:latin typeface="Calibri" pitchFamily="34" charset="0"/>
                <a:ea typeface="Calibri" pitchFamily="34" charset="-122"/>
                <a:cs typeface="Calibri" pitchFamily="34" charset="-120"/>
              </a:rPr>
              <a:t>Validate against Linux tools</a:t>
            </a:r>
            <a:endParaRPr lang="en-US" sz="1800" dirty="0"/>
          </a:p>
        </p:txBody>
      </p:sp>
      <p:sp>
        <p:nvSpPr>
          <p:cNvPr id="33" name="Text 30"/>
          <p:cNvSpPr txBox="1"/>
          <p:nvPr/>
        </p:nvSpPr>
        <p:spPr>
          <a:xfrm>
            <a:off x="8275320" y="4709160"/>
            <a:ext cx="3154680" cy="118872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verify_tree.py cross-checks parent links against ps and pstree.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93A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rgbClr val="F1F6FB"/>
                </a:solidFill>
                <a:latin typeface="Calibri" pitchFamily="34" charset="0"/>
                <a:ea typeface="Calibri" pitchFamily="34" charset="-122"/>
                <a:cs typeface="Calibri" pitchFamily="34" charset="-120"/>
              </a:rPr>
              <a:t>Existing tools and our motivation</a:t>
            </a:r>
            <a:endParaRPr lang="en-US" sz="3400" dirty="0"/>
          </a:p>
        </p:txBody>
      </p:sp>
      <p:sp>
        <p:nvSpPr>
          <p:cNvPr id="4" name="Shape 1"/>
          <p:cNvSpPr/>
          <p:nvPr/>
        </p:nvSpPr>
        <p:spPr>
          <a:xfrm>
            <a:off x="548640" y="1417320"/>
            <a:ext cx="3566160" cy="2011680"/>
          </a:xfrm>
          <a:prstGeom prst="roundRect">
            <a:avLst>
              <a:gd name="adj" fmla="val 3636"/>
            </a:avLst>
          </a:prstGeom>
          <a:solidFill>
            <a:srgbClr val="13233D"/>
          </a:solidFill>
          <a:ln w="12700">
            <a:solidFill>
              <a:srgbClr val="2A4468"/>
            </a:solidFill>
            <a:prstDash val="solid"/>
          </a:ln>
        </p:spPr>
      </p:sp>
      <p:sp>
        <p:nvSpPr>
          <p:cNvPr id="5" name="Text 2"/>
          <p:cNvSpPr txBox="1"/>
          <p:nvPr/>
        </p:nvSpPr>
        <p:spPr>
          <a:xfrm>
            <a:off x="822960" y="1600200"/>
            <a:ext cx="2011680" cy="457200"/>
          </a:xfrm>
          <a:prstGeom prst="rect">
            <a:avLst/>
          </a:prstGeom>
          <a:noFill/>
          <a:ln/>
        </p:spPr>
        <p:txBody>
          <a:bodyPr wrap="square" lIns="0" tIns="0" rIns="0" bIns="0" rtlCol="0" anchor="t"/>
          <a:lstStyle/>
          <a:p>
            <a:pPr indent="0" marL="0">
              <a:buNone/>
            </a:pPr>
            <a:r>
              <a:rPr lang="en-US" sz="2400" b="1" dirty="0">
                <a:solidFill>
                  <a:srgbClr val="22D3C5"/>
                </a:solidFill>
                <a:latin typeface="Courier New" pitchFamily="34" charset="0"/>
                <a:ea typeface="Courier New" pitchFamily="34" charset="-122"/>
                <a:cs typeface="Courier New" pitchFamily="34" charset="-120"/>
              </a:rPr>
              <a:t>ps</a:t>
            </a:r>
            <a:endParaRPr lang="en-US" sz="2400" dirty="0"/>
          </a:p>
        </p:txBody>
      </p:sp>
      <p:sp>
        <p:nvSpPr>
          <p:cNvPr id="6" name="Text 3"/>
          <p:cNvSpPr txBox="1"/>
          <p:nvPr/>
        </p:nvSpPr>
        <p:spPr>
          <a:xfrm>
            <a:off x="2743200" y="1691640"/>
            <a:ext cx="1188720" cy="274320"/>
          </a:xfrm>
          <a:prstGeom prst="rect">
            <a:avLst/>
          </a:prstGeom>
          <a:noFill/>
          <a:ln/>
        </p:spPr>
        <p:txBody>
          <a:bodyPr wrap="square" lIns="0" tIns="0" rIns="0" bIns="0" rtlCol="0" anchor="t"/>
          <a:lstStyle/>
          <a:p>
            <a:pPr algn="r" indent="0" marL="0">
              <a:buNone/>
            </a:pPr>
            <a:r>
              <a:rPr lang="en-US" sz="1100" dirty="0">
                <a:solidFill>
                  <a:srgbClr val="A9BBD0"/>
                </a:solidFill>
                <a:latin typeface="Calibri" pitchFamily="34" charset="0"/>
                <a:ea typeface="Calibri" pitchFamily="34" charset="-122"/>
                <a:cs typeface="Calibri" pitchFamily="34" charset="-120"/>
              </a:rPr>
              <a:t>established</a:t>
            </a:r>
            <a:endParaRPr lang="en-US" sz="1100" dirty="0"/>
          </a:p>
        </p:txBody>
      </p:sp>
      <p:sp>
        <p:nvSpPr>
          <p:cNvPr id="7" name="Text 4"/>
          <p:cNvSpPr txBox="1"/>
          <p:nvPr/>
        </p:nvSpPr>
        <p:spPr>
          <a:xfrm>
            <a:off x="822960" y="2194560"/>
            <a:ext cx="3063240" cy="1143000"/>
          </a:xfrm>
          <a:prstGeom prst="rect">
            <a:avLst/>
          </a:prstGeom>
          <a:noFill/>
          <a:ln/>
        </p:spPr>
        <p:txBody>
          <a:bodyPr wrap="square" lIns="0" tIns="0" rIns="0" bIns="0" rtlCol="0" anchor="t"/>
          <a:lstStyle/>
          <a:p>
            <a:pPr indent="0" marL="0">
              <a:buNone/>
            </a:pPr>
            <a:r>
              <a:rPr lang="en-US" sz="1500" dirty="0">
                <a:solidFill>
                  <a:srgbClr val="A9BBD0"/>
                </a:solidFill>
                <a:latin typeface="Calibri" pitchFamily="34" charset="0"/>
                <a:ea typeface="Calibri" pitchFamily="34" charset="-122"/>
                <a:cs typeface="Calibri" pitchFamily="34" charset="-120"/>
              </a:rPr>
              <a:t>Lists processes at one moment, with selectable columns. The standard tool for scripts.</a:t>
            </a:r>
            <a:endParaRPr lang="en-US" sz="1500" dirty="0"/>
          </a:p>
        </p:txBody>
      </p:sp>
      <p:sp>
        <p:nvSpPr>
          <p:cNvPr id="8" name="Shape 5"/>
          <p:cNvSpPr/>
          <p:nvPr/>
        </p:nvSpPr>
        <p:spPr>
          <a:xfrm>
            <a:off x="4297680" y="1417320"/>
            <a:ext cx="3566160" cy="2011680"/>
          </a:xfrm>
          <a:prstGeom prst="roundRect">
            <a:avLst>
              <a:gd name="adj" fmla="val 3636"/>
            </a:avLst>
          </a:prstGeom>
          <a:solidFill>
            <a:srgbClr val="13233D"/>
          </a:solidFill>
          <a:ln w="12700">
            <a:solidFill>
              <a:srgbClr val="2A4468"/>
            </a:solidFill>
            <a:prstDash val="solid"/>
          </a:ln>
        </p:spPr>
      </p:sp>
      <p:sp>
        <p:nvSpPr>
          <p:cNvPr id="9" name="Text 6"/>
          <p:cNvSpPr txBox="1"/>
          <p:nvPr/>
        </p:nvSpPr>
        <p:spPr>
          <a:xfrm>
            <a:off x="4572000" y="1600200"/>
            <a:ext cx="2011680" cy="457200"/>
          </a:xfrm>
          <a:prstGeom prst="rect">
            <a:avLst/>
          </a:prstGeom>
          <a:noFill/>
          <a:ln/>
        </p:spPr>
        <p:txBody>
          <a:bodyPr wrap="square" lIns="0" tIns="0" rIns="0" bIns="0" rtlCol="0" anchor="t"/>
          <a:lstStyle/>
          <a:p>
            <a:pPr indent="0" marL="0">
              <a:buNone/>
            </a:pPr>
            <a:r>
              <a:rPr lang="en-US" sz="2400" b="1" dirty="0">
                <a:solidFill>
                  <a:srgbClr val="22D3C5"/>
                </a:solidFill>
                <a:latin typeface="Courier New" pitchFamily="34" charset="0"/>
                <a:ea typeface="Courier New" pitchFamily="34" charset="-122"/>
                <a:cs typeface="Courier New" pitchFamily="34" charset="-120"/>
              </a:rPr>
              <a:t>pstree</a:t>
            </a:r>
            <a:endParaRPr lang="en-US" sz="2400" dirty="0"/>
          </a:p>
        </p:txBody>
      </p:sp>
      <p:sp>
        <p:nvSpPr>
          <p:cNvPr id="10" name="Text 7"/>
          <p:cNvSpPr txBox="1"/>
          <p:nvPr/>
        </p:nvSpPr>
        <p:spPr>
          <a:xfrm>
            <a:off x="6492240" y="1691640"/>
            <a:ext cx="1188720" cy="274320"/>
          </a:xfrm>
          <a:prstGeom prst="rect">
            <a:avLst/>
          </a:prstGeom>
          <a:noFill/>
          <a:ln/>
        </p:spPr>
        <p:txBody>
          <a:bodyPr wrap="square" lIns="0" tIns="0" rIns="0" bIns="0" rtlCol="0" anchor="t"/>
          <a:lstStyle/>
          <a:p>
            <a:pPr algn="r" indent="0" marL="0">
              <a:buNone/>
            </a:pPr>
            <a:r>
              <a:rPr lang="en-US" sz="1100" dirty="0">
                <a:solidFill>
                  <a:srgbClr val="A9BBD0"/>
                </a:solidFill>
                <a:latin typeface="Calibri" pitchFamily="34" charset="0"/>
                <a:ea typeface="Calibri" pitchFamily="34" charset="-122"/>
                <a:cs typeface="Calibri" pitchFamily="34" charset="-120"/>
              </a:rPr>
              <a:t>established</a:t>
            </a:r>
            <a:endParaRPr lang="en-US" sz="1100" dirty="0"/>
          </a:p>
        </p:txBody>
      </p:sp>
      <p:sp>
        <p:nvSpPr>
          <p:cNvPr id="11" name="Text 8"/>
          <p:cNvSpPr txBox="1"/>
          <p:nvPr/>
        </p:nvSpPr>
        <p:spPr>
          <a:xfrm>
            <a:off x="4572000" y="2194560"/>
            <a:ext cx="3063240" cy="1143000"/>
          </a:xfrm>
          <a:prstGeom prst="rect">
            <a:avLst/>
          </a:prstGeom>
          <a:noFill/>
          <a:ln/>
        </p:spPr>
        <p:txBody>
          <a:bodyPr wrap="square" lIns="0" tIns="0" rIns="0" bIns="0" rtlCol="0" anchor="t"/>
          <a:lstStyle/>
          <a:p>
            <a:pPr indent="0" marL="0">
              <a:buNone/>
            </a:pPr>
            <a:r>
              <a:rPr lang="en-US" sz="1500" dirty="0">
                <a:solidFill>
                  <a:srgbClr val="A9BBD0"/>
                </a:solidFill>
                <a:latin typeface="Calibri" pitchFamily="34" charset="0"/>
                <a:ea typeface="Calibri" pitchFamily="34" charset="-122"/>
                <a:cs typeface="Calibri" pitchFamily="34" charset="-120"/>
              </a:rPr>
              <a:t>Prints the hierarchy as compact text. Shows the structure at the moment it runs.</a:t>
            </a:r>
            <a:endParaRPr lang="en-US" sz="1500" dirty="0"/>
          </a:p>
        </p:txBody>
      </p:sp>
      <p:sp>
        <p:nvSpPr>
          <p:cNvPr id="12" name="Shape 9"/>
          <p:cNvSpPr/>
          <p:nvPr/>
        </p:nvSpPr>
        <p:spPr>
          <a:xfrm>
            <a:off x="8046720" y="1417320"/>
            <a:ext cx="3566160" cy="2011680"/>
          </a:xfrm>
          <a:prstGeom prst="roundRect">
            <a:avLst>
              <a:gd name="adj" fmla="val 3636"/>
            </a:avLst>
          </a:prstGeom>
          <a:solidFill>
            <a:srgbClr val="13233D"/>
          </a:solidFill>
          <a:ln w="12700">
            <a:solidFill>
              <a:srgbClr val="2A4468"/>
            </a:solidFill>
            <a:prstDash val="solid"/>
          </a:ln>
        </p:spPr>
      </p:sp>
      <p:sp>
        <p:nvSpPr>
          <p:cNvPr id="13" name="Text 10"/>
          <p:cNvSpPr txBox="1"/>
          <p:nvPr/>
        </p:nvSpPr>
        <p:spPr>
          <a:xfrm>
            <a:off x="8321040" y="1600200"/>
            <a:ext cx="2011680" cy="457200"/>
          </a:xfrm>
          <a:prstGeom prst="rect">
            <a:avLst/>
          </a:prstGeom>
          <a:noFill/>
          <a:ln/>
        </p:spPr>
        <p:txBody>
          <a:bodyPr wrap="square" lIns="0" tIns="0" rIns="0" bIns="0" rtlCol="0" anchor="t"/>
          <a:lstStyle/>
          <a:p>
            <a:pPr indent="0" marL="0">
              <a:buNone/>
            </a:pPr>
            <a:r>
              <a:rPr lang="en-US" sz="2400" b="1" dirty="0">
                <a:solidFill>
                  <a:srgbClr val="22D3C5"/>
                </a:solidFill>
                <a:latin typeface="Courier New" pitchFamily="34" charset="0"/>
                <a:ea typeface="Courier New" pitchFamily="34" charset="-122"/>
                <a:cs typeface="Courier New" pitchFamily="34" charset="-120"/>
              </a:rPr>
              <a:t>htop</a:t>
            </a:r>
            <a:endParaRPr lang="en-US" sz="2400" dirty="0"/>
          </a:p>
        </p:txBody>
      </p:sp>
      <p:sp>
        <p:nvSpPr>
          <p:cNvPr id="14" name="Text 11"/>
          <p:cNvSpPr txBox="1"/>
          <p:nvPr/>
        </p:nvSpPr>
        <p:spPr>
          <a:xfrm>
            <a:off x="10241280" y="1691640"/>
            <a:ext cx="1188720" cy="274320"/>
          </a:xfrm>
          <a:prstGeom prst="rect">
            <a:avLst/>
          </a:prstGeom>
          <a:noFill/>
          <a:ln/>
        </p:spPr>
        <p:txBody>
          <a:bodyPr wrap="square" lIns="0" tIns="0" rIns="0" bIns="0" rtlCol="0" anchor="t"/>
          <a:lstStyle/>
          <a:p>
            <a:pPr algn="r" indent="0" marL="0">
              <a:buNone/>
            </a:pPr>
            <a:r>
              <a:rPr lang="en-US" sz="1100" dirty="0">
                <a:solidFill>
                  <a:srgbClr val="A9BBD0"/>
                </a:solidFill>
                <a:latin typeface="Calibri" pitchFamily="34" charset="0"/>
                <a:ea typeface="Calibri" pitchFamily="34" charset="-122"/>
                <a:cs typeface="Calibri" pitchFamily="34" charset="-120"/>
              </a:rPr>
              <a:t>established</a:t>
            </a:r>
            <a:endParaRPr lang="en-US" sz="1100" dirty="0"/>
          </a:p>
        </p:txBody>
      </p:sp>
      <p:sp>
        <p:nvSpPr>
          <p:cNvPr id="15" name="Text 12"/>
          <p:cNvSpPr txBox="1"/>
          <p:nvPr/>
        </p:nvSpPr>
        <p:spPr>
          <a:xfrm>
            <a:off x="8321040" y="2194560"/>
            <a:ext cx="3063240" cy="1143000"/>
          </a:xfrm>
          <a:prstGeom prst="rect">
            <a:avLst/>
          </a:prstGeom>
          <a:noFill/>
          <a:ln/>
        </p:spPr>
        <p:txBody>
          <a:bodyPr wrap="square" lIns="0" tIns="0" rIns="0" bIns="0" rtlCol="0" anchor="t"/>
          <a:lstStyle/>
          <a:p>
            <a:pPr indent="0" marL="0">
              <a:buNone/>
            </a:pPr>
            <a:r>
              <a:rPr lang="en-US" sz="1500" dirty="0">
                <a:solidFill>
                  <a:srgbClr val="A9BBD0"/>
                </a:solidFill>
                <a:latin typeface="Calibri" pitchFamily="34" charset="0"/>
                <a:ea typeface="Calibri" pitchFamily="34" charset="-122"/>
                <a:cs typeface="Calibri" pitchFamily="34" charset="-120"/>
              </a:rPr>
              <a:t>Interactive terminal monitor with live resource usage and a tree view.</a:t>
            </a:r>
            <a:endParaRPr lang="en-US" sz="1500" dirty="0"/>
          </a:p>
        </p:txBody>
      </p:sp>
      <p:sp>
        <p:nvSpPr>
          <p:cNvPr id="16" name="Text 13"/>
          <p:cNvSpPr txBox="1"/>
          <p:nvPr/>
        </p:nvSpPr>
        <p:spPr>
          <a:xfrm>
            <a:off x="548640" y="3749040"/>
            <a:ext cx="7315200" cy="365760"/>
          </a:xfrm>
          <a:prstGeom prst="rect">
            <a:avLst/>
          </a:prstGeom>
          <a:noFill/>
          <a:ln/>
        </p:spPr>
        <p:txBody>
          <a:bodyPr wrap="square" lIns="0" tIns="0" rIns="0" bIns="0" rtlCol="0" anchor="t"/>
          <a:lstStyle/>
          <a:p>
            <a:pPr indent="0" marL="0">
              <a:buNone/>
            </a:pPr>
            <a:r>
              <a:rPr lang="en-US" sz="2000" b="1" dirty="0">
                <a:solidFill>
                  <a:srgbClr val="F1F6FB"/>
                </a:solidFill>
                <a:latin typeface="Calibri" pitchFamily="34" charset="0"/>
                <a:ea typeface="Calibri" pitchFamily="34" charset="-122"/>
                <a:cs typeface="Calibri" pitchFamily="34" charset="-120"/>
              </a:rPr>
              <a:t>How ProcScope complements them</a:t>
            </a:r>
            <a:endParaRPr lang="en-US" sz="2000" dirty="0"/>
          </a:p>
        </p:txBody>
      </p:sp>
      <p:sp>
        <p:nvSpPr>
          <p:cNvPr id="17" name="Shape 14"/>
          <p:cNvSpPr/>
          <p:nvPr/>
        </p:nvSpPr>
        <p:spPr>
          <a:xfrm>
            <a:off x="548640" y="4251960"/>
            <a:ext cx="2651760" cy="1097280"/>
          </a:xfrm>
          <a:prstGeom prst="roundRect">
            <a:avLst>
              <a:gd name="adj" fmla="val 6667"/>
            </a:avLst>
          </a:prstGeom>
          <a:solidFill>
            <a:srgbClr val="1A2E4D"/>
          </a:solidFill>
          <a:ln w="12700">
            <a:solidFill>
              <a:srgbClr val="0E7C86"/>
            </a:solidFill>
            <a:prstDash val="solid"/>
          </a:ln>
        </p:spPr>
      </p:sp>
      <p:sp>
        <p:nvSpPr>
          <p:cNvPr id="18" name="Text 15"/>
          <p:cNvSpPr txBox="1"/>
          <p:nvPr/>
        </p:nvSpPr>
        <p:spPr>
          <a:xfrm>
            <a:off x="731520" y="4251960"/>
            <a:ext cx="2286000" cy="1097280"/>
          </a:xfrm>
          <a:prstGeom prst="rect">
            <a:avLst/>
          </a:prstGeom>
          <a:noFill/>
          <a:ln/>
        </p:spPr>
        <p:txBody>
          <a:bodyPr wrap="square" lIns="0" tIns="0" rIns="0" bIns="0" rtlCol="0" anchor="ctr"/>
          <a:lstStyle/>
          <a:p>
            <a:pPr indent="0" marL="0">
              <a:buNone/>
            </a:pPr>
            <a:r>
              <a:rPr lang="en-US" sz="1600" b="1" dirty="0">
                <a:solidFill>
                  <a:srgbClr val="F1F6FB"/>
                </a:solidFill>
                <a:latin typeface="Calibri" pitchFamily="34" charset="0"/>
                <a:ea typeface="Calibri" pitchFamily="34" charset="-122"/>
                <a:cs typeface="Calibri" pitchFamily="34" charset="-120"/>
              </a:rPr>
              <a:t>Interactive hierarchy in the browser</a:t>
            </a:r>
            <a:endParaRPr lang="en-US" sz="1600" dirty="0"/>
          </a:p>
        </p:txBody>
      </p:sp>
      <p:sp>
        <p:nvSpPr>
          <p:cNvPr id="19" name="Shape 16"/>
          <p:cNvSpPr/>
          <p:nvPr/>
        </p:nvSpPr>
        <p:spPr>
          <a:xfrm>
            <a:off x="3355848" y="4251960"/>
            <a:ext cx="2651760" cy="1097280"/>
          </a:xfrm>
          <a:prstGeom prst="roundRect">
            <a:avLst>
              <a:gd name="adj" fmla="val 6667"/>
            </a:avLst>
          </a:prstGeom>
          <a:solidFill>
            <a:srgbClr val="1A2E4D"/>
          </a:solidFill>
          <a:ln w="12700">
            <a:solidFill>
              <a:srgbClr val="0E7C86"/>
            </a:solidFill>
            <a:prstDash val="solid"/>
          </a:ln>
        </p:spPr>
      </p:sp>
      <p:sp>
        <p:nvSpPr>
          <p:cNvPr id="20" name="Text 17"/>
          <p:cNvSpPr txBox="1"/>
          <p:nvPr/>
        </p:nvSpPr>
        <p:spPr>
          <a:xfrm>
            <a:off x="3538728" y="4251960"/>
            <a:ext cx="2286000" cy="1097280"/>
          </a:xfrm>
          <a:prstGeom prst="rect">
            <a:avLst/>
          </a:prstGeom>
          <a:noFill/>
          <a:ln/>
        </p:spPr>
        <p:txBody>
          <a:bodyPr wrap="square" lIns="0" tIns="0" rIns="0" bIns="0" rtlCol="0" anchor="ctr"/>
          <a:lstStyle/>
          <a:p>
            <a:pPr indent="0" marL="0">
              <a:buNone/>
            </a:pPr>
            <a:r>
              <a:rPr lang="en-US" sz="1600" b="1" dirty="0">
                <a:solidFill>
                  <a:srgbClr val="F1F6FB"/>
                </a:solidFill>
                <a:latin typeface="Calibri" pitchFamily="34" charset="0"/>
                <a:ea typeface="Calibri" pitchFamily="34" charset="-122"/>
                <a:cs typeface="Calibri" pitchFamily="34" charset="-120"/>
              </a:rPr>
              <a:t>Observed vs inferred labels</a:t>
            </a:r>
            <a:endParaRPr lang="en-US" sz="1600" dirty="0"/>
          </a:p>
        </p:txBody>
      </p:sp>
      <p:sp>
        <p:nvSpPr>
          <p:cNvPr id="21" name="Shape 18"/>
          <p:cNvSpPr/>
          <p:nvPr/>
        </p:nvSpPr>
        <p:spPr>
          <a:xfrm>
            <a:off x="6163056" y="4251960"/>
            <a:ext cx="2651760" cy="1097280"/>
          </a:xfrm>
          <a:prstGeom prst="roundRect">
            <a:avLst>
              <a:gd name="adj" fmla="val 6667"/>
            </a:avLst>
          </a:prstGeom>
          <a:solidFill>
            <a:srgbClr val="1A2E4D"/>
          </a:solidFill>
          <a:ln w="12700">
            <a:solidFill>
              <a:srgbClr val="0E7C86"/>
            </a:solidFill>
            <a:prstDash val="solid"/>
          </a:ln>
        </p:spPr>
      </p:sp>
      <p:sp>
        <p:nvSpPr>
          <p:cNvPr id="22" name="Text 19"/>
          <p:cNvSpPr txBox="1"/>
          <p:nvPr/>
        </p:nvSpPr>
        <p:spPr>
          <a:xfrm>
            <a:off x="6345936" y="4251960"/>
            <a:ext cx="2286000" cy="1097280"/>
          </a:xfrm>
          <a:prstGeom prst="rect">
            <a:avLst/>
          </a:prstGeom>
          <a:noFill/>
          <a:ln/>
        </p:spPr>
        <p:txBody>
          <a:bodyPr wrap="square" lIns="0" tIns="0" rIns="0" bIns="0" rtlCol="0" anchor="ctr"/>
          <a:lstStyle/>
          <a:p>
            <a:pPr indent="0" marL="0">
              <a:buNone/>
            </a:pPr>
            <a:r>
              <a:rPr lang="en-US" sz="1600" b="1" dirty="0">
                <a:solidFill>
                  <a:srgbClr val="F1F6FB"/>
                </a:solidFill>
                <a:latin typeface="Calibri" pitchFamily="34" charset="0"/>
                <a:ea typeface="Calibri" pitchFamily="34" charset="-122"/>
                <a:cs typeface="Calibri" pitchFamily="34" charset="-120"/>
              </a:rPr>
              <a:t>PID-reuse-aware identity</a:t>
            </a:r>
            <a:endParaRPr lang="en-US" sz="1600" dirty="0"/>
          </a:p>
        </p:txBody>
      </p:sp>
      <p:sp>
        <p:nvSpPr>
          <p:cNvPr id="23" name="Shape 20"/>
          <p:cNvSpPr/>
          <p:nvPr/>
        </p:nvSpPr>
        <p:spPr>
          <a:xfrm>
            <a:off x="8970264" y="4251960"/>
            <a:ext cx="2651760" cy="1097280"/>
          </a:xfrm>
          <a:prstGeom prst="roundRect">
            <a:avLst>
              <a:gd name="adj" fmla="val 6667"/>
            </a:avLst>
          </a:prstGeom>
          <a:solidFill>
            <a:srgbClr val="1A2E4D"/>
          </a:solidFill>
          <a:ln w="12700">
            <a:solidFill>
              <a:srgbClr val="0E7C86"/>
            </a:solidFill>
            <a:prstDash val="solid"/>
          </a:ln>
        </p:spPr>
      </p:sp>
      <p:sp>
        <p:nvSpPr>
          <p:cNvPr id="24" name="Text 21"/>
          <p:cNvSpPr txBox="1"/>
          <p:nvPr/>
        </p:nvSpPr>
        <p:spPr>
          <a:xfrm>
            <a:off x="9153144" y="4251960"/>
            <a:ext cx="2286000" cy="1097280"/>
          </a:xfrm>
          <a:prstGeom prst="rect">
            <a:avLst/>
          </a:prstGeom>
          <a:noFill/>
          <a:ln/>
        </p:spPr>
        <p:txBody>
          <a:bodyPr wrap="square" lIns="0" tIns="0" rIns="0" bIns="0" rtlCol="0" anchor="ctr"/>
          <a:lstStyle/>
          <a:p>
            <a:pPr indent="0" marL="0">
              <a:buNone/>
            </a:pPr>
            <a:r>
              <a:rPr lang="en-US" sz="1600" b="1" dirty="0">
                <a:solidFill>
                  <a:srgbClr val="F1F6FB"/>
                </a:solidFill>
                <a:latin typeface="Calibri" pitchFamily="34" charset="0"/>
                <a:ea typeface="Calibri" pitchFamily="34" charset="-122"/>
                <a:cs typeface="Calibri" pitchFamily="34" charset="-120"/>
              </a:rPr>
              <a:t>Self-verification and guided Lab</a:t>
            </a:r>
            <a:endParaRPr lang="en-US" sz="1600" dirty="0"/>
          </a:p>
        </p:txBody>
      </p:sp>
      <p:sp>
        <p:nvSpPr>
          <p:cNvPr id="25" name="Text 22"/>
          <p:cNvSpPr txBox="1"/>
          <p:nvPr/>
        </p:nvSpPr>
        <p:spPr>
          <a:xfrm>
            <a:off x="548640" y="5669280"/>
            <a:ext cx="10972800" cy="365760"/>
          </a:xfrm>
          <a:prstGeom prst="rect">
            <a:avLst/>
          </a:prstGeom>
          <a:noFill/>
          <a:ln/>
        </p:spPr>
        <p:txBody>
          <a:bodyPr wrap="square" lIns="0" tIns="0" rIns="0" bIns="0" rtlCol="0" anchor="t"/>
          <a:lstStyle/>
          <a:p>
            <a:pPr indent="0" marL="0">
              <a:buNone/>
            </a:pPr>
            <a:r>
              <a:rPr lang="en-US" sz="1500" i="1" dirty="0">
                <a:solidFill>
                  <a:srgbClr val="A9BBD0"/>
                </a:solidFill>
                <a:latin typeface="Calibri" pitchFamily="34" charset="0"/>
                <a:ea typeface="Calibri" pitchFamily="34" charset="-122"/>
                <a:cs typeface="Calibri" pitchFamily="34" charset="-120"/>
              </a:rPr>
              <a:t>Complements, not replaces: ps, pstree and htop remain the right tools for many tasks.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93A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rgbClr val="F1F6FB"/>
                </a:solidFill>
                <a:latin typeface="Calibri" pitchFamily="34" charset="0"/>
                <a:ea typeface="Calibri" pitchFamily="34" charset="-122"/>
                <a:cs typeface="Calibri" pitchFamily="34" charset="-120"/>
              </a:rPr>
              <a:t>System architecture</a:t>
            </a:r>
            <a:endParaRPr lang="en-US" sz="3400" dirty="0"/>
          </a:p>
        </p:txBody>
      </p:sp>
      <p:sp>
        <p:nvSpPr>
          <p:cNvPr id="4" name="Shape 1"/>
          <p:cNvSpPr/>
          <p:nvPr/>
        </p:nvSpPr>
        <p:spPr>
          <a:xfrm>
            <a:off x="548640" y="1417320"/>
            <a:ext cx="1920240" cy="1188720"/>
          </a:xfrm>
          <a:prstGeom prst="roundRect">
            <a:avLst>
              <a:gd name="adj" fmla="val 6154"/>
            </a:avLst>
          </a:prstGeom>
          <a:solidFill>
            <a:srgbClr val="1A2E4D"/>
          </a:solidFill>
          <a:ln w="12700">
            <a:solidFill>
              <a:srgbClr val="22D3C5"/>
            </a:solidFill>
            <a:prstDash val="solid"/>
          </a:ln>
        </p:spPr>
      </p:sp>
      <p:sp>
        <p:nvSpPr>
          <p:cNvPr id="5" name="Text 2"/>
          <p:cNvSpPr txBox="1"/>
          <p:nvPr/>
        </p:nvSpPr>
        <p:spPr>
          <a:xfrm>
            <a:off x="658368" y="1508760"/>
            <a:ext cx="1700784" cy="502920"/>
          </a:xfrm>
          <a:prstGeom prst="rect">
            <a:avLst/>
          </a:prstGeom>
          <a:noFill/>
          <a:ln/>
        </p:spPr>
        <p:txBody>
          <a:bodyPr wrap="square" lIns="0" tIns="0" rIns="0" bIns="0" rtlCol="0" anchor="ctr"/>
          <a:lstStyle/>
          <a:p>
            <a:pPr algn="ctr" indent="0" marL="0">
              <a:buNone/>
            </a:pPr>
            <a:r>
              <a:rPr lang="en-US" sz="1500" b="1" dirty="0">
                <a:solidFill>
                  <a:srgbClr val="F1F6FB"/>
                </a:solidFill>
                <a:latin typeface="Calibri" pitchFamily="34" charset="0"/>
                <a:ea typeface="Calibri" pitchFamily="34" charset="-122"/>
                <a:cs typeface="Calibri" pitchFamily="34" charset="-120"/>
              </a:rPr>
              <a:t>Linux /proc</a:t>
            </a:r>
            <a:endParaRPr lang="en-US" sz="1500" dirty="0"/>
          </a:p>
        </p:txBody>
      </p:sp>
      <p:sp>
        <p:nvSpPr>
          <p:cNvPr id="6" name="Text 3"/>
          <p:cNvSpPr txBox="1"/>
          <p:nvPr/>
        </p:nvSpPr>
        <p:spPr>
          <a:xfrm>
            <a:off x="658368" y="2011680"/>
            <a:ext cx="1700784" cy="548640"/>
          </a:xfrm>
          <a:prstGeom prst="rect">
            <a:avLst/>
          </a:prstGeom>
          <a:noFill/>
          <a:ln/>
        </p:spPr>
        <p:txBody>
          <a:bodyPr wrap="square" lIns="0" tIns="0" rIns="0" bIns="0" rtlCol="0" anchor="t"/>
          <a:lstStyle/>
          <a:p>
            <a:pPr algn="ctr" indent="0" marL="0">
              <a:buNone/>
            </a:pPr>
            <a:r>
              <a:rPr lang="en-US" sz="1200" dirty="0">
                <a:solidFill>
                  <a:srgbClr val="A9BBD0"/>
                </a:solidFill>
                <a:latin typeface="Calibri" pitchFamily="34" charset="0"/>
                <a:ea typeface="Calibri" pitchFamily="34" charset="-122"/>
                <a:cs typeface="Calibri" pitchFamily="34" charset="-120"/>
              </a:rPr>
              <a:t>virtual filesystem</a:t>
            </a:r>
            <a:endParaRPr lang="en-US" sz="1200" dirty="0"/>
          </a:p>
        </p:txBody>
      </p:sp>
      <p:sp>
        <p:nvSpPr>
          <p:cNvPr id="7" name="Shape 4"/>
          <p:cNvSpPr/>
          <p:nvPr/>
        </p:nvSpPr>
        <p:spPr>
          <a:xfrm>
            <a:off x="2468880" y="2011680"/>
            <a:ext cx="365760" cy="0"/>
          </a:xfrm>
          <a:prstGeom prst="line">
            <a:avLst/>
          </a:prstGeom>
          <a:noFill/>
          <a:ln w="22225">
            <a:solidFill>
              <a:srgbClr val="22D3C5"/>
            </a:solidFill>
            <a:prstDash val="solid"/>
            <a:tailEnd type="triangle"/>
          </a:ln>
        </p:spPr>
      </p:sp>
      <p:sp>
        <p:nvSpPr>
          <p:cNvPr id="8" name="Shape 5"/>
          <p:cNvSpPr/>
          <p:nvPr/>
        </p:nvSpPr>
        <p:spPr>
          <a:xfrm>
            <a:off x="2834640" y="1417320"/>
            <a:ext cx="1920240" cy="1188720"/>
          </a:xfrm>
          <a:prstGeom prst="roundRect">
            <a:avLst>
              <a:gd name="adj" fmla="val 6154"/>
            </a:avLst>
          </a:prstGeom>
          <a:solidFill>
            <a:srgbClr val="13233D"/>
          </a:solidFill>
          <a:ln w="12700">
            <a:solidFill>
              <a:srgbClr val="2A4468"/>
            </a:solidFill>
            <a:prstDash val="solid"/>
          </a:ln>
        </p:spPr>
      </p:sp>
      <p:sp>
        <p:nvSpPr>
          <p:cNvPr id="9" name="Text 6"/>
          <p:cNvSpPr txBox="1"/>
          <p:nvPr/>
        </p:nvSpPr>
        <p:spPr>
          <a:xfrm>
            <a:off x="2944368" y="1508760"/>
            <a:ext cx="1700784" cy="502920"/>
          </a:xfrm>
          <a:prstGeom prst="rect">
            <a:avLst/>
          </a:prstGeom>
          <a:noFill/>
          <a:ln/>
        </p:spPr>
        <p:txBody>
          <a:bodyPr wrap="square" lIns="0" tIns="0" rIns="0" bIns="0" rtlCol="0" anchor="ctr"/>
          <a:lstStyle/>
          <a:p>
            <a:pPr algn="ctr" indent="0" marL="0">
              <a:buNone/>
            </a:pPr>
            <a:r>
              <a:rPr lang="en-US" sz="1500" b="1" dirty="0">
                <a:solidFill>
                  <a:srgbClr val="F1F6FB"/>
                </a:solidFill>
                <a:latin typeface="Calibri" pitchFamily="34" charset="0"/>
                <a:ea typeface="Calibri" pitchFamily="34" charset="-122"/>
                <a:cs typeface="Calibri" pitchFamily="34" charset="-120"/>
              </a:rPr>
              <a:t>Python collector</a:t>
            </a:r>
            <a:endParaRPr lang="en-US" sz="1500" dirty="0"/>
          </a:p>
        </p:txBody>
      </p:sp>
      <p:sp>
        <p:nvSpPr>
          <p:cNvPr id="10" name="Text 7"/>
          <p:cNvSpPr txBox="1"/>
          <p:nvPr/>
        </p:nvSpPr>
        <p:spPr>
          <a:xfrm>
            <a:off x="2944368" y="2011680"/>
            <a:ext cx="1700784" cy="548640"/>
          </a:xfrm>
          <a:prstGeom prst="rect">
            <a:avLst/>
          </a:prstGeom>
          <a:noFill/>
          <a:ln/>
        </p:spPr>
        <p:txBody>
          <a:bodyPr wrap="square" lIns="0" tIns="0" rIns="0" bIns="0" rtlCol="0" anchor="t"/>
          <a:lstStyle/>
          <a:p>
            <a:pPr algn="ctr" indent="0" marL="0">
              <a:buNone/>
            </a:pPr>
            <a:r>
              <a:rPr lang="en-US" sz="1200" dirty="0">
                <a:solidFill>
                  <a:srgbClr val="A9BBD0"/>
                </a:solidFill>
                <a:latin typeface="Calibri" pitchFamily="34" charset="0"/>
                <a:ea typeface="Calibri" pitchFamily="34" charset="-122"/>
                <a:cs typeface="Calibri" pitchFamily="34" charset="-120"/>
              </a:rPr>
              <a:t>proc_collector.py</a:t>
            </a:r>
            <a:endParaRPr lang="en-US" sz="1200" dirty="0"/>
          </a:p>
        </p:txBody>
      </p:sp>
      <p:sp>
        <p:nvSpPr>
          <p:cNvPr id="11" name="Shape 8"/>
          <p:cNvSpPr/>
          <p:nvPr/>
        </p:nvSpPr>
        <p:spPr>
          <a:xfrm>
            <a:off x="4754880" y="2011680"/>
            <a:ext cx="365760" cy="0"/>
          </a:xfrm>
          <a:prstGeom prst="line">
            <a:avLst/>
          </a:prstGeom>
          <a:noFill/>
          <a:ln w="22225">
            <a:solidFill>
              <a:srgbClr val="22D3C5"/>
            </a:solidFill>
            <a:prstDash val="solid"/>
            <a:tailEnd type="triangle"/>
          </a:ln>
        </p:spPr>
      </p:sp>
      <p:sp>
        <p:nvSpPr>
          <p:cNvPr id="12" name="Shape 9"/>
          <p:cNvSpPr/>
          <p:nvPr/>
        </p:nvSpPr>
        <p:spPr>
          <a:xfrm>
            <a:off x="5120640" y="1417320"/>
            <a:ext cx="1920240" cy="1188720"/>
          </a:xfrm>
          <a:prstGeom prst="roundRect">
            <a:avLst>
              <a:gd name="adj" fmla="val 6154"/>
            </a:avLst>
          </a:prstGeom>
          <a:solidFill>
            <a:srgbClr val="13233D"/>
          </a:solidFill>
          <a:ln w="12700">
            <a:solidFill>
              <a:srgbClr val="2A4468"/>
            </a:solidFill>
            <a:prstDash val="solid"/>
          </a:ln>
        </p:spPr>
      </p:sp>
      <p:sp>
        <p:nvSpPr>
          <p:cNvPr id="13" name="Text 10"/>
          <p:cNvSpPr txBox="1"/>
          <p:nvPr/>
        </p:nvSpPr>
        <p:spPr>
          <a:xfrm>
            <a:off x="5230368" y="1508760"/>
            <a:ext cx="1700784" cy="502920"/>
          </a:xfrm>
          <a:prstGeom prst="rect">
            <a:avLst/>
          </a:prstGeom>
          <a:noFill/>
          <a:ln/>
        </p:spPr>
        <p:txBody>
          <a:bodyPr wrap="square" lIns="0" tIns="0" rIns="0" bIns="0" rtlCol="0" anchor="ctr"/>
          <a:lstStyle/>
          <a:p>
            <a:pPr algn="ctr" indent="0" marL="0">
              <a:buNone/>
            </a:pPr>
            <a:r>
              <a:rPr lang="en-US" sz="1500" b="1" dirty="0">
                <a:solidFill>
                  <a:srgbClr val="F1F6FB"/>
                </a:solidFill>
                <a:latin typeface="Calibri" pitchFamily="34" charset="0"/>
                <a:ea typeface="Calibri" pitchFamily="34" charset="-122"/>
                <a:cs typeface="Calibri" pitchFamily="34" charset="-120"/>
              </a:rPr>
              <a:t>Identity + hierarchy</a:t>
            </a:r>
            <a:endParaRPr lang="en-US" sz="1500" dirty="0"/>
          </a:p>
        </p:txBody>
      </p:sp>
      <p:sp>
        <p:nvSpPr>
          <p:cNvPr id="14" name="Text 11"/>
          <p:cNvSpPr txBox="1"/>
          <p:nvPr/>
        </p:nvSpPr>
        <p:spPr>
          <a:xfrm>
            <a:off x="5230368" y="2011680"/>
            <a:ext cx="1700784" cy="548640"/>
          </a:xfrm>
          <a:prstGeom prst="rect">
            <a:avLst/>
          </a:prstGeom>
          <a:noFill/>
          <a:ln/>
        </p:spPr>
        <p:txBody>
          <a:bodyPr wrap="square" lIns="0" tIns="0" rIns="0" bIns="0" rtlCol="0" anchor="t"/>
          <a:lstStyle/>
          <a:p>
            <a:pPr algn="ctr" indent="0" marL="0">
              <a:buNone/>
            </a:pPr>
            <a:r>
              <a:rPr lang="en-US" sz="1200" dirty="0">
                <a:solidFill>
                  <a:srgbClr val="A9BBD0"/>
                </a:solidFill>
                <a:latin typeface="Calibri" pitchFamily="34" charset="0"/>
                <a:ea typeface="Calibri" pitchFamily="34" charset="-122"/>
                <a:cs typeface="Calibri" pitchFamily="34" charset="-120"/>
              </a:rPr>
              <a:t>boot ID, PID, start time; children map</a:t>
            </a:r>
            <a:endParaRPr lang="en-US" sz="1200" dirty="0"/>
          </a:p>
        </p:txBody>
      </p:sp>
      <p:sp>
        <p:nvSpPr>
          <p:cNvPr id="15" name="Shape 12"/>
          <p:cNvSpPr/>
          <p:nvPr/>
        </p:nvSpPr>
        <p:spPr>
          <a:xfrm>
            <a:off x="7040880" y="2011680"/>
            <a:ext cx="365760" cy="0"/>
          </a:xfrm>
          <a:prstGeom prst="line">
            <a:avLst/>
          </a:prstGeom>
          <a:noFill/>
          <a:ln w="22225">
            <a:solidFill>
              <a:srgbClr val="22D3C5"/>
            </a:solidFill>
            <a:prstDash val="solid"/>
            <a:tailEnd type="triangle"/>
          </a:ln>
        </p:spPr>
      </p:sp>
      <p:sp>
        <p:nvSpPr>
          <p:cNvPr id="16" name="Shape 13"/>
          <p:cNvSpPr/>
          <p:nvPr/>
        </p:nvSpPr>
        <p:spPr>
          <a:xfrm>
            <a:off x="7406640" y="1417320"/>
            <a:ext cx="1920240" cy="1188720"/>
          </a:xfrm>
          <a:prstGeom prst="roundRect">
            <a:avLst>
              <a:gd name="adj" fmla="val 6154"/>
            </a:avLst>
          </a:prstGeom>
          <a:solidFill>
            <a:srgbClr val="13233D"/>
          </a:solidFill>
          <a:ln w="12700">
            <a:solidFill>
              <a:srgbClr val="2A4468"/>
            </a:solidFill>
            <a:prstDash val="solid"/>
          </a:ln>
        </p:spPr>
      </p:sp>
      <p:sp>
        <p:nvSpPr>
          <p:cNvPr id="17" name="Text 14"/>
          <p:cNvSpPr txBox="1"/>
          <p:nvPr/>
        </p:nvSpPr>
        <p:spPr>
          <a:xfrm>
            <a:off x="7516368" y="1508760"/>
            <a:ext cx="1700784" cy="502920"/>
          </a:xfrm>
          <a:prstGeom prst="rect">
            <a:avLst/>
          </a:prstGeom>
          <a:noFill/>
          <a:ln/>
        </p:spPr>
        <p:txBody>
          <a:bodyPr wrap="square" lIns="0" tIns="0" rIns="0" bIns="0" rtlCol="0" anchor="ctr"/>
          <a:lstStyle/>
          <a:p>
            <a:pPr algn="ctr" indent="0" marL="0">
              <a:buNone/>
            </a:pPr>
            <a:r>
              <a:rPr lang="en-US" sz="1500" b="1" dirty="0">
                <a:solidFill>
                  <a:srgbClr val="F1F6FB"/>
                </a:solidFill>
                <a:latin typeface="Calibri" pitchFamily="34" charset="0"/>
                <a:ea typeface="Calibri" pitchFamily="34" charset="-122"/>
                <a:cs typeface="Calibri" pitchFamily="34" charset="-120"/>
              </a:rPr>
              <a:t>Local Python server</a:t>
            </a:r>
            <a:endParaRPr lang="en-US" sz="1500" dirty="0"/>
          </a:p>
        </p:txBody>
      </p:sp>
      <p:sp>
        <p:nvSpPr>
          <p:cNvPr id="18" name="Text 15"/>
          <p:cNvSpPr txBox="1"/>
          <p:nvPr/>
        </p:nvSpPr>
        <p:spPr>
          <a:xfrm>
            <a:off x="7516368" y="2011680"/>
            <a:ext cx="1700784" cy="548640"/>
          </a:xfrm>
          <a:prstGeom prst="rect">
            <a:avLst/>
          </a:prstGeom>
          <a:noFill/>
          <a:ln/>
        </p:spPr>
        <p:txBody>
          <a:bodyPr wrap="square" lIns="0" tIns="0" rIns="0" bIns="0" rtlCol="0" anchor="t"/>
          <a:lstStyle/>
          <a:p>
            <a:pPr algn="ctr" indent="0" marL="0">
              <a:buNone/>
            </a:pPr>
            <a:r>
              <a:rPr lang="en-US" sz="1200" dirty="0">
                <a:solidFill>
                  <a:srgbClr val="A9BBD0"/>
                </a:solidFill>
                <a:latin typeface="Calibri" pitchFamily="34" charset="0"/>
                <a:ea typeface="Calibri" pitchFamily="34" charset="-122"/>
                <a:cs typeface="Calibri" pitchFamily="34" charset="-120"/>
              </a:rPr>
              <a:t>server.py · 127.0.0.1:8765</a:t>
            </a:r>
            <a:endParaRPr lang="en-US" sz="1200" dirty="0"/>
          </a:p>
        </p:txBody>
      </p:sp>
      <p:sp>
        <p:nvSpPr>
          <p:cNvPr id="19" name="Shape 16"/>
          <p:cNvSpPr/>
          <p:nvPr/>
        </p:nvSpPr>
        <p:spPr>
          <a:xfrm>
            <a:off x="9326880" y="2011680"/>
            <a:ext cx="365760" cy="0"/>
          </a:xfrm>
          <a:prstGeom prst="line">
            <a:avLst/>
          </a:prstGeom>
          <a:noFill/>
          <a:ln w="22225">
            <a:solidFill>
              <a:srgbClr val="22D3C5"/>
            </a:solidFill>
            <a:prstDash val="solid"/>
            <a:tailEnd type="triangle"/>
          </a:ln>
        </p:spPr>
      </p:sp>
      <p:sp>
        <p:nvSpPr>
          <p:cNvPr id="20" name="Shape 17"/>
          <p:cNvSpPr/>
          <p:nvPr/>
        </p:nvSpPr>
        <p:spPr>
          <a:xfrm>
            <a:off x="9692640" y="1417320"/>
            <a:ext cx="1920240" cy="1188720"/>
          </a:xfrm>
          <a:prstGeom prst="roundRect">
            <a:avLst>
              <a:gd name="adj" fmla="val 6154"/>
            </a:avLst>
          </a:prstGeom>
          <a:solidFill>
            <a:srgbClr val="13233D"/>
          </a:solidFill>
          <a:ln w="12700">
            <a:solidFill>
              <a:srgbClr val="2A4468"/>
            </a:solidFill>
            <a:prstDash val="solid"/>
          </a:ln>
        </p:spPr>
      </p:sp>
      <p:sp>
        <p:nvSpPr>
          <p:cNvPr id="21" name="Text 18"/>
          <p:cNvSpPr txBox="1"/>
          <p:nvPr/>
        </p:nvSpPr>
        <p:spPr>
          <a:xfrm>
            <a:off x="9802368" y="1508760"/>
            <a:ext cx="1700784" cy="502920"/>
          </a:xfrm>
          <a:prstGeom prst="rect">
            <a:avLst/>
          </a:prstGeom>
          <a:noFill/>
          <a:ln/>
        </p:spPr>
        <p:txBody>
          <a:bodyPr wrap="square" lIns="0" tIns="0" rIns="0" bIns="0" rtlCol="0" anchor="ctr"/>
          <a:lstStyle/>
          <a:p>
            <a:pPr algn="ctr" indent="0" marL="0">
              <a:buNone/>
            </a:pPr>
            <a:r>
              <a:rPr lang="en-US" sz="1500" b="1" dirty="0">
                <a:solidFill>
                  <a:srgbClr val="F1F6FB"/>
                </a:solidFill>
                <a:latin typeface="Calibri" pitchFamily="34" charset="0"/>
                <a:ea typeface="Calibri" pitchFamily="34" charset="-122"/>
                <a:cs typeface="Calibri" pitchFamily="34" charset="-120"/>
              </a:rPr>
              <a:t>HTML / CSS / JS</a:t>
            </a:r>
            <a:endParaRPr lang="en-US" sz="1500" dirty="0"/>
          </a:p>
        </p:txBody>
      </p:sp>
      <p:sp>
        <p:nvSpPr>
          <p:cNvPr id="22" name="Text 19"/>
          <p:cNvSpPr txBox="1"/>
          <p:nvPr/>
        </p:nvSpPr>
        <p:spPr>
          <a:xfrm>
            <a:off x="9802368" y="2011680"/>
            <a:ext cx="1700784" cy="548640"/>
          </a:xfrm>
          <a:prstGeom prst="rect">
            <a:avLst/>
          </a:prstGeom>
          <a:noFill/>
          <a:ln/>
        </p:spPr>
        <p:txBody>
          <a:bodyPr wrap="square" lIns="0" tIns="0" rIns="0" bIns="0" rtlCol="0" anchor="t"/>
          <a:lstStyle/>
          <a:p>
            <a:pPr algn="ctr" indent="0" marL="0">
              <a:buNone/>
            </a:pPr>
            <a:r>
              <a:rPr lang="en-US" sz="1200" dirty="0">
                <a:solidFill>
                  <a:srgbClr val="A9BBD0"/>
                </a:solidFill>
                <a:latin typeface="Calibri" pitchFamily="34" charset="0"/>
                <a:ea typeface="Calibri" pitchFamily="34" charset="-122"/>
                <a:cs typeface="Calibri" pitchFamily="34" charset="-120"/>
              </a:rPr>
              <a:t>browser interface</a:t>
            </a:r>
            <a:endParaRPr lang="en-US" sz="1200" dirty="0"/>
          </a:p>
        </p:txBody>
      </p:sp>
      <p:sp>
        <p:nvSpPr>
          <p:cNvPr id="23" name="Text 20"/>
          <p:cNvSpPr txBox="1"/>
          <p:nvPr/>
        </p:nvSpPr>
        <p:spPr>
          <a:xfrm>
            <a:off x="548640" y="1097280"/>
            <a:ext cx="3657600" cy="274320"/>
          </a:xfrm>
          <a:prstGeom prst="rect">
            <a:avLst/>
          </a:prstGeom>
          <a:noFill/>
          <a:ln/>
        </p:spPr>
        <p:txBody>
          <a:bodyPr wrap="square" lIns="0" tIns="0" rIns="0" bIns="0" rtlCol="0" anchor="t"/>
          <a:lstStyle/>
          <a:p>
            <a:pPr indent="0" marL="0">
              <a:buNone/>
            </a:pPr>
            <a:r>
              <a:rPr lang="en-US" sz="1100" b="1" spc="200" kern="0" dirty="0">
                <a:solidFill>
                  <a:srgbClr val="22D3C5"/>
                </a:solidFill>
                <a:latin typeface="Calibri" pitchFamily="34" charset="0"/>
                <a:ea typeface="Calibri" pitchFamily="34" charset="-122"/>
                <a:cs typeface="Calibri" pitchFamily="34" charset="-120"/>
              </a:rPr>
              <a:t>CORE EXPLORER PATH</a:t>
            </a:r>
            <a:endParaRPr lang="en-US" sz="1100" dirty="0"/>
          </a:p>
        </p:txBody>
      </p:sp>
      <p:sp>
        <p:nvSpPr>
          <p:cNvPr id="24" name="Shape 21"/>
          <p:cNvSpPr/>
          <p:nvPr/>
        </p:nvSpPr>
        <p:spPr>
          <a:xfrm>
            <a:off x="548640" y="3611880"/>
            <a:ext cx="2377440" cy="1188720"/>
          </a:xfrm>
          <a:prstGeom prst="roundRect">
            <a:avLst>
              <a:gd name="adj" fmla="val 6154"/>
            </a:avLst>
          </a:prstGeom>
          <a:solidFill>
            <a:srgbClr val="13233D"/>
          </a:solidFill>
          <a:ln w="12700">
            <a:solidFill>
              <a:srgbClr val="F5B94A"/>
            </a:solidFill>
            <a:prstDash val="dash"/>
          </a:ln>
        </p:spPr>
      </p:sp>
      <p:sp>
        <p:nvSpPr>
          <p:cNvPr id="25" name="Text 22"/>
          <p:cNvSpPr txBox="1"/>
          <p:nvPr/>
        </p:nvSpPr>
        <p:spPr>
          <a:xfrm>
            <a:off x="640080" y="3675888"/>
            <a:ext cx="2194560" cy="457200"/>
          </a:xfrm>
          <a:prstGeom prst="rect">
            <a:avLst/>
          </a:prstGeom>
          <a:noFill/>
          <a:ln/>
        </p:spPr>
        <p:txBody>
          <a:bodyPr wrap="square" lIns="0" tIns="0" rIns="0" bIns="0" rtlCol="0" anchor="ctr"/>
          <a:lstStyle/>
          <a:p>
            <a:pPr algn="ctr" indent="0" marL="0">
              <a:buNone/>
            </a:pPr>
            <a:r>
              <a:rPr lang="en-US" sz="1500" b="1" dirty="0">
                <a:solidFill>
                  <a:srgbClr val="F1F6FB"/>
                </a:solidFill>
                <a:latin typeface="Calibri" pitchFamily="34" charset="0"/>
                <a:ea typeface="Calibri" pitchFamily="34" charset="-122"/>
                <a:cs typeface="Calibri" pitchFamily="34" charset="-120"/>
              </a:rPr>
              <a:t>Optional event collector</a:t>
            </a:r>
            <a:endParaRPr lang="en-US" sz="1500" dirty="0"/>
          </a:p>
        </p:txBody>
      </p:sp>
      <p:sp>
        <p:nvSpPr>
          <p:cNvPr id="26" name="Text 23"/>
          <p:cNvSpPr txBox="1"/>
          <p:nvPr/>
        </p:nvSpPr>
        <p:spPr>
          <a:xfrm>
            <a:off x="640080" y="4133088"/>
            <a:ext cx="2194560" cy="640080"/>
          </a:xfrm>
          <a:prstGeom prst="rect">
            <a:avLst/>
          </a:prstGeom>
          <a:noFill/>
          <a:ln/>
        </p:spPr>
        <p:txBody>
          <a:bodyPr wrap="square" lIns="0" tIns="0" rIns="0" bIns="0" rtlCol="0" anchor="t"/>
          <a:lstStyle/>
          <a:p>
            <a:pPr algn="ctr" indent="0" marL="0">
              <a:buNone/>
            </a:pPr>
            <a:r>
              <a:rPr lang="en-US" sz="1200" dirty="0">
                <a:solidFill>
                  <a:srgbClr val="A9BBD0"/>
                </a:solidFill>
                <a:latin typeface="Calibri" pitchFamily="34" charset="0"/>
                <a:ea typeface="Calibri" pitchFamily="34" charset="-122"/>
                <a:cs typeface="Calibri" pitchFamily="34" charset="-120"/>
              </a:rPr>
              <a:t>Kernel CN_PROC events, if supported and permitted</a:t>
            </a:r>
            <a:endParaRPr lang="en-US" sz="1200" dirty="0"/>
          </a:p>
        </p:txBody>
      </p:sp>
      <p:sp>
        <p:nvSpPr>
          <p:cNvPr id="27" name="Shape 24"/>
          <p:cNvSpPr/>
          <p:nvPr/>
        </p:nvSpPr>
        <p:spPr>
          <a:xfrm>
            <a:off x="5120640" y="3611880"/>
            <a:ext cx="1920240" cy="1188720"/>
          </a:xfrm>
          <a:prstGeom prst="roundRect">
            <a:avLst>
              <a:gd name="adj" fmla="val 6154"/>
            </a:avLst>
          </a:prstGeom>
          <a:solidFill>
            <a:srgbClr val="13233D"/>
          </a:solidFill>
          <a:ln w="12700">
            <a:solidFill>
              <a:srgbClr val="2A4468"/>
            </a:solidFill>
            <a:prstDash val="solid"/>
          </a:ln>
        </p:spPr>
      </p:sp>
      <p:sp>
        <p:nvSpPr>
          <p:cNvPr id="28" name="Text 25"/>
          <p:cNvSpPr txBox="1"/>
          <p:nvPr/>
        </p:nvSpPr>
        <p:spPr>
          <a:xfrm>
            <a:off x="5212080" y="3675888"/>
            <a:ext cx="1737360" cy="457200"/>
          </a:xfrm>
          <a:prstGeom prst="rect">
            <a:avLst/>
          </a:prstGeom>
          <a:noFill/>
          <a:ln/>
        </p:spPr>
        <p:txBody>
          <a:bodyPr wrap="square" lIns="0" tIns="0" rIns="0" bIns="0" rtlCol="0" anchor="ctr"/>
          <a:lstStyle/>
          <a:p>
            <a:pPr algn="ctr" indent="0" marL="0">
              <a:buNone/>
            </a:pPr>
            <a:r>
              <a:rPr lang="en-US" sz="1500" b="1" dirty="0">
                <a:solidFill>
                  <a:srgbClr val="F1F6FB"/>
                </a:solidFill>
                <a:latin typeface="Calibri" pitchFamily="34" charset="0"/>
                <a:ea typeface="Calibri" pitchFamily="34" charset="-122"/>
                <a:cs typeface="Calibri" pitchFamily="34" charset="-120"/>
              </a:rPr>
              <a:t>Timeline tracker</a:t>
            </a:r>
            <a:endParaRPr lang="en-US" sz="1500" dirty="0"/>
          </a:p>
        </p:txBody>
      </p:sp>
      <p:sp>
        <p:nvSpPr>
          <p:cNvPr id="29" name="Text 26"/>
          <p:cNvSpPr txBox="1"/>
          <p:nvPr/>
        </p:nvSpPr>
        <p:spPr>
          <a:xfrm>
            <a:off x="5212080" y="4133088"/>
            <a:ext cx="1737360" cy="640080"/>
          </a:xfrm>
          <a:prstGeom prst="rect">
            <a:avLst/>
          </a:prstGeom>
          <a:noFill/>
          <a:ln/>
        </p:spPr>
        <p:txBody>
          <a:bodyPr wrap="square" lIns="0" tIns="0" rIns="0" bIns="0" rtlCol="0" anchor="t"/>
          <a:lstStyle/>
          <a:p>
            <a:pPr algn="ctr" indent="0" marL="0">
              <a:buNone/>
            </a:pPr>
            <a:r>
              <a:rPr lang="en-US" sz="1200" dirty="0">
                <a:solidFill>
                  <a:srgbClr val="A9BBD0"/>
                </a:solidFill>
                <a:latin typeface="Calibri" pitchFamily="34" charset="0"/>
                <a:ea typeface="Calibri" pitchFamily="34" charset="-122"/>
                <a:cs typeface="Calibri" pitchFamily="34" charset="-120"/>
              </a:rPr>
              <a:t>timeline_tracker.py compares snapshots</a:t>
            </a:r>
            <a:endParaRPr lang="en-US" sz="1200" dirty="0"/>
          </a:p>
        </p:txBody>
      </p:sp>
      <p:sp>
        <p:nvSpPr>
          <p:cNvPr id="30" name="Shape 27"/>
          <p:cNvSpPr/>
          <p:nvPr/>
        </p:nvSpPr>
        <p:spPr>
          <a:xfrm>
            <a:off x="9692640" y="3611880"/>
            <a:ext cx="1920240" cy="1188720"/>
          </a:xfrm>
          <a:prstGeom prst="roundRect">
            <a:avLst>
              <a:gd name="adj" fmla="val 6154"/>
            </a:avLst>
          </a:prstGeom>
          <a:solidFill>
            <a:srgbClr val="1A2E4D"/>
          </a:solidFill>
          <a:ln w="12700">
            <a:solidFill>
              <a:srgbClr val="0E7C86"/>
            </a:solidFill>
            <a:prstDash val="solid"/>
          </a:ln>
        </p:spPr>
      </p:sp>
      <p:sp>
        <p:nvSpPr>
          <p:cNvPr id="31" name="Text 28"/>
          <p:cNvSpPr txBox="1"/>
          <p:nvPr/>
        </p:nvSpPr>
        <p:spPr>
          <a:xfrm>
            <a:off x="9784080" y="3675888"/>
            <a:ext cx="1737360" cy="457200"/>
          </a:xfrm>
          <a:prstGeom prst="rect">
            <a:avLst/>
          </a:prstGeom>
          <a:noFill/>
          <a:ln/>
        </p:spPr>
        <p:txBody>
          <a:bodyPr wrap="square" lIns="0" tIns="0" rIns="0" bIns="0" rtlCol="0" anchor="ctr"/>
          <a:lstStyle/>
          <a:p>
            <a:pPr algn="ctr" indent="0" marL="0">
              <a:buNone/>
            </a:pPr>
            <a:r>
              <a:rPr lang="en-US" sz="1500" b="1" dirty="0">
                <a:solidFill>
                  <a:srgbClr val="F1F6FB"/>
                </a:solidFill>
                <a:latin typeface="Calibri" pitchFamily="34" charset="0"/>
                <a:ea typeface="Calibri" pitchFamily="34" charset="-122"/>
                <a:cs typeface="Calibri" pitchFamily="34" charset="-120"/>
              </a:rPr>
              <a:t>C Process Lab</a:t>
            </a:r>
            <a:endParaRPr lang="en-US" sz="1500" dirty="0"/>
          </a:p>
        </p:txBody>
      </p:sp>
      <p:sp>
        <p:nvSpPr>
          <p:cNvPr id="32" name="Text 29"/>
          <p:cNvSpPr txBox="1"/>
          <p:nvPr/>
        </p:nvSpPr>
        <p:spPr>
          <a:xfrm>
            <a:off x="9784080" y="4133088"/>
            <a:ext cx="1737360" cy="640080"/>
          </a:xfrm>
          <a:prstGeom prst="rect">
            <a:avLst/>
          </a:prstGeom>
          <a:noFill/>
          <a:ln/>
        </p:spPr>
        <p:txBody>
          <a:bodyPr wrap="square" lIns="0" tIns="0" rIns="0" bIns="0" rtlCol="0" anchor="t"/>
          <a:lstStyle/>
          <a:p>
            <a:pPr algn="ctr" indent="0" marL="0">
              <a:buNone/>
            </a:pPr>
            <a:r>
              <a:rPr lang="en-US" sz="1200" dirty="0">
                <a:solidFill>
                  <a:srgbClr val="A9BBD0"/>
                </a:solidFill>
                <a:latin typeface="Calibri" pitchFamily="34" charset="0"/>
                <a:ea typeface="Calibri" pitchFamily="34" charset="-122"/>
                <a:cs typeface="Calibri" pitchFamily="34" charset="-120"/>
              </a:rPr>
              <a:t>lab_manager.py + 5 C experiments</a:t>
            </a:r>
            <a:endParaRPr lang="en-US" sz="1200" dirty="0"/>
          </a:p>
        </p:txBody>
      </p:sp>
      <p:sp>
        <p:nvSpPr>
          <p:cNvPr id="33" name="Shape 30"/>
          <p:cNvSpPr/>
          <p:nvPr/>
        </p:nvSpPr>
        <p:spPr>
          <a:xfrm>
            <a:off x="6080760" y="2606040"/>
            <a:ext cx="0" cy="1005840"/>
          </a:xfrm>
          <a:prstGeom prst="line">
            <a:avLst/>
          </a:prstGeom>
          <a:noFill/>
          <a:ln w="22225">
            <a:solidFill>
              <a:srgbClr val="22D3C5"/>
            </a:solidFill>
            <a:prstDash val="solid"/>
            <a:tailEnd type="triangle"/>
          </a:ln>
        </p:spPr>
      </p:sp>
      <p:sp>
        <p:nvSpPr>
          <p:cNvPr id="34" name="Shape 31"/>
          <p:cNvSpPr/>
          <p:nvPr/>
        </p:nvSpPr>
        <p:spPr>
          <a:xfrm>
            <a:off x="2926080" y="4206240"/>
            <a:ext cx="2194560" cy="0"/>
          </a:xfrm>
          <a:prstGeom prst="line">
            <a:avLst/>
          </a:prstGeom>
          <a:noFill/>
          <a:ln w="22225">
            <a:solidFill>
              <a:srgbClr val="F5B94A"/>
            </a:solidFill>
            <a:prstDash val="dash"/>
            <a:tailEnd type="triangle"/>
          </a:ln>
        </p:spPr>
      </p:sp>
      <p:sp>
        <p:nvSpPr>
          <p:cNvPr id="35" name="Shape 32"/>
          <p:cNvSpPr/>
          <p:nvPr/>
        </p:nvSpPr>
        <p:spPr>
          <a:xfrm>
            <a:off x="7040880" y="4206240"/>
            <a:ext cx="1325880" cy="0"/>
          </a:xfrm>
          <a:prstGeom prst="line">
            <a:avLst/>
          </a:prstGeom>
          <a:noFill/>
          <a:ln w="22225">
            <a:solidFill>
              <a:srgbClr val="22D3C5"/>
            </a:solidFill>
            <a:prstDash val="solid"/>
          </a:ln>
        </p:spPr>
      </p:sp>
      <p:sp>
        <p:nvSpPr>
          <p:cNvPr id="36" name="Shape 33"/>
          <p:cNvSpPr/>
          <p:nvPr/>
        </p:nvSpPr>
        <p:spPr>
          <a:xfrm flipV="1">
            <a:off x="8366760" y="2606040"/>
            <a:ext cx="0" cy="1600200"/>
          </a:xfrm>
          <a:prstGeom prst="line">
            <a:avLst/>
          </a:prstGeom>
          <a:noFill/>
          <a:ln w="22225">
            <a:solidFill>
              <a:srgbClr val="22D3C5"/>
            </a:solidFill>
            <a:prstDash val="solid"/>
            <a:tailEnd type="triangle"/>
          </a:ln>
        </p:spPr>
      </p:sp>
      <p:sp>
        <p:nvSpPr>
          <p:cNvPr id="37" name="Shape 34"/>
          <p:cNvSpPr/>
          <p:nvPr/>
        </p:nvSpPr>
        <p:spPr>
          <a:xfrm>
            <a:off x="9052560" y="2606040"/>
            <a:ext cx="0" cy="1600200"/>
          </a:xfrm>
          <a:prstGeom prst="line">
            <a:avLst/>
          </a:prstGeom>
          <a:noFill/>
          <a:ln w="22225">
            <a:solidFill>
              <a:srgbClr val="0E7C86"/>
            </a:solidFill>
            <a:prstDash val="dash"/>
          </a:ln>
        </p:spPr>
      </p:sp>
      <p:sp>
        <p:nvSpPr>
          <p:cNvPr id="38" name="Shape 35"/>
          <p:cNvSpPr/>
          <p:nvPr/>
        </p:nvSpPr>
        <p:spPr>
          <a:xfrm>
            <a:off x="9052560" y="4206240"/>
            <a:ext cx="640080" cy="0"/>
          </a:xfrm>
          <a:prstGeom prst="line">
            <a:avLst/>
          </a:prstGeom>
          <a:noFill/>
          <a:ln w="22225">
            <a:solidFill>
              <a:srgbClr val="0E7C86"/>
            </a:solidFill>
            <a:prstDash val="dash"/>
            <a:tailEnd type="triangle"/>
          </a:ln>
        </p:spPr>
      </p:sp>
      <p:sp>
        <p:nvSpPr>
          <p:cNvPr id="39" name="Text 36"/>
          <p:cNvSpPr txBox="1"/>
          <p:nvPr/>
        </p:nvSpPr>
        <p:spPr>
          <a:xfrm>
            <a:off x="9098280" y="3886200"/>
            <a:ext cx="548640" cy="274320"/>
          </a:xfrm>
          <a:prstGeom prst="rect">
            <a:avLst/>
          </a:prstGeom>
          <a:noFill/>
          <a:ln/>
        </p:spPr>
        <p:txBody>
          <a:bodyPr wrap="square" lIns="0" tIns="0" rIns="0" bIns="0" rtlCol="0" anchor="t"/>
          <a:lstStyle/>
          <a:p>
            <a:pPr indent="0" marL="0">
              <a:buNone/>
            </a:pPr>
            <a:r>
              <a:rPr lang="en-US" sz="1100" dirty="0">
                <a:solidFill>
                  <a:srgbClr val="A9BBD0"/>
                </a:solidFill>
                <a:latin typeface="Calibri" pitchFamily="34" charset="0"/>
                <a:ea typeface="Calibri" pitchFamily="34" charset="-122"/>
                <a:cs typeface="Calibri" pitchFamily="34" charset="-120"/>
              </a:rPr>
              <a:t>starts</a:t>
            </a:r>
            <a:endParaRPr lang="en-US" sz="1100" dirty="0"/>
          </a:p>
        </p:txBody>
      </p:sp>
      <p:sp>
        <p:nvSpPr>
          <p:cNvPr id="40" name="Text 37"/>
          <p:cNvSpPr txBox="1"/>
          <p:nvPr/>
        </p:nvSpPr>
        <p:spPr>
          <a:xfrm>
            <a:off x="6172200" y="2971800"/>
            <a:ext cx="1097280" cy="274320"/>
          </a:xfrm>
          <a:prstGeom prst="rect">
            <a:avLst/>
          </a:prstGeom>
          <a:noFill/>
          <a:ln/>
        </p:spPr>
        <p:txBody>
          <a:bodyPr wrap="square" lIns="0" tIns="0" rIns="0" bIns="0" rtlCol="0" anchor="t"/>
          <a:lstStyle/>
          <a:p>
            <a:pPr indent="0" marL="0">
              <a:buNone/>
            </a:pPr>
            <a:r>
              <a:rPr lang="en-US" sz="1100" dirty="0">
                <a:solidFill>
                  <a:srgbClr val="A9BBD0"/>
                </a:solidFill>
                <a:latin typeface="Calibri" pitchFamily="34" charset="0"/>
                <a:ea typeface="Calibri" pitchFamily="34" charset="-122"/>
                <a:cs typeface="Calibri" pitchFamily="34" charset="-120"/>
              </a:rPr>
              <a:t>snapshots</a:t>
            </a:r>
            <a:endParaRPr lang="en-US" sz="1100" dirty="0"/>
          </a:p>
        </p:txBody>
      </p:sp>
      <p:sp>
        <p:nvSpPr>
          <p:cNvPr id="41" name="Shape 38"/>
          <p:cNvSpPr/>
          <p:nvPr/>
        </p:nvSpPr>
        <p:spPr>
          <a:xfrm>
            <a:off x="548640" y="5166360"/>
            <a:ext cx="11064240" cy="868680"/>
          </a:xfrm>
          <a:prstGeom prst="roundRect">
            <a:avLst>
              <a:gd name="adj" fmla="val 8421"/>
            </a:avLst>
          </a:prstGeom>
          <a:solidFill>
            <a:srgbClr val="0A101D"/>
          </a:solidFill>
          <a:ln w="12700">
            <a:solidFill>
              <a:srgbClr val="0E7C86"/>
            </a:solidFill>
            <a:prstDash val="solid"/>
          </a:ln>
        </p:spPr>
      </p:sp>
      <p:sp>
        <p:nvSpPr>
          <p:cNvPr id="42" name="Text 39"/>
          <p:cNvSpPr txBox="1"/>
          <p:nvPr/>
        </p:nvSpPr>
        <p:spPr>
          <a:xfrm>
            <a:off x="777240" y="5166360"/>
            <a:ext cx="10607040" cy="868680"/>
          </a:xfrm>
          <a:prstGeom prst="rect">
            <a:avLst/>
          </a:prstGeom>
          <a:noFill/>
          <a:ln/>
        </p:spPr>
        <p:txBody>
          <a:bodyPr wrap="square" lIns="0" tIns="0" rIns="0" bIns="0" rtlCol="0" anchor="ctr"/>
          <a:lstStyle/>
          <a:p>
            <a:pPr indent="0" marL="0">
              <a:buNone/>
            </a:pPr>
            <a:r>
              <a:rPr lang="en-US" sz="1500" b="1" dirty="0">
                <a:solidFill>
                  <a:srgbClr val="22D3C5"/>
                </a:solidFill>
                <a:latin typeface="Calibri" pitchFamily="34" charset="0"/>
                <a:ea typeface="Calibri" pitchFamily="34" charset="-122"/>
                <a:cs typeface="Calibri" pitchFamily="34" charset="-120"/>
              </a:rPr>
              <a:t>Independence: </a:t>
            </a:r>
            <a:pPr indent="0" marL="0">
              <a:buNone/>
            </a:pPr>
            <a:r>
              <a:rPr lang="en-US" sz="1500" dirty="0">
                <a:solidFill>
                  <a:srgbClr val="F1F6FB"/>
                </a:solidFill>
                <a:latin typeface="Calibri" pitchFamily="34" charset="0"/>
                <a:ea typeface="Calibri" pitchFamily="34" charset="-122"/>
                <a:cs typeface="Calibri" pitchFamily="34" charset="-120"/>
              </a:rPr>
              <a:t>the snapshot-based Explorer works without the Lab and without optional event collection. Lab processes simply appear in /proc like any other process.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93A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rgbClr val="F1F6FB"/>
                </a:solidFill>
                <a:latin typeface="Calibri" pitchFamily="34" charset="0"/>
                <a:ea typeface="Calibri" pitchFamily="34" charset="-122"/>
                <a:cs typeface="Calibri" pitchFamily="34" charset="-120"/>
              </a:rPr>
              <a:t>Process tree visualization</a:t>
            </a:r>
            <a:endParaRPr lang="en-US" sz="3400" dirty="0"/>
          </a:p>
        </p:txBody>
      </p:sp>
      <p:sp>
        <p:nvSpPr>
          <p:cNvPr id="4" name="Shape 1"/>
          <p:cNvSpPr/>
          <p:nvPr/>
        </p:nvSpPr>
        <p:spPr>
          <a:xfrm>
            <a:off x="548640" y="1371600"/>
            <a:ext cx="7498080" cy="4663440"/>
          </a:xfrm>
          <a:prstGeom prst="roundRect">
            <a:avLst>
              <a:gd name="adj" fmla="val 1569"/>
            </a:avLst>
          </a:prstGeom>
          <a:solidFill>
            <a:srgbClr val="0A101D"/>
          </a:solidFill>
          <a:ln w="12700">
            <a:solidFill>
              <a:srgbClr val="2A4468"/>
            </a:solidFill>
            <a:prstDash val="solid"/>
          </a:ln>
        </p:spPr>
      </p:sp>
      <p:sp>
        <p:nvSpPr>
          <p:cNvPr id="5" name="Text 2"/>
          <p:cNvSpPr txBox="1"/>
          <p:nvPr/>
        </p:nvSpPr>
        <p:spPr>
          <a:xfrm>
            <a:off x="777240" y="1481328"/>
            <a:ext cx="7040880" cy="274320"/>
          </a:xfrm>
          <a:prstGeom prst="rect">
            <a:avLst/>
          </a:prstGeom>
          <a:noFill/>
          <a:ln/>
        </p:spPr>
        <p:txBody>
          <a:bodyPr wrap="square" lIns="0" tIns="0" rIns="0" bIns="0" rtlCol="0" anchor="t"/>
          <a:lstStyle/>
          <a:p>
            <a:pPr indent="0" marL="0">
              <a:buNone/>
            </a:pPr>
            <a:r>
              <a:rPr lang="en-US" sz="1200" b="1" dirty="0">
                <a:solidFill>
                  <a:srgbClr val="F5B94A"/>
                </a:solidFill>
                <a:latin typeface="Calibri" pitchFamily="34" charset="0"/>
                <a:ea typeface="Calibri" pitchFamily="34" charset="-122"/>
                <a:cs typeface="Calibri" pitchFamily="34" charset="-120"/>
              </a:rPr>
              <a:t>CONCEPTUAL MOCKUP · illustrative PIDs · not a screenshot</a:t>
            </a:r>
            <a:endParaRPr lang="en-US" sz="1200" dirty="0"/>
          </a:p>
        </p:txBody>
      </p:sp>
      <p:sp>
        <p:nvSpPr>
          <p:cNvPr id="6" name="Shape 3"/>
          <p:cNvSpPr/>
          <p:nvPr/>
        </p:nvSpPr>
        <p:spPr>
          <a:xfrm>
            <a:off x="4297680" y="2788920"/>
            <a:ext cx="0" cy="160020"/>
          </a:xfrm>
          <a:prstGeom prst="line">
            <a:avLst/>
          </a:prstGeom>
          <a:noFill/>
          <a:ln w="22225">
            <a:solidFill>
              <a:srgbClr val="22D3C5"/>
            </a:solidFill>
            <a:prstDash val="solid"/>
          </a:ln>
        </p:spPr>
      </p:sp>
      <p:sp>
        <p:nvSpPr>
          <p:cNvPr id="7" name="Shape 4"/>
          <p:cNvSpPr/>
          <p:nvPr/>
        </p:nvSpPr>
        <p:spPr>
          <a:xfrm>
            <a:off x="2468880" y="2948940"/>
            <a:ext cx="1828800" cy="0"/>
          </a:xfrm>
          <a:prstGeom prst="line">
            <a:avLst/>
          </a:prstGeom>
          <a:noFill/>
          <a:ln w="22225">
            <a:solidFill>
              <a:srgbClr val="22D3C5"/>
            </a:solidFill>
            <a:prstDash val="solid"/>
          </a:ln>
        </p:spPr>
      </p:sp>
      <p:sp>
        <p:nvSpPr>
          <p:cNvPr id="8" name="Shape 5"/>
          <p:cNvSpPr/>
          <p:nvPr/>
        </p:nvSpPr>
        <p:spPr>
          <a:xfrm>
            <a:off x="2468880" y="2948940"/>
            <a:ext cx="0" cy="160020"/>
          </a:xfrm>
          <a:prstGeom prst="line">
            <a:avLst/>
          </a:prstGeom>
          <a:noFill/>
          <a:ln w="22225">
            <a:solidFill>
              <a:srgbClr val="22D3C5"/>
            </a:solidFill>
            <a:prstDash val="solid"/>
          </a:ln>
        </p:spPr>
      </p:sp>
      <p:sp>
        <p:nvSpPr>
          <p:cNvPr id="9" name="Shape 6"/>
          <p:cNvSpPr/>
          <p:nvPr/>
        </p:nvSpPr>
        <p:spPr>
          <a:xfrm>
            <a:off x="4297680" y="2788920"/>
            <a:ext cx="0" cy="160020"/>
          </a:xfrm>
          <a:prstGeom prst="line">
            <a:avLst/>
          </a:prstGeom>
          <a:noFill/>
          <a:ln w="22225">
            <a:solidFill>
              <a:srgbClr val="3A5578"/>
            </a:solidFill>
            <a:prstDash val="solid"/>
          </a:ln>
        </p:spPr>
      </p:sp>
      <p:sp>
        <p:nvSpPr>
          <p:cNvPr id="10" name="Shape 7"/>
          <p:cNvSpPr/>
          <p:nvPr/>
        </p:nvSpPr>
        <p:spPr>
          <a:xfrm>
            <a:off x="4297680" y="2948940"/>
            <a:ext cx="1828800" cy="0"/>
          </a:xfrm>
          <a:prstGeom prst="line">
            <a:avLst/>
          </a:prstGeom>
          <a:noFill/>
          <a:ln w="22225">
            <a:solidFill>
              <a:srgbClr val="3A5578"/>
            </a:solidFill>
            <a:prstDash val="solid"/>
          </a:ln>
        </p:spPr>
      </p:sp>
      <p:sp>
        <p:nvSpPr>
          <p:cNvPr id="11" name="Shape 8"/>
          <p:cNvSpPr/>
          <p:nvPr/>
        </p:nvSpPr>
        <p:spPr>
          <a:xfrm>
            <a:off x="6126480" y="2948940"/>
            <a:ext cx="0" cy="160020"/>
          </a:xfrm>
          <a:prstGeom prst="line">
            <a:avLst/>
          </a:prstGeom>
          <a:noFill/>
          <a:ln w="22225">
            <a:solidFill>
              <a:srgbClr val="3A5578"/>
            </a:solidFill>
            <a:prstDash val="solid"/>
          </a:ln>
        </p:spPr>
      </p:sp>
      <p:sp>
        <p:nvSpPr>
          <p:cNvPr id="12" name="Shape 9"/>
          <p:cNvSpPr/>
          <p:nvPr/>
        </p:nvSpPr>
        <p:spPr>
          <a:xfrm>
            <a:off x="2468880" y="3840480"/>
            <a:ext cx="0" cy="160020"/>
          </a:xfrm>
          <a:prstGeom prst="line">
            <a:avLst/>
          </a:prstGeom>
          <a:noFill/>
          <a:ln w="22225">
            <a:solidFill>
              <a:srgbClr val="22D3C5"/>
            </a:solidFill>
            <a:prstDash val="solid"/>
          </a:ln>
        </p:spPr>
      </p:sp>
      <p:sp>
        <p:nvSpPr>
          <p:cNvPr id="13" name="Shape 10"/>
          <p:cNvSpPr/>
          <p:nvPr/>
        </p:nvSpPr>
        <p:spPr>
          <a:xfrm>
            <a:off x="2468880" y="4000500"/>
            <a:ext cx="0" cy="0"/>
          </a:xfrm>
          <a:prstGeom prst="line">
            <a:avLst/>
          </a:prstGeom>
          <a:noFill/>
          <a:ln w="22225">
            <a:solidFill>
              <a:srgbClr val="22D3C5"/>
            </a:solidFill>
            <a:prstDash val="solid"/>
          </a:ln>
        </p:spPr>
      </p:sp>
      <p:sp>
        <p:nvSpPr>
          <p:cNvPr id="14" name="Shape 11"/>
          <p:cNvSpPr/>
          <p:nvPr/>
        </p:nvSpPr>
        <p:spPr>
          <a:xfrm>
            <a:off x="2468880" y="4000500"/>
            <a:ext cx="0" cy="160020"/>
          </a:xfrm>
          <a:prstGeom prst="line">
            <a:avLst/>
          </a:prstGeom>
          <a:noFill/>
          <a:ln w="22225">
            <a:solidFill>
              <a:srgbClr val="22D3C5"/>
            </a:solidFill>
            <a:prstDash val="solid"/>
          </a:ln>
        </p:spPr>
      </p:sp>
      <p:sp>
        <p:nvSpPr>
          <p:cNvPr id="15" name="Shape 12"/>
          <p:cNvSpPr/>
          <p:nvPr/>
        </p:nvSpPr>
        <p:spPr>
          <a:xfrm>
            <a:off x="2468880" y="4892040"/>
            <a:ext cx="0" cy="160020"/>
          </a:xfrm>
          <a:prstGeom prst="line">
            <a:avLst/>
          </a:prstGeom>
          <a:noFill/>
          <a:ln w="22225">
            <a:solidFill>
              <a:srgbClr val="22D3C5"/>
            </a:solidFill>
            <a:prstDash val="solid"/>
          </a:ln>
        </p:spPr>
      </p:sp>
      <p:sp>
        <p:nvSpPr>
          <p:cNvPr id="16" name="Shape 13"/>
          <p:cNvSpPr/>
          <p:nvPr/>
        </p:nvSpPr>
        <p:spPr>
          <a:xfrm>
            <a:off x="1325880" y="5052060"/>
            <a:ext cx="1143000" cy="0"/>
          </a:xfrm>
          <a:prstGeom prst="line">
            <a:avLst/>
          </a:prstGeom>
          <a:noFill/>
          <a:ln w="22225">
            <a:solidFill>
              <a:srgbClr val="22D3C5"/>
            </a:solidFill>
            <a:prstDash val="solid"/>
          </a:ln>
        </p:spPr>
      </p:sp>
      <p:sp>
        <p:nvSpPr>
          <p:cNvPr id="17" name="Shape 14"/>
          <p:cNvSpPr/>
          <p:nvPr/>
        </p:nvSpPr>
        <p:spPr>
          <a:xfrm>
            <a:off x="1325880" y="5052060"/>
            <a:ext cx="0" cy="160020"/>
          </a:xfrm>
          <a:prstGeom prst="line">
            <a:avLst/>
          </a:prstGeom>
          <a:noFill/>
          <a:ln w="22225">
            <a:solidFill>
              <a:srgbClr val="22D3C5"/>
            </a:solidFill>
            <a:prstDash val="solid"/>
          </a:ln>
        </p:spPr>
      </p:sp>
      <p:sp>
        <p:nvSpPr>
          <p:cNvPr id="18" name="Shape 15"/>
          <p:cNvSpPr/>
          <p:nvPr/>
        </p:nvSpPr>
        <p:spPr>
          <a:xfrm>
            <a:off x="2468880" y="4892040"/>
            <a:ext cx="0" cy="160020"/>
          </a:xfrm>
          <a:prstGeom prst="line">
            <a:avLst/>
          </a:prstGeom>
          <a:noFill/>
          <a:ln w="22225">
            <a:solidFill>
              <a:srgbClr val="22D3C5"/>
            </a:solidFill>
            <a:prstDash val="solid"/>
          </a:ln>
        </p:spPr>
      </p:sp>
      <p:sp>
        <p:nvSpPr>
          <p:cNvPr id="19" name="Shape 16"/>
          <p:cNvSpPr/>
          <p:nvPr/>
        </p:nvSpPr>
        <p:spPr>
          <a:xfrm>
            <a:off x="2468880" y="5052060"/>
            <a:ext cx="1143000" cy="0"/>
          </a:xfrm>
          <a:prstGeom prst="line">
            <a:avLst/>
          </a:prstGeom>
          <a:noFill/>
          <a:ln w="22225">
            <a:solidFill>
              <a:srgbClr val="22D3C5"/>
            </a:solidFill>
            <a:prstDash val="solid"/>
          </a:ln>
        </p:spPr>
      </p:sp>
      <p:sp>
        <p:nvSpPr>
          <p:cNvPr id="20" name="Shape 17"/>
          <p:cNvSpPr/>
          <p:nvPr/>
        </p:nvSpPr>
        <p:spPr>
          <a:xfrm>
            <a:off x="3611880" y="5052060"/>
            <a:ext cx="0" cy="160020"/>
          </a:xfrm>
          <a:prstGeom prst="line">
            <a:avLst/>
          </a:prstGeom>
          <a:noFill/>
          <a:ln w="22225">
            <a:solidFill>
              <a:srgbClr val="22D3C5"/>
            </a:solidFill>
            <a:prstDash val="solid"/>
          </a:ln>
        </p:spPr>
      </p:sp>
      <p:sp>
        <p:nvSpPr>
          <p:cNvPr id="21" name="Shape 18"/>
          <p:cNvSpPr/>
          <p:nvPr/>
        </p:nvSpPr>
        <p:spPr>
          <a:xfrm>
            <a:off x="3291840" y="2057400"/>
            <a:ext cx="2011680" cy="731520"/>
          </a:xfrm>
          <a:prstGeom prst="roundRect">
            <a:avLst>
              <a:gd name="adj" fmla="val 10000"/>
            </a:avLst>
          </a:prstGeom>
          <a:solidFill>
            <a:srgbClr val="1A2E4D"/>
          </a:solidFill>
          <a:ln w="15875">
            <a:solidFill>
              <a:srgbClr val="22D3C5"/>
            </a:solidFill>
            <a:prstDash val="solid"/>
          </a:ln>
        </p:spPr>
      </p:sp>
      <p:sp>
        <p:nvSpPr>
          <p:cNvPr id="22" name="Text 19"/>
          <p:cNvSpPr txBox="1"/>
          <p:nvPr/>
        </p:nvSpPr>
        <p:spPr>
          <a:xfrm>
            <a:off x="3364992" y="2130552"/>
            <a:ext cx="1865376" cy="310896"/>
          </a:xfrm>
          <a:prstGeom prst="rect">
            <a:avLst/>
          </a:prstGeom>
          <a:noFill/>
          <a:ln/>
        </p:spPr>
        <p:txBody>
          <a:bodyPr wrap="square" lIns="0" tIns="0" rIns="0" bIns="0" rtlCol="0" anchor="ctr"/>
          <a:lstStyle/>
          <a:p>
            <a:pPr algn="ctr" indent="0" marL="0">
              <a:buNone/>
            </a:pPr>
            <a:r>
              <a:rPr lang="en-US" sz="1400" b="1" dirty="0">
                <a:solidFill>
                  <a:srgbClr val="F1F6FB"/>
                </a:solidFill>
                <a:latin typeface="Calibri" pitchFamily="34" charset="0"/>
                <a:ea typeface="Calibri" pitchFamily="34" charset="-122"/>
                <a:cs typeface="Calibri" pitchFamily="34" charset="-120"/>
              </a:rPr>
              <a:t>systemd</a:t>
            </a:r>
            <a:endParaRPr lang="en-US" sz="1400" dirty="0"/>
          </a:p>
        </p:txBody>
      </p:sp>
      <p:sp>
        <p:nvSpPr>
          <p:cNvPr id="23" name="Text 20"/>
          <p:cNvSpPr txBox="1"/>
          <p:nvPr/>
        </p:nvSpPr>
        <p:spPr>
          <a:xfrm>
            <a:off x="3364992" y="2459736"/>
            <a:ext cx="1865376" cy="256032"/>
          </a:xfrm>
          <a:prstGeom prst="rect">
            <a:avLst/>
          </a:prstGeom>
          <a:noFill/>
          <a:ln/>
        </p:spPr>
        <p:txBody>
          <a:bodyPr wrap="square" lIns="0" tIns="0" rIns="0" bIns="0" rtlCol="0" anchor="ctr"/>
          <a:lstStyle/>
          <a:p>
            <a:pPr algn="ctr" indent="0" marL="0">
              <a:buNone/>
            </a:pPr>
            <a:r>
              <a:rPr lang="en-US" sz="1200" dirty="0">
                <a:solidFill>
                  <a:srgbClr val="A9BBD0"/>
                </a:solidFill>
                <a:latin typeface="Courier New" pitchFamily="34" charset="0"/>
                <a:ea typeface="Courier New" pitchFamily="34" charset="-122"/>
                <a:cs typeface="Courier New" pitchFamily="34" charset="-120"/>
              </a:rPr>
              <a:t>PID 1 · PPID 0</a:t>
            </a:r>
            <a:endParaRPr lang="en-US" sz="1200" dirty="0"/>
          </a:p>
        </p:txBody>
      </p:sp>
      <p:sp>
        <p:nvSpPr>
          <p:cNvPr id="24" name="Shape 21"/>
          <p:cNvSpPr/>
          <p:nvPr/>
        </p:nvSpPr>
        <p:spPr>
          <a:xfrm>
            <a:off x="1463040" y="3108960"/>
            <a:ext cx="2011680" cy="731520"/>
          </a:xfrm>
          <a:prstGeom prst="roundRect">
            <a:avLst>
              <a:gd name="adj" fmla="val 10000"/>
            </a:avLst>
          </a:prstGeom>
          <a:solidFill>
            <a:srgbClr val="1A2E4D"/>
          </a:solidFill>
          <a:ln w="15875">
            <a:solidFill>
              <a:srgbClr val="22D3C5"/>
            </a:solidFill>
            <a:prstDash val="solid"/>
          </a:ln>
        </p:spPr>
      </p:sp>
      <p:sp>
        <p:nvSpPr>
          <p:cNvPr id="25" name="Text 22"/>
          <p:cNvSpPr txBox="1"/>
          <p:nvPr/>
        </p:nvSpPr>
        <p:spPr>
          <a:xfrm>
            <a:off x="1536192" y="3182112"/>
            <a:ext cx="1865376" cy="310896"/>
          </a:xfrm>
          <a:prstGeom prst="rect">
            <a:avLst/>
          </a:prstGeom>
          <a:noFill/>
          <a:ln/>
        </p:spPr>
        <p:txBody>
          <a:bodyPr wrap="square" lIns="0" tIns="0" rIns="0" bIns="0" rtlCol="0" anchor="ctr"/>
          <a:lstStyle/>
          <a:p>
            <a:pPr algn="ctr" indent="0" marL="0">
              <a:buNone/>
            </a:pPr>
            <a:r>
              <a:rPr lang="en-US" sz="1400" b="1" dirty="0">
                <a:solidFill>
                  <a:srgbClr val="F1F6FB"/>
                </a:solidFill>
                <a:latin typeface="Calibri" pitchFamily="34" charset="0"/>
                <a:ea typeface="Calibri" pitchFamily="34" charset="-122"/>
                <a:cs typeface="Calibri" pitchFamily="34" charset="-120"/>
              </a:rPr>
              <a:t>bash</a:t>
            </a:r>
            <a:endParaRPr lang="en-US" sz="1400" dirty="0"/>
          </a:p>
        </p:txBody>
      </p:sp>
      <p:sp>
        <p:nvSpPr>
          <p:cNvPr id="26" name="Text 23"/>
          <p:cNvSpPr txBox="1"/>
          <p:nvPr/>
        </p:nvSpPr>
        <p:spPr>
          <a:xfrm>
            <a:off x="1536192" y="3511296"/>
            <a:ext cx="1865376" cy="256032"/>
          </a:xfrm>
          <a:prstGeom prst="rect">
            <a:avLst/>
          </a:prstGeom>
          <a:noFill/>
          <a:ln/>
        </p:spPr>
        <p:txBody>
          <a:bodyPr wrap="square" lIns="0" tIns="0" rIns="0" bIns="0" rtlCol="0" anchor="ctr"/>
          <a:lstStyle/>
          <a:p>
            <a:pPr algn="ctr" indent="0" marL="0">
              <a:buNone/>
            </a:pPr>
            <a:r>
              <a:rPr lang="en-US" sz="1200" dirty="0">
                <a:solidFill>
                  <a:srgbClr val="A9BBD0"/>
                </a:solidFill>
                <a:latin typeface="Courier New" pitchFamily="34" charset="0"/>
                <a:ea typeface="Courier New" pitchFamily="34" charset="-122"/>
                <a:cs typeface="Courier New" pitchFamily="34" charset="-120"/>
              </a:rPr>
              <a:t>PID 2210 · PPID 1</a:t>
            </a:r>
            <a:endParaRPr lang="en-US" sz="1200" dirty="0"/>
          </a:p>
        </p:txBody>
      </p:sp>
      <p:sp>
        <p:nvSpPr>
          <p:cNvPr id="27" name="Shape 24"/>
          <p:cNvSpPr/>
          <p:nvPr/>
        </p:nvSpPr>
        <p:spPr>
          <a:xfrm>
            <a:off x="5120640" y="3108960"/>
            <a:ext cx="2011680" cy="731520"/>
          </a:xfrm>
          <a:prstGeom prst="roundRect">
            <a:avLst>
              <a:gd name="adj" fmla="val 10000"/>
            </a:avLst>
          </a:prstGeom>
          <a:solidFill>
            <a:srgbClr val="1A2E4D"/>
          </a:solidFill>
          <a:ln w="15875">
            <a:solidFill>
              <a:srgbClr val="2A4468"/>
            </a:solidFill>
            <a:prstDash val="solid"/>
          </a:ln>
        </p:spPr>
      </p:sp>
      <p:sp>
        <p:nvSpPr>
          <p:cNvPr id="28" name="Text 25"/>
          <p:cNvSpPr txBox="1"/>
          <p:nvPr/>
        </p:nvSpPr>
        <p:spPr>
          <a:xfrm>
            <a:off x="5193792" y="3182112"/>
            <a:ext cx="1865376" cy="310896"/>
          </a:xfrm>
          <a:prstGeom prst="rect">
            <a:avLst/>
          </a:prstGeom>
          <a:noFill/>
          <a:ln/>
        </p:spPr>
        <p:txBody>
          <a:bodyPr wrap="square" lIns="0" tIns="0" rIns="0" bIns="0" rtlCol="0" anchor="ctr"/>
          <a:lstStyle/>
          <a:p>
            <a:pPr algn="ctr" indent="0" marL="0">
              <a:buNone/>
            </a:pPr>
            <a:r>
              <a:rPr lang="en-US" sz="1400" b="1" dirty="0">
                <a:solidFill>
                  <a:srgbClr val="F1F6FB"/>
                </a:solidFill>
                <a:latin typeface="Calibri" pitchFamily="34" charset="0"/>
                <a:ea typeface="Calibri" pitchFamily="34" charset="-122"/>
                <a:cs typeface="Calibri" pitchFamily="34" charset="-120"/>
              </a:rPr>
              <a:t>python3 server.py</a:t>
            </a:r>
            <a:endParaRPr lang="en-US" sz="1400" dirty="0"/>
          </a:p>
        </p:txBody>
      </p:sp>
      <p:sp>
        <p:nvSpPr>
          <p:cNvPr id="29" name="Text 26"/>
          <p:cNvSpPr txBox="1"/>
          <p:nvPr/>
        </p:nvSpPr>
        <p:spPr>
          <a:xfrm>
            <a:off x="5193792" y="3511296"/>
            <a:ext cx="1865376" cy="256032"/>
          </a:xfrm>
          <a:prstGeom prst="rect">
            <a:avLst/>
          </a:prstGeom>
          <a:noFill/>
          <a:ln/>
        </p:spPr>
        <p:txBody>
          <a:bodyPr wrap="square" lIns="0" tIns="0" rIns="0" bIns="0" rtlCol="0" anchor="ctr"/>
          <a:lstStyle/>
          <a:p>
            <a:pPr algn="ctr" indent="0" marL="0">
              <a:buNone/>
            </a:pPr>
            <a:r>
              <a:rPr lang="en-US" sz="1200" dirty="0">
                <a:solidFill>
                  <a:srgbClr val="A9BBD0"/>
                </a:solidFill>
                <a:latin typeface="Courier New" pitchFamily="34" charset="0"/>
                <a:ea typeface="Courier New" pitchFamily="34" charset="-122"/>
                <a:cs typeface="Courier New" pitchFamily="34" charset="-120"/>
              </a:rPr>
              <a:t>PID 2301 · PPID 1</a:t>
            </a:r>
            <a:endParaRPr lang="en-US" sz="1200" dirty="0"/>
          </a:p>
        </p:txBody>
      </p:sp>
      <p:sp>
        <p:nvSpPr>
          <p:cNvPr id="30" name="Shape 27"/>
          <p:cNvSpPr/>
          <p:nvPr/>
        </p:nvSpPr>
        <p:spPr>
          <a:xfrm>
            <a:off x="1463040" y="4160520"/>
            <a:ext cx="2011680" cy="731520"/>
          </a:xfrm>
          <a:prstGeom prst="roundRect">
            <a:avLst>
              <a:gd name="adj" fmla="val 10000"/>
            </a:avLst>
          </a:prstGeom>
          <a:solidFill>
            <a:srgbClr val="0E7C86"/>
          </a:solidFill>
          <a:ln w="28575">
            <a:solidFill>
              <a:srgbClr val="22D3C5"/>
            </a:solidFill>
            <a:prstDash val="solid"/>
          </a:ln>
        </p:spPr>
      </p:sp>
      <p:sp>
        <p:nvSpPr>
          <p:cNvPr id="31" name="Text 28"/>
          <p:cNvSpPr txBox="1"/>
          <p:nvPr/>
        </p:nvSpPr>
        <p:spPr>
          <a:xfrm>
            <a:off x="1536192" y="4233672"/>
            <a:ext cx="1865376" cy="310896"/>
          </a:xfrm>
          <a:prstGeom prst="rect">
            <a:avLst/>
          </a:prstGeom>
          <a:noFill/>
          <a:ln/>
        </p:spPr>
        <p:txBody>
          <a:bodyPr wrap="square" lIns="0" tIns="0" rIns="0" bIns="0" rtlCol="0" anchor="ctr"/>
          <a:lstStyle/>
          <a:p>
            <a:pPr algn="ctr" indent="0" marL="0">
              <a:buNone/>
            </a:pPr>
            <a:r>
              <a:rPr lang="en-US" sz="1400" b="1" dirty="0">
                <a:solidFill>
                  <a:srgbClr val="F1F6FB"/>
                </a:solidFill>
                <a:latin typeface="Calibri" pitchFamily="34" charset="0"/>
                <a:ea typeface="Calibri" pitchFamily="34" charset="-122"/>
                <a:cs typeface="Calibri" pitchFamily="34" charset="-120"/>
              </a:rPr>
              <a:t>procscope-lab</a:t>
            </a:r>
            <a:endParaRPr lang="en-US" sz="1400" dirty="0"/>
          </a:p>
        </p:txBody>
      </p:sp>
      <p:sp>
        <p:nvSpPr>
          <p:cNvPr id="32" name="Text 29"/>
          <p:cNvSpPr txBox="1"/>
          <p:nvPr/>
        </p:nvSpPr>
        <p:spPr>
          <a:xfrm>
            <a:off x="1536192" y="4562856"/>
            <a:ext cx="1865376" cy="256032"/>
          </a:xfrm>
          <a:prstGeom prst="rect">
            <a:avLst/>
          </a:prstGeom>
          <a:noFill/>
          <a:ln/>
        </p:spPr>
        <p:txBody>
          <a:bodyPr wrap="square" lIns="0" tIns="0" rIns="0" bIns="0" rtlCol="0" anchor="ctr"/>
          <a:lstStyle/>
          <a:p>
            <a:pPr algn="ctr" indent="0" marL="0">
              <a:buNone/>
            </a:pPr>
            <a:r>
              <a:rPr lang="en-US" sz="1200" dirty="0">
                <a:solidFill>
                  <a:srgbClr val="F1F6FB"/>
                </a:solidFill>
                <a:latin typeface="Courier New" pitchFamily="34" charset="0"/>
                <a:ea typeface="Courier New" pitchFamily="34" charset="-122"/>
                <a:cs typeface="Courier New" pitchFamily="34" charset="-120"/>
              </a:rPr>
              <a:t>PID 2455 · PPID 2210</a:t>
            </a:r>
            <a:endParaRPr lang="en-US" sz="1200" dirty="0"/>
          </a:p>
        </p:txBody>
      </p:sp>
      <p:sp>
        <p:nvSpPr>
          <p:cNvPr id="33" name="Shape 30"/>
          <p:cNvSpPr/>
          <p:nvPr/>
        </p:nvSpPr>
        <p:spPr>
          <a:xfrm>
            <a:off x="320040" y="5212080"/>
            <a:ext cx="2011680" cy="731520"/>
          </a:xfrm>
          <a:prstGeom prst="roundRect">
            <a:avLst>
              <a:gd name="adj" fmla="val 10000"/>
            </a:avLst>
          </a:prstGeom>
          <a:solidFill>
            <a:srgbClr val="1A2E4D"/>
          </a:solidFill>
          <a:ln w="15875">
            <a:solidFill>
              <a:srgbClr val="22D3C5"/>
            </a:solidFill>
            <a:prstDash val="solid"/>
          </a:ln>
        </p:spPr>
      </p:sp>
      <p:sp>
        <p:nvSpPr>
          <p:cNvPr id="34" name="Text 31"/>
          <p:cNvSpPr txBox="1"/>
          <p:nvPr/>
        </p:nvSpPr>
        <p:spPr>
          <a:xfrm>
            <a:off x="393192" y="5285232"/>
            <a:ext cx="1865376" cy="310896"/>
          </a:xfrm>
          <a:prstGeom prst="rect">
            <a:avLst/>
          </a:prstGeom>
          <a:noFill/>
          <a:ln/>
        </p:spPr>
        <p:txBody>
          <a:bodyPr wrap="square" lIns="0" tIns="0" rIns="0" bIns="0" rtlCol="0" anchor="ctr"/>
          <a:lstStyle/>
          <a:p>
            <a:pPr algn="ctr" indent="0" marL="0">
              <a:buNone/>
            </a:pPr>
            <a:r>
              <a:rPr lang="en-US" sz="1400" b="1" dirty="0">
                <a:solidFill>
                  <a:srgbClr val="F1F6FB"/>
                </a:solidFill>
                <a:latin typeface="Calibri" pitchFamily="34" charset="0"/>
                <a:ea typeface="Calibri" pitchFamily="34" charset="-122"/>
                <a:cs typeface="Calibri" pitchFamily="34" charset="-120"/>
              </a:rPr>
              <a:t>lab child (writer)</a:t>
            </a:r>
            <a:endParaRPr lang="en-US" sz="1400" dirty="0"/>
          </a:p>
        </p:txBody>
      </p:sp>
      <p:sp>
        <p:nvSpPr>
          <p:cNvPr id="35" name="Text 32"/>
          <p:cNvSpPr txBox="1"/>
          <p:nvPr/>
        </p:nvSpPr>
        <p:spPr>
          <a:xfrm>
            <a:off x="393192" y="5614416"/>
            <a:ext cx="1865376" cy="256032"/>
          </a:xfrm>
          <a:prstGeom prst="rect">
            <a:avLst/>
          </a:prstGeom>
          <a:noFill/>
          <a:ln/>
        </p:spPr>
        <p:txBody>
          <a:bodyPr wrap="square" lIns="0" tIns="0" rIns="0" bIns="0" rtlCol="0" anchor="ctr"/>
          <a:lstStyle/>
          <a:p>
            <a:pPr algn="ctr" indent="0" marL="0">
              <a:buNone/>
            </a:pPr>
            <a:r>
              <a:rPr lang="en-US" sz="1200" dirty="0">
                <a:solidFill>
                  <a:srgbClr val="A9BBD0"/>
                </a:solidFill>
                <a:latin typeface="Courier New" pitchFamily="34" charset="0"/>
                <a:ea typeface="Courier New" pitchFamily="34" charset="-122"/>
                <a:cs typeface="Courier New" pitchFamily="34" charset="-120"/>
              </a:rPr>
              <a:t>PID 2456 · PPID 2455</a:t>
            </a:r>
            <a:endParaRPr lang="en-US" sz="1200" dirty="0"/>
          </a:p>
        </p:txBody>
      </p:sp>
      <p:sp>
        <p:nvSpPr>
          <p:cNvPr id="36" name="Shape 33"/>
          <p:cNvSpPr/>
          <p:nvPr/>
        </p:nvSpPr>
        <p:spPr>
          <a:xfrm>
            <a:off x="2606040" y="5212080"/>
            <a:ext cx="2011680" cy="731520"/>
          </a:xfrm>
          <a:prstGeom prst="roundRect">
            <a:avLst>
              <a:gd name="adj" fmla="val 10000"/>
            </a:avLst>
          </a:prstGeom>
          <a:solidFill>
            <a:srgbClr val="1A2E4D"/>
          </a:solidFill>
          <a:ln w="15875">
            <a:solidFill>
              <a:srgbClr val="22D3C5"/>
            </a:solidFill>
            <a:prstDash val="solid"/>
          </a:ln>
        </p:spPr>
      </p:sp>
      <p:sp>
        <p:nvSpPr>
          <p:cNvPr id="37" name="Text 34"/>
          <p:cNvSpPr txBox="1"/>
          <p:nvPr/>
        </p:nvSpPr>
        <p:spPr>
          <a:xfrm>
            <a:off x="2679192" y="5285232"/>
            <a:ext cx="1865376" cy="310896"/>
          </a:xfrm>
          <a:prstGeom prst="rect">
            <a:avLst/>
          </a:prstGeom>
          <a:noFill/>
          <a:ln/>
        </p:spPr>
        <p:txBody>
          <a:bodyPr wrap="square" lIns="0" tIns="0" rIns="0" bIns="0" rtlCol="0" anchor="ctr"/>
          <a:lstStyle/>
          <a:p>
            <a:pPr algn="ctr" indent="0" marL="0">
              <a:buNone/>
            </a:pPr>
            <a:r>
              <a:rPr lang="en-US" sz="1400" b="1" dirty="0">
                <a:solidFill>
                  <a:srgbClr val="F1F6FB"/>
                </a:solidFill>
                <a:latin typeface="Calibri" pitchFamily="34" charset="0"/>
                <a:ea typeface="Calibri" pitchFamily="34" charset="-122"/>
                <a:cs typeface="Calibri" pitchFamily="34" charset="-120"/>
              </a:rPr>
              <a:t>lab child (reader)</a:t>
            </a:r>
            <a:endParaRPr lang="en-US" sz="1400" dirty="0"/>
          </a:p>
        </p:txBody>
      </p:sp>
      <p:sp>
        <p:nvSpPr>
          <p:cNvPr id="38" name="Text 35"/>
          <p:cNvSpPr txBox="1"/>
          <p:nvPr/>
        </p:nvSpPr>
        <p:spPr>
          <a:xfrm>
            <a:off x="2679192" y="5614416"/>
            <a:ext cx="1865376" cy="256032"/>
          </a:xfrm>
          <a:prstGeom prst="rect">
            <a:avLst/>
          </a:prstGeom>
          <a:noFill/>
          <a:ln/>
        </p:spPr>
        <p:txBody>
          <a:bodyPr wrap="square" lIns="0" tIns="0" rIns="0" bIns="0" rtlCol="0" anchor="ctr"/>
          <a:lstStyle/>
          <a:p>
            <a:pPr algn="ctr" indent="0" marL="0">
              <a:buNone/>
            </a:pPr>
            <a:r>
              <a:rPr lang="en-US" sz="1200" dirty="0">
                <a:solidFill>
                  <a:srgbClr val="A9BBD0"/>
                </a:solidFill>
                <a:latin typeface="Courier New" pitchFamily="34" charset="0"/>
                <a:ea typeface="Courier New" pitchFamily="34" charset="-122"/>
                <a:cs typeface="Courier New" pitchFamily="34" charset="-120"/>
              </a:rPr>
              <a:t>PID 2457 · PPID 2455</a:t>
            </a:r>
            <a:endParaRPr lang="en-US" sz="1200" dirty="0"/>
          </a:p>
        </p:txBody>
      </p:sp>
      <p:sp>
        <p:nvSpPr>
          <p:cNvPr id="39" name="Text 36"/>
          <p:cNvSpPr txBox="1"/>
          <p:nvPr/>
        </p:nvSpPr>
        <p:spPr>
          <a:xfrm>
            <a:off x="4709160" y="4160520"/>
            <a:ext cx="3200400" cy="1005840"/>
          </a:xfrm>
          <a:prstGeom prst="rect">
            <a:avLst/>
          </a:prstGeom>
          <a:noFill/>
          <a:ln/>
        </p:spPr>
        <p:txBody>
          <a:bodyPr wrap="square" lIns="0" tIns="0" rIns="0" bIns="0" rtlCol="0" anchor="t"/>
          <a:lstStyle/>
          <a:p>
            <a:pPr indent="0" marL="0">
              <a:spcAft>
                <a:spcPts val="600"/>
              </a:spcAft>
              <a:buNone/>
            </a:pPr>
            <a:r>
              <a:rPr lang="en-US" sz="1200" b="1" dirty="0">
                <a:solidFill>
                  <a:srgbClr val="22D3C5"/>
                </a:solidFill>
                <a:latin typeface="Calibri" pitchFamily="34" charset="0"/>
                <a:ea typeface="Calibri" pitchFamily="34" charset="-122"/>
                <a:cs typeface="Calibri" pitchFamily="34" charset="-120"/>
              </a:rPr>
              <a:t>Filled box: selected process</a:t>
            </a:r>
            <a:endParaRPr lang="en-US" sz="1200" dirty="0"/>
          </a:p>
          <a:p>
            <a:pPr indent="0" marL="0">
              <a:spcAft>
                <a:spcPts val="600"/>
              </a:spcAft>
              <a:buNone/>
            </a:pPr>
            <a:r>
              <a:rPr lang="en-US" sz="1200" dirty="0">
                <a:solidFill>
                  <a:srgbClr val="A9BBD0"/>
                </a:solidFill>
                <a:latin typeface="Calibri" pitchFamily="34" charset="0"/>
                <a:ea typeface="Calibri" pitchFamily="34" charset="-122"/>
                <a:cs typeface="Calibri" pitchFamily="34" charset="-120"/>
              </a:rPr>
              <a:t>Teal outline: its ancestors and descendants</a:t>
            </a:r>
            <a:endParaRPr lang="en-US" sz="1200" dirty="0"/>
          </a:p>
          <a:p>
            <a:pPr indent="0" marL="0">
              <a:spcAft>
                <a:spcPts val="600"/>
              </a:spcAft>
              <a:buNone/>
            </a:pPr>
            <a:r>
              <a:rPr lang="en-US" sz="1200" dirty="0">
                <a:solidFill>
                  <a:srgbClr val="7F93AB"/>
                </a:solidFill>
                <a:latin typeface="Calibri" pitchFamily="34" charset="0"/>
                <a:ea typeface="Calibri" pitchFamily="34" charset="-122"/>
                <a:cs typeface="Calibri" pitchFamily="34" charset="-120"/>
              </a:rPr>
              <a:t>Dim line: other processes</a:t>
            </a:r>
            <a:endParaRPr lang="en-US" sz="1200" dirty="0"/>
          </a:p>
        </p:txBody>
      </p:sp>
      <p:sp>
        <p:nvSpPr>
          <p:cNvPr id="40" name="Text 37"/>
          <p:cNvSpPr txBox="1"/>
          <p:nvPr/>
        </p:nvSpPr>
        <p:spPr>
          <a:xfrm>
            <a:off x="8412480" y="1371600"/>
            <a:ext cx="3200400" cy="292608"/>
          </a:xfrm>
          <a:prstGeom prst="rect">
            <a:avLst/>
          </a:prstGeom>
          <a:noFill/>
          <a:ln/>
        </p:spPr>
        <p:txBody>
          <a:bodyPr wrap="square" lIns="0" tIns="0" rIns="0" bIns="0" rtlCol="0" anchor="t"/>
          <a:lstStyle/>
          <a:p>
            <a:pPr indent="0" marL="0">
              <a:buNone/>
            </a:pPr>
            <a:r>
              <a:rPr lang="en-US" sz="1600" b="1" dirty="0">
                <a:solidFill>
                  <a:srgbClr val="22D3C5"/>
                </a:solidFill>
                <a:latin typeface="Calibri" pitchFamily="34" charset="0"/>
                <a:ea typeface="Calibri" pitchFamily="34" charset="-122"/>
                <a:cs typeface="Calibri" pitchFamily="34" charset="-120"/>
              </a:rPr>
              <a:t>PID and PPID</a:t>
            </a:r>
            <a:endParaRPr lang="en-US" sz="1600" dirty="0"/>
          </a:p>
        </p:txBody>
      </p:sp>
      <p:sp>
        <p:nvSpPr>
          <p:cNvPr id="41" name="Text 38"/>
          <p:cNvSpPr txBox="1"/>
          <p:nvPr/>
        </p:nvSpPr>
        <p:spPr>
          <a:xfrm>
            <a:off x="8412480" y="1682496"/>
            <a:ext cx="3200400" cy="59436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A process's own ID and its parent's ID. They create every line in the tree.</a:t>
            </a:r>
            <a:endParaRPr lang="en-US" sz="1400" dirty="0"/>
          </a:p>
        </p:txBody>
      </p:sp>
      <p:sp>
        <p:nvSpPr>
          <p:cNvPr id="42" name="Text 39"/>
          <p:cNvSpPr txBox="1"/>
          <p:nvPr/>
        </p:nvSpPr>
        <p:spPr>
          <a:xfrm>
            <a:off x="8412480" y="2313432"/>
            <a:ext cx="3200400" cy="292608"/>
          </a:xfrm>
          <a:prstGeom prst="rect">
            <a:avLst/>
          </a:prstGeom>
          <a:noFill/>
          <a:ln/>
        </p:spPr>
        <p:txBody>
          <a:bodyPr wrap="square" lIns="0" tIns="0" rIns="0" bIns="0" rtlCol="0" anchor="t"/>
          <a:lstStyle/>
          <a:p>
            <a:pPr indent="0" marL="0">
              <a:buNone/>
            </a:pPr>
            <a:r>
              <a:rPr lang="en-US" sz="1600" b="1" dirty="0">
                <a:solidFill>
                  <a:srgbClr val="22D3C5"/>
                </a:solidFill>
                <a:latin typeface="Calibri" pitchFamily="34" charset="0"/>
                <a:ea typeface="Calibri" pitchFamily="34" charset="-122"/>
                <a:cs typeface="Calibri" pitchFamily="34" charset="-120"/>
              </a:rPr>
              <a:t>Expand and collapse</a:t>
            </a:r>
            <a:endParaRPr lang="en-US" sz="1600" dirty="0"/>
          </a:p>
        </p:txBody>
      </p:sp>
      <p:sp>
        <p:nvSpPr>
          <p:cNvPr id="43" name="Text 40"/>
          <p:cNvSpPr txBox="1"/>
          <p:nvPr/>
        </p:nvSpPr>
        <p:spPr>
          <a:xfrm>
            <a:off x="8412480" y="2624328"/>
            <a:ext cx="3200400" cy="59436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Open or close branches, or use Collapse all.</a:t>
            </a:r>
            <a:endParaRPr lang="en-US" sz="1400" dirty="0"/>
          </a:p>
        </p:txBody>
      </p:sp>
      <p:sp>
        <p:nvSpPr>
          <p:cNvPr id="44" name="Text 41"/>
          <p:cNvSpPr txBox="1"/>
          <p:nvPr/>
        </p:nvSpPr>
        <p:spPr>
          <a:xfrm>
            <a:off x="8412480" y="3255264"/>
            <a:ext cx="3200400" cy="292608"/>
          </a:xfrm>
          <a:prstGeom prst="rect">
            <a:avLst/>
          </a:prstGeom>
          <a:noFill/>
          <a:ln/>
        </p:spPr>
        <p:txBody>
          <a:bodyPr wrap="square" lIns="0" tIns="0" rIns="0" bIns="0" rtlCol="0" anchor="t"/>
          <a:lstStyle/>
          <a:p>
            <a:pPr indent="0" marL="0">
              <a:buNone/>
            </a:pPr>
            <a:r>
              <a:rPr lang="en-US" sz="1600" b="1" dirty="0">
                <a:solidFill>
                  <a:srgbClr val="22D3C5"/>
                </a:solidFill>
                <a:latin typeface="Calibri" pitchFamily="34" charset="0"/>
                <a:ea typeface="Calibri" pitchFamily="34" charset="-122"/>
                <a:cs typeface="Calibri" pitchFamily="34" charset="-120"/>
              </a:rPr>
              <a:t>Search</a:t>
            </a:r>
            <a:endParaRPr lang="en-US" sz="1600" dirty="0"/>
          </a:p>
        </p:txBody>
      </p:sp>
      <p:sp>
        <p:nvSpPr>
          <p:cNvPr id="45" name="Text 42"/>
          <p:cNvSpPr txBox="1"/>
          <p:nvPr/>
        </p:nvSpPr>
        <p:spPr>
          <a:xfrm>
            <a:off x="8412480" y="3566160"/>
            <a:ext cx="3200400" cy="59436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Filter by process name or PID.</a:t>
            </a:r>
            <a:endParaRPr lang="en-US" sz="1400" dirty="0"/>
          </a:p>
        </p:txBody>
      </p:sp>
      <p:sp>
        <p:nvSpPr>
          <p:cNvPr id="46" name="Text 43"/>
          <p:cNvSpPr txBox="1"/>
          <p:nvPr/>
        </p:nvSpPr>
        <p:spPr>
          <a:xfrm>
            <a:off x="8412480" y="4197096"/>
            <a:ext cx="3200400" cy="292608"/>
          </a:xfrm>
          <a:prstGeom prst="rect">
            <a:avLst/>
          </a:prstGeom>
          <a:noFill/>
          <a:ln/>
        </p:spPr>
        <p:txBody>
          <a:bodyPr wrap="square" lIns="0" tIns="0" rIns="0" bIns="0" rtlCol="0" anchor="t"/>
          <a:lstStyle/>
          <a:p>
            <a:pPr indent="0" marL="0">
              <a:buNone/>
            </a:pPr>
            <a:r>
              <a:rPr lang="en-US" sz="1600" b="1" dirty="0">
                <a:solidFill>
                  <a:srgbClr val="22D3C5"/>
                </a:solidFill>
                <a:latin typeface="Calibri" pitchFamily="34" charset="0"/>
                <a:ea typeface="Calibri" pitchFamily="34" charset="-122"/>
                <a:cs typeface="Calibri" pitchFamily="34" charset="-120"/>
              </a:rPr>
              <a:t>Details</a:t>
            </a:r>
            <a:endParaRPr lang="en-US" sz="1600" dirty="0"/>
          </a:p>
        </p:txBody>
      </p:sp>
      <p:sp>
        <p:nvSpPr>
          <p:cNvPr id="47" name="Text 44"/>
          <p:cNvSpPr txBox="1"/>
          <p:nvPr/>
        </p:nvSpPr>
        <p:spPr>
          <a:xfrm>
            <a:off x="8412480" y="4507992"/>
            <a:ext cx="3200400" cy="59436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Select a process to inspect identity and available fields.</a:t>
            </a:r>
            <a:endParaRPr lang="en-US" sz="1400" dirty="0"/>
          </a:p>
        </p:txBody>
      </p:sp>
      <p:sp>
        <p:nvSpPr>
          <p:cNvPr id="48" name="Text 45"/>
          <p:cNvSpPr txBox="1"/>
          <p:nvPr/>
        </p:nvSpPr>
        <p:spPr>
          <a:xfrm>
            <a:off x="8412480" y="5138928"/>
            <a:ext cx="3200400" cy="292608"/>
          </a:xfrm>
          <a:prstGeom prst="rect">
            <a:avLst/>
          </a:prstGeom>
          <a:noFill/>
          <a:ln/>
        </p:spPr>
        <p:txBody>
          <a:bodyPr wrap="square" lIns="0" tIns="0" rIns="0" bIns="0" rtlCol="0" anchor="t"/>
          <a:lstStyle/>
          <a:p>
            <a:pPr indent="0" marL="0">
              <a:buNone/>
            </a:pPr>
            <a:r>
              <a:rPr lang="en-US" sz="1600" b="1" dirty="0">
                <a:solidFill>
                  <a:srgbClr val="22D3C5"/>
                </a:solidFill>
                <a:latin typeface="Calibri" pitchFamily="34" charset="0"/>
                <a:ea typeface="Calibri" pitchFamily="34" charset="-122"/>
                <a:cs typeface="Calibri" pitchFamily="34" charset="-120"/>
              </a:rPr>
              <a:t>Follow family</a:t>
            </a:r>
            <a:endParaRPr lang="en-US" sz="1600" dirty="0"/>
          </a:p>
        </p:txBody>
      </p:sp>
      <p:sp>
        <p:nvSpPr>
          <p:cNvPr id="49" name="Text 46"/>
          <p:cNvSpPr txBox="1"/>
          <p:nvPr/>
        </p:nvSpPr>
        <p:spPr>
          <a:xfrm>
            <a:off x="8412480" y="5449824"/>
            <a:ext cx="3200400" cy="59436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Highlight the selected process, its visible ancestors and descendants.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93A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rgbClr val="F1F6FB"/>
                </a:solidFill>
                <a:latin typeface="Calibri" pitchFamily="34" charset="0"/>
                <a:ea typeface="Calibri" pitchFamily="34" charset="-122"/>
                <a:cs typeface="Calibri" pitchFamily="34" charset="-120"/>
              </a:rPr>
              <a:t>Technology stack and implementation</a:t>
            </a:r>
            <a:endParaRPr lang="en-US" sz="3400" dirty="0"/>
          </a:p>
        </p:txBody>
      </p:sp>
      <p:sp>
        <p:nvSpPr>
          <p:cNvPr id="4" name="Shape 1"/>
          <p:cNvSpPr/>
          <p:nvPr/>
        </p:nvSpPr>
        <p:spPr>
          <a:xfrm>
            <a:off x="548640" y="1417320"/>
            <a:ext cx="3566160" cy="2194560"/>
          </a:xfrm>
          <a:prstGeom prst="roundRect">
            <a:avLst>
              <a:gd name="adj" fmla="val 3333"/>
            </a:avLst>
          </a:prstGeom>
          <a:solidFill>
            <a:srgbClr val="13233D"/>
          </a:solidFill>
          <a:ln w="12700">
            <a:solidFill>
              <a:srgbClr val="2A4468"/>
            </a:solidFill>
            <a:prstDash val="solid"/>
          </a:ln>
        </p:spPr>
      </p:sp>
      <p:sp>
        <p:nvSpPr>
          <p:cNvPr id="5" name="Text 2"/>
          <p:cNvSpPr txBox="1"/>
          <p:nvPr/>
        </p:nvSpPr>
        <p:spPr>
          <a:xfrm>
            <a:off x="777240" y="1600200"/>
            <a:ext cx="3108960" cy="411480"/>
          </a:xfrm>
          <a:prstGeom prst="rect">
            <a:avLst/>
          </a:prstGeom>
          <a:noFill/>
          <a:ln/>
        </p:spPr>
        <p:txBody>
          <a:bodyPr wrap="square" lIns="0" tIns="0" rIns="0" bIns="0" rtlCol="0" anchor="t"/>
          <a:lstStyle/>
          <a:p>
            <a:pPr indent="0" marL="0">
              <a:buNone/>
            </a:pPr>
            <a:r>
              <a:rPr lang="en-US" sz="1900" b="1" dirty="0">
                <a:solidFill>
                  <a:srgbClr val="F1F6FB"/>
                </a:solidFill>
                <a:latin typeface="Calibri" pitchFamily="34" charset="0"/>
                <a:ea typeface="Calibri" pitchFamily="34" charset="-122"/>
                <a:cs typeface="Calibri" pitchFamily="34" charset="-120"/>
              </a:rPr>
              <a:t>Python + /proc</a:t>
            </a:r>
            <a:endParaRPr lang="en-US" sz="1900" dirty="0"/>
          </a:p>
        </p:txBody>
      </p:sp>
      <p:sp>
        <p:nvSpPr>
          <p:cNvPr id="6" name="Shape 3"/>
          <p:cNvSpPr/>
          <p:nvPr/>
        </p:nvSpPr>
        <p:spPr>
          <a:xfrm>
            <a:off x="777240" y="2075688"/>
            <a:ext cx="2967228" cy="292608"/>
          </a:xfrm>
          <a:prstGeom prst="roundRect">
            <a:avLst>
              <a:gd name="adj" fmla="val 15625"/>
            </a:avLst>
          </a:prstGeom>
          <a:solidFill>
            <a:srgbClr val="0A101D"/>
          </a:solidFill>
          <a:ln w="9525">
            <a:solidFill>
              <a:srgbClr val="22D3C5"/>
            </a:solidFill>
            <a:prstDash val="solid"/>
          </a:ln>
        </p:spPr>
      </p:sp>
      <p:sp>
        <p:nvSpPr>
          <p:cNvPr id="7" name="Text 4"/>
          <p:cNvSpPr txBox="1"/>
          <p:nvPr/>
        </p:nvSpPr>
        <p:spPr>
          <a:xfrm>
            <a:off x="777240" y="2075688"/>
            <a:ext cx="2967228" cy="292608"/>
          </a:xfrm>
          <a:prstGeom prst="rect">
            <a:avLst/>
          </a:prstGeom>
          <a:noFill/>
          <a:ln/>
        </p:spPr>
        <p:txBody>
          <a:bodyPr wrap="square" lIns="0" tIns="0" rIns="0" bIns="0" rtlCol="0" anchor="ctr"/>
          <a:lstStyle/>
          <a:p>
            <a:pPr algn="ctr" indent="0" marL="0">
              <a:buNone/>
            </a:pPr>
            <a:r>
              <a:rPr lang="en-US" sz="1100" dirty="0">
                <a:solidFill>
                  <a:srgbClr val="22D3C5"/>
                </a:solidFill>
                <a:latin typeface="Courier New" pitchFamily="34" charset="0"/>
                <a:ea typeface="Courier New" pitchFamily="34" charset="-122"/>
                <a:cs typeface="Courier New" pitchFamily="34" charset="-120"/>
              </a:rPr>
              <a:t>proc_collector.py · server.py</a:t>
            </a:r>
            <a:endParaRPr lang="en-US" sz="1100" dirty="0"/>
          </a:p>
        </p:txBody>
      </p:sp>
      <p:sp>
        <p:nvSpPr>
          <p:cNvPr id="8" name="Text 5"/>
          <p:cNvSpPr txBox="1"/>
          <p:nvPr/>
        </p:nvSpPr>
        <p:spPr>
          <a:xfrm>
            <a:off x="777240" y="2514600"/>
            <a:ext cx="3154680" cy="105156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Standard library only. Reads /proc/PID/stat, status, cmdline and exe, and serves a JSON API on 127.0.0.1.</a:t>
            </a:r>
            <a:endParaRPr lang="en-US" sz="1400" dirty="0"/>
          </a:p>
        </p:txBody>
      </p:sp>
      <p:sp>
        <p:nvSpPr>
          <p:cNvPr id="9" name="Shape 6"/>
          <p:cNvSpPr/>
          <p:nvPr/>
        </p:nvSpPr>
        <p:spPr>
          <a:xfrm>
            <a:off x="4297680" y="1417320"/>
            <a:ext cx="3566160" cy="2194560"/>
          </a:xfrm>
          <a:prstGeom prst="roundRect">
            <a:avLst>
              <a:gd name="adj" fmla="val 3333"/>
            </a:avLst>
          </a:prstGeom>
          <a:solidFill>
            <a:srgbClr val="13233D"/>
          </a:solidFill>
          <a:ln w="12700">
            <a:solidFill>
              <a:srgbClr val="2A4468"/>
            </a:solidFill>
            <a:prstDash val="solid"/>
          </a:ln>
        </p:spPr>
      </p:sp>
      <p:sp>
        <p:nvSpPr>
          <p:cNvPr id="10" name="Text 7"/>
          <p:cNvSpPr txBox="1"/>
          <p:nvPr/>
        </p:nvSpPr>
        <p:spPr>
          <a:xfrm>
            <a:off x="4526280" y="1600200"/>
            <a:ext cx="3108960" cy="411480"/>
          </a:xfrm>
          <a:prstGeom prst="rect">
            <a:avLst/>
          </a:prstGeom>
          <a:noFill/>
          <a:ln/>
        </p:spPr>
        <p:txBody>
          <a:bodyPr wrap="square" lIns="0" tIns="0" rIns="0" bIns="0" rtlCol="0" anchor="t"/>
          <a:lstStyle/>
          <a:p>
            <a:pPr indent="0" marL="0">
              <a:buNone/>
            </a:pPr>
            <a:r>
              <a:rPr lang="en-US" sz="1900" b="1" dirty="0">
                <a:solidFill>
                  <a:srgbClr val="F1F6FB"/>
                </a:solidFill>
                <a:latin typeface="Calibri" pitchFamily="34" charset="0"/>
                <a:ea typeface="Calibri" pitchFamily="34" charset="-122"/>
                <a:cs typeface="Calibri" pitchFamily="34" charset="-120"/>
              </a:rPr>
              <a:t>HTML · CSS · JavaScript</a:t>
            </a:r>
            <a:endParaRPr lang="en-US" sz="1900" dirty="0"/>
          </a:p>
        </p:txBody>
      </p:sp>
      <p:sp>
        <p:nvSpPr>
          <p:cNvPr id="11" name="Shape 8"/>
          <p:cNvSpPr/>
          <p:nvPr/>
        </p:nvSpPr>
        <p:spPr>
          <a:xfrm>
            <a:off x="4526280" y="2075688"/>
            <a:ext cx="854964" cy="292608"/>
          </a:xfrm>
          <a:prstGeom prst="roundRect">
            <a:avLst>
              <a:gd name="adj" fmla="val 15625"/>
            </a:avLst>
          </a:prstGeom>
          <a:solidFill>
            <a:srgbClr val="0A101D"/>
          </a:solidFill>
          <a:ln w="9525">
            <a:solidFill>
              <a:srgbClr val="22D3C5"/>
            </a:solidFill>
            <a:prstDash val="solid"/>
          </a:ln>
        </p:spPr>
      </p:sp>
      <p:sp>
        <p:nvSpPr>
          <p:cNvPr id="12" name="Text 9"/>
          <p:cNvSpPr txBox="1"/>
          <p:nvPr/>
        </p:nvSpPr>
        <p:spPr>
          <a:xfrm>
            <a:off x="4526280" y="2075688"/>
            <a:ext cx="854964" cy="292608"/>
          </a:xfrm>
          <a:prstGeom prst="rect">
            <a:avLst/>
          </a:prstGeom>
          <a:noFill/>
          <a:ln/>
        </p:spPr>
        <p:txBody>
          <a:bodyPr wrap="square" lIns="0" tIns="0" rIns="0" bIns="0" rtlCol="0" anchor="ctr"/>
          <a:lstStyle/>
          <a:p>
            <a:pPr algn="ctr" indent="0" marL="0">
              <a:buNone/>
            </a:pPr>
            <a:r>
              <a:rPr lang="en-US" sz="1100" dirty="0">
                <a:solidFill>
                  <a:srgbClr val="22D3C5"/>
                </a:solidFill>
                <a:latin typeface="Courier New" pitchFamily="34" charset="0"/>
                <a:ea typeface="Courier New" pitchFamily="34" charset="-122"/>
                <a:cs typeface="Courier New" pitchFamily="34" charset="-120"/>
              </a:rPr>
              <a:t>static/</a:t>
            </a:r>
            <a:endParaRPr lang="en-US" sz="1100" dirty="0"/>
          </a:p>
        </p:txBody>
      </p:sp>
      <p:sp>
        <p:nvSpPr>
          <p:cNvPr id="13" name="Text 10"/>
          <p:cNvSpPr txBox="1"/>
          <p:nvPr/>
        </p:nvSpPr>
        <p:spPr>
          <a:xfrm>
            <a:off x="4526280" y="2514600"/>
            <a:ext cx="3154680" cy="105156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No build step and no framework. The browser renders the tree and calls the API with fetch().</a:t>
            </a:r>
            <a:endParaRPr lang="en-US" sz="1400" dirty="0"/>
          </a:p>
        </p:txBody>
      </p:sp>
      <p:sp>
        <p:nvSpPr>
          <p:cNvPr id="14" name="Shape 11"/>
          <p:cNvSpPr/>
          <p:nvPr/>
        </p:nvSpPr>
        <p:spPr>
          <a:xfrm>
            <a:off x="8046720" y="1417320"/>
            <a:ext cx="3566160" cy="2194560"/>
          </a:xfrm>
          <a:prstGeom prst="roundRect">
            <a:avLst>
              <a:gd name="adj" fmla="val 3333"/>
            </a:avLst>
          </a:prstGeom>
          <a:solidFill>
            <a:srgbClr val="13233D"/>
          </a:solidFill>
          <a:ln w="12700">
            <a:solidFill>
              <a:srgbClr val="2A4468"/>
            </a:solidFill>
            <a:prstDash val="solid"/>
          </a:ln>
        </p:spPr>
      </p:sp>
      <p:sp>
        <p:nvSpPr>
          <p:cNvPr id="15" name="Text 12"/>
          <p:cNvSpPr txBox="1"/>
          <p:nvPr/>
        </p:nvSpPr>
        <p:spPr>
          <a:xfrm>
            <a:off x="8275320" y="1600200"/>
            <a:ext cx="3108960" cy="411480"/>
          </a:xfrm>
          <a:prstGeom prst="rect">
            <a:avLst/>
          </a:prstGeom>
          <a:noFill/>
          <a:ln/>
        </p:spPr>
        <p:txBody>
          <a:bodyPr wrap="square" lIns="0" tIns="0" rIns="0" bIns="0" rtlCol="0" anchor="t"/>
          <a:lstStyle/>
          <a:p>
            <a:pPr indent="0" marL="0">
              <a:buNone/>
            </a:pPr>
            <a:r>
              <a:rPr lang="en-US" sz="1900" b="1" dirty="0">
                <a:solidFill>
                  <a:srgbClr val="F1F6FB"/>
                </a:solidFill>
                <a:latin typeface="Calibri" pitchFamily="34" charset="0"/>
                <a:ea typeface="Calibri" pitchFamily="34" charset="-122"/>
                <a:cs typeface="Calibri" pitchFamily="34" charset="-120"/>
              </a:rPr>
              <a:t>C Process Lab</a:t>
            </a:r>
            <a:endParaRPr lang="en-US" sz="1900" dirty="0"/>
          </a:p>
        </p:txBody>
      </p:sp>
      <p:sp>
        <p:nvSpPr>
          <p:cNvPr id="16" name="Shape 13"/>
          <p:cNvSpPr/>
          <p:nvPr/>
        </p:nvSpPr>
        <p:spPr>
          <a:xfrm>
            <a:off x="8275320" y="2075688"/>
            <a:ext cx="2199132" cy="292608"/>
          </a:xfrm>
          <a:prstGeom prst="roundRect">
            <a:avLst>
              <a:gd name="adj" fmla="val 15625"/>
            </a:avLst>
          </a:prstGeom>
          <a:solidFill>
            <a:srgbClr val="0A101D"/>
          </a:solidFill>
          <a:ln w="9525">
            <a:solidFill>
              <a:srgbClr val="22D3C5"/>
            </a:solidFill>
            <a:prstDash val="solid"/>
          </a:ln>
        </p:spPr>
      </p:sp>
      <p:sp>
        <p:nvSpPr>
          <p:cNvPr id="17" name="Text 14"/>
          <p:cNvSpPr txBox="1"/>
          <p:nvPr/>
        </p:nvSpPr>
        <p:spPr>
          <a:xfrm>
            <a:off x="8275320" y="2075688"/>
            <a:ext cx="2199132" cy="292608"/>
          </a:xfrm>
          <a:prstGeom prst="rect">
            <a:avLst/>
          </a:prstGeom>
          <a:noFill/>
          <a:ln/>
        </p:spPr>
        <p:txBody>
          <a:bodyPr wrap="square" lIns="0" tIns="0" rIns="0" bIns="0" rtlCol="0" anchor="ctr"/>
          <a:lstStyle/>
          <a:p>
            <a:pPr algn="ctr" indent="0" marL="0">
              <a:buNone/>
            </a:pPr>
            <a:r>
              <a:rPr lang="en-US" sz="1100" dirty="0">
                <a:solidFill>
                  <a:srgbClr val="22D3C5"/>
                </a:solidFill>
                <a:latin typeface="Courier New" pitchFamily="34" charset="0"/>
                <a:ea typeface="Courier New" pitchFamily="34" charset="-122"/>
                <a:cs typeface="Courier New" pitchFamily="34" charset="-120"/>
              </a:rPr>
              <a:t>lab/lab_experiments.c</a:t>
            </a:r>
            <a:endParaRPr lang="en-US" sz="1100" dirty="0"/>
          </a:p>
        </p:txBody>
      </p:sp>
      <p:sp>
        <p:nvSpPr>
          <p:cNvPr id="18" name="Text 15"/>
          <p:cNvSpPr txBox="1"/>
          <p:nvPr/>
        </p:nvSpPr>
        <p:spPr>
          <a:xfrm>
            <a:off x="8275320" y="2514600"/>
            <a:ext cx="3154680" cy="105156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Five experiments compiled on demand with strict warnings. Started only from a fixed allow-list.</a:t>
            </a:r>
            <a:endParaRPr lang="en-US" sz="1400" dirty="0"/>
          </a:p>
        </p:txBody>
      </p:sp>
      <p:sp>
        <p:nvSpPr>
          <p:cNvPr id="19" name="Shape 16"/>
          <p:cNvSpPr/>
          <p:nvPr/>
        </p:nvSpPr>
        <p:spPr>
          <a:xfrm>
            <a:off x="548640" y="3794760"/>
            <a:ext cx="3566160" cy="2194560"/>
          </a:xfrm>
          <a:prstGeom prst="roundRect">
            <a:avLst>
              <a:gd name="adj" fmla="val 3333"/>
            </a:avLst>
          </a:prstGeom>
          <a:solidFill>
            <a:srgbClr val="13233D"/>
          </a:solidFill>
          <a:ln w="12700">
            <a:solidFill>
              <a:srgbClr val="2A4468"/>
            </a:solidFill>
            <a:prstDash val="solid"/>
          </a:ln>
        </p:spPr>
      </p:sp>
      <p:sp>
        <p:nvSpPr>
          <p:cNvPr id="20" name="Text 17"/>
          <p:cNvSpPr txBox="1"/>
          <p:nvPr/>
        </p:nvSpPr>
        <p:spPr>
          <a:xfrm>
            <a:off x="777240" y="3977640"/>
            <a:ext cx="3108960" cy="411480"/>
          </a:xfrm>
          <a:prstGeom prst="rect">
            <a:avLst/>
          </a:prstGeom>
          <a:noFill/>
          <a:ln/>
        </p:spPr>
        <p:txBody>
          <a:bodyPr wrap="square" lIns="0" tIns="0" rIns="0" bIns="0" rtlCol="0" anchor="t"/>
          <a:lstStyle/>
          <a:p>
            <a:pPr indent="0" marL="0">
              <a:buNone/>
            </a:pPr>
            <a:r>
              <a:rPr lang="en-US" sz="1900" b="1" dirty="0">
                <a:solidFill>
                  <a:srgbClr val="F1F6FB"/>
                </a:solidFill>
                <a:latin typeface="Calibri" pitchFamily="34" charset="0"/>
                <a:ea typeface="Calibri" pitchFamily="34" charset="-122"/>
                <a:cs typeface="Calibri" pitchFamily="34" charset="-120"/>
              </a:rPr>
              <a:t>Process identity</a:t>
            </a:r>
            <a:endParaRPr lang="en-US" sz="1900" dirty="0"/>
          </a:p>
        </p:txBody>
      </p:sp>
      <p:sp>
        <p:nvSpPr>
          <p:cNvPr id="21" name="Shape 18"/>
          <p:cNvSpPr/>
          <p:nvPr/>
        </p:nvSpPr>
        <p:spPr>
          <a:xfrm>
            <a:off x="777240" y="4453128"/>
            <a:ext cx="2679192" cy="292608"/>
          </a:xfrm>
          <a:prstGeom prst="roundRect">
            <a:avLst>
              <a:gd name="adj" fmla="val 15625"/>
            </a:avLst>
          </a:prstGeom>
          <a:solidFill>
            <a:srgbClr val="0A101D"/>
          </a:solidFill>
          <a:ln w="9525">
            <a:solidFill>
              <a:srgbClr val="22D3C5"/>
            </a:solidFill>
            <a:prstDash val="solid"/>
          </a:ln>
        </p:spPr>
      </p:sp>
      <p:sp>
        <p:nvSpPr>
          <p:cNvPr id="22" name="Text 19"/>
          <p:cNvSpPr txBox="1"/>
          <p:nvPr/>
        </p:nvSpPr>
        <p:spPr>
          <a:xfrm>
            <a:off x="777240" y="4453128"/>
            <a:ext cx="2679192" cy="292608"/>
          </a:xfrm>
          <a:prstGeom prst="rect">
            <a:avLst/>
          </a:prstGeom>
          <a:noFill/>
          <a:ln/>
        </p:spPr>
        <p:txBody>
          <a:bodyPr wrap="square" lIns="0" tIns="0" rIns="0" bIns="0" rtlCol="0" anchor="ctr"/>
          <a:lstStyle/>
          <a:p>
            <a:pPr algn="ctr" indent="0" marL="0">
              <a:buNone/>
            </a:pPr>
            <a:r>
              <a:rPr lang="en-US" sz="1100" dirty="0">
                <a:solidFill>
                  <a:srgbClr val="22D3C5"/>
                </a:solidFill>
                <a:latin typeface="Courier New" pitchFamily="34" charset="0"/>
                <a:ea typeface="Courier New" pitchFamily="34" charset="-122"/>
                <a:cs typeface="Courier New" pitchFamily="34" charset="-120"/>
              </a:rPr>
              <a:t>boot ID + PID + start time</a:t>
            </a:r>
            <a:endParaRPr lang="en-US" sz="1100" dirty="0"/>
          </a:p>
        </p:txBody>
      </p:sp>
      <p:sp>
        <p:nvSpPr>
          <p:cNvPr id="23" name="Text 20"/>
          <p:cNvSpPr txBox="1"/>
          <p:nvPr/>
        </p:nvSpPr>
        <p:spPr>
          <a:xfrm>
            <a:off x="777240" y="4892040"/>
            <a:ext cx="3154680" cy="105156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Start time in clock ticks (from /proc/PID/stat) plus boot ID separates two lifetimes that share one PID.</a:t>
            </a:r>
            <a:endParaRPr lang="en-US" sz="1400" dirty="0"/>
          </a:p>
        </p:txBody>
      </p:sp>
      <p:sp>
        <p:nvSpPr>
          <p:cNvPr id="24" name="Shape 21"/>
          <p:cNvSpPr/>
          <p:nvPr/>
        </p:nvSpPr>
        <p:spPr>
          <a:xfrm>
            <a:off x="4297680" y="3794760"/>
            <a:ext cx="3566160" cy="2194560"/>
          </a:xfrm>
          <a:prstGeom prst="roundRect">
            <a:avLst>
              <a:gd name="adj" fmla="val 3333"/>
            </a:avLst>
          </a:prstGeom>
          <a:solidFill>
            <a:srgbClr val="13233D"/>
          </a:solidFill>
          <a:ln w="12700">
            <a:solidFill>
              <a:srgbClr val="2A4468"/>
            </a:solidFill>
            <a:prstDash val="solid"/>
          </a:ln>
        </p:spPr>
      </p:sp>
      <p:sp>
        <p:nvSpPr>
          <p:cNvPr id="25" name="Text 22"/>
          <p:cNvSpPr txBox="1"/>
          <p:nvPr/>
        </p:nvSpPr>
        <p:spPr>
          <a:xfrm>
            <a:off x="4526280" y="3977640"/>
            <a:ext cx="3108960" cy="411480"/>
          </a:xfrm>
          <a:prstGeom prst="rect">
            <a:avLst/>
          </a:prstGeom>
          <a:noFill/>
          <a:ln/>
        </p:spPr>
        <p:txBody>
          <a:bodyPr wrap="square" lIns="0" tIns="0" rIns="0" bIns="0" rtlCol="0" anchor="t"/>
          <a:lstStyle/>
          <a:p>
            <a:pPr indent="0" marL="0">
              <a:buNone/>
            </a:pPr>
            <a:r>
              <a:rPr lang="en-US" sz="1900" b="1" dirty="0">
                <a:solidFill>
                  <a:srgbClr val="F1F6FB"/>
                </a:solidFill>
                <a:latin typeface="Calibri" pitchFamily="34" charset="0"/>
                <a:ea typeface="Calibri" pitchFamily="34" charset="-122"/>
                <a:cs typeface="Calibri" pitchFamily="34" charset="-120"/>
              </a:rPr>
              <a:t>Refresh mechanism</a:t>
            </a:r>
            <a:endParaRPr lang="en-US" sz="1900" dirty="0"/>
          </a:p>
        </p:txBody>
      </p:sp>
      <p:sp>
        <p:nvSpPr>
          <p:cNvPr id="26" name="Shape 23"/>
          <p:cNvSpPr/>
          <p:nvPr/>
        </p:nvSpPr>
        <p:spPr>
          <a:xfrm>
            <a:off x="4526280" y="4453128"/>
            <a:ext cx="1335024" cy="292608"/>
          </a:xfrm>
          <a:prstGeom prst="roundRect">
            <a:avLst>
              <a:gd name="adj" fmla="val 15625"/>
            </a:avLst>
          </a:prstGeom>
          <a:solidFill>
            <a:srgbClr val="0A101D"/>
          </a:solidFill>
          <a:ln w="9525">
            <a:solidFill>
              <a:srgbClr val="22D3C5"/>
            </a:solidFill>
            <a:prstDash val="solid"/>
          </a:ln>
        </p:spPr>
      </p:sp>
      <p:sp>
        <p:nvSpPr>
          <p:cNvPr id="27" name="Text 24"/>
          <p:cNvSpPr txBox="1"/>
          <p:nvPr/>
        </p:nvSpPr>
        <p:spPr>
          <a:xfrm>
            <a:off x="4526280" y="4453128"/>
            <a:ext cx="1335024" cy="292608"/>
          </a:xfrm>
          <a:prstGeom prst="rect">
            <a:avLst/>
          </a:prstGeom>
          <a:noFill/>
          <a:ln/>
        </p:spPr>
        <p:txBody>
          <a:bodyPr wrap="square" lIns="0" tIns="0" rIns="0" bIns="0" rtlCol="0" anchor="ctr"/>
          <a:lstStyle/>
          <a:p>
            <a:pPr algn="ctr" indent="0" marL="0">
              <a:buNone/>
            </a:pPr>
            <a:r>
              <a:rPr lang="en-US" sz="1100" dirty="0">
                <a:solidFill>
                  <a:srgbClr val="22D3C5"/>
                </a:solidFill>
                <a:latin typeface="Courier New" pitchFamily="34" charset="0"/>
                <a:ea typeface="Courier New" pitchFamily="34" charset="-122"/>
                <a:cs typeface="Courier New" pitchFamily="34" charset="-120"/>
              </a:rPr>
              <a:t>HTTP polling</a:t>
            </a:r>
            <a:endParaRPr lang="en-US" sz="1100" dirty="0"/>
          </a:p>
        </p:txBody>
      </p:sp>
      <p:sp>
        <p:nvSpPr>
          <p:cNvPr id="28" name="Text 25"/>
          <p:cNvSpPr txBox="1"/>
          <p:nvPr/>
        </p:nvSpPr>
        <p:spPr>
          <a:xfrm>
            <a:off x="4526280" y="4892040"/>
            <a:ext cx="3154680" cy="105156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The browser requests /api/snapshot every 2 seconds. Server-Sent Events are not used.</a:t>
            </a:r>
            <a:endParaRPr lang="en-US" sz="1400" dirty="0"/>
          </a:p>
        </p:txBody>
      </p:sp>
      <p:sp>
        <p:nvSpPr>
          <p:cNvPr id="29" name="Shape 26"/>
          <p:cNvSpPr/>
          <p:nvPr/>
        </p:nvSpPr>
        <p:spPr>
          <a:xfrm>
            <a:off x="8046720" y="3794760"/>
            <a:ext cx="3566160" cy="2194560"/>
          </a:xfrm>
          <a:prstGeom prst="roundRect">
            <a:avLst>
              <a:gd name="adj" fmla="val 3333"/>
            </a:avLst>
          </a:prstGeom>
          <a:solidFill>
            <a:srgbClr val="13233D"/>
          </a:solidFill>
          <a:ln w="12700">
            <a:solidFill>
              <a:srgbClr val="2A4468"/>
            </a:solidFill>
            <a:prstDash val="solid"/>
          </a:ln>
        </p:spPr>
      </p:sp>
      <p:sp>
        <p:nvSpPr>
          <p:cNvPr id="30" name="Text 27"/>
          <p:cNvSpPr txBox="1"/>
          <p:nvPr/>
        </p:nvSpPr>
        <p:spPr>
          <a:xfrm>
            <a:off x="8275320" y="3977640"/>
            <a:ext cx="3108960" cy="411480"/>
          </a:xfrm>
          <a:prstGeom prst="rect">
            <a:avLst/>
          </a:prstGeom>
          <a:noFill/>
          <a:ln/>
        </p:spPr>
        <p:txBody>
          <a:bodyPr wrap="square" lIns="0" tIns="0" rIns="0" bIns="0" rtlCol="0" anchor="t"/>
          <a:lstStyle/>
          <a:p>
            <a:pPr indent="0" marL="0">
              <a:buNone/>
            </a:pPr>
            <a:r>
              <a:rPr lang="en-US" sz="1900" b="1" dirty="0">
                <a:solidFill>
                  <a:srgbClr val="F1F6FB"/>
                </a:solidFill>
                <a:latin typeface="Calibri" pitchFamily="34" charset="0"/>
                <a:ea typeface="Calibri" pitchFamily="34" charset="-122"/>
                <a:cs typeface="Calibri" pitchFamily="34" charset="-120"/>
              </a:rPr>
              <a:t>Tests and verification</a:t>
            </a:r>
            <a:endParaRPr lang="en-US" sz="1900" dirty="0"/>
          </a:p>
        </p:txBody>
      </p:sp>
      <p:sp>
        <p:nvSpPr>
          <p:cNvPr id="31" name="Shape 28"/>
          <p:cNvSpPr/>
          <p:nvPr/>
        </p:nvSpPr>
        <p:spPr>
          <a:xfrm>
            <a:off x="8275320" y="4453128"/>
            <a:ext cx="2967228" cy="292608"/>
          </a:xfrm>
          <a:prstGeom prst="roundRect">
            <a:avLst>
              <a:gd name="adj" fmla="val 15625"/>
            </a:avLst>
          </a:prstGeom>
          <a:solidFill>
            <a:srgbClr val="0A101D"/>
          </a:solidFill>
          <a:ln w="9525">
            <a:solidFill>
              <a:srgbClr val="22D3C5"/>
            </a:solidFill>
            <a:prstDash val="solid"/>
          </a:ln>
        </p:spPr>
      </p:sp>
      <p:sp>
        <p:nvSpPr>
          <p:cNvPr id="32" name="Text 29"/>
          <p:cNvSpPr txBox="1"/>
          <p:nvPr/>
        </p:nvSpPr>
        <p:spPr>
          <a:xfrm>
            <a:off x="8275320" y="4453128"/>
            <a:ext cx="2967228" cy="292608"/>
          </a:xfrm>
          <a:prstGeom prst="rect">
            <a:avLst/>
          </a:prstGeom>
          <a:noFill/>
          <a:ln/>
        </p:spPr>
        <p:txBody>
          <a:bodyPr wrap="square" lIns="0" tIns="0" rIns="0" bIns="0" rtlCol="0" anchor="ctr"/>
          <a:lstStyle/>
          <a:p>
            <a:pPr algn="ctr" indent="0" marL="0">
              <a:buNone/>
            </a:pPr>
            <a:r>
              <a:rPr lang="en-US" sz="1100" dirty="0">
                <a:solidFill>
                  <a:srgbClr val="22D3C5"/>
                </a:solidFill>
                <a:latin typeface="Courier New" pitchFamily="34" charset="0"/>
                <a:ea typeface="Courier New" pitchFamily="34" charset="-122"/>
                <a:cs typeface="Courier New" pitchFamily="34" charset="-120"/>
              </a:rPr>
              <a:t>run_tests.sh · verify_tree.py</a:t>
            </a:r>
            <a:endParaRPr lang="en-US" sz="1100" dirty="0"/>
          </a:p>
        </p:txBody>
      </p:sp>
      <p:sp>
        <p:nvSpPr>
          <p:cNvPr id="33" name="Text 30"/>
          <p:cNvSpPr txBox="1"/>
          <p:nvPr/>
        </p:nvSpPr>
        <p:spPr>
          <a:xfrm>
            <a:off x="8275320" y="4892040"/>
            <a:ext cx="3154680" cy="105156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unittest suite across four test files, compile checks, and a ps/pstree cross-check.</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93A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rgbClr val="F1F6FB"/>
                </a:solidFill>
                <a:latin typeface="Calibri" pitchFamily="34" charset="0"/>
                <a:ea typeface="Calibri" pitchFamily="34" charset="-122"/>
                <a:cs typeface="Calibri" pitchFamily="34" charset="-120"/>
              </a:rPr>
              <a:t>Timeline and process identity</a:t>
            </a:r>
            <a:endParaRPr lang="en-US" sz="3400" dirty="0"/>
          </a:p>
        </p:txBody>
      </p:sp>
      <p:sp>
        <p:nvSpPr>
          <p:cNvPr id="4" name="Shape 1"/>
          <p:cNvSpPr/>
          <p:nvPr/>
        </p:nvSpPr>
        <p:spPr>
          <a:xfrm>
            <a:off x="548640" y="1371600"/>
            <a:ext cx="3566160" cy="3337560"/>
          </a:xfrm>
          <a:prstGeom prst="roundRect">
            <a:avLst>
              <a:gd name="adj" fmla="val 2192"/>
            </a:avLst>
          </a:prstGeom>
          <a:solidFill>
            <a:srgbClr val="13233D"/>
          </a:solidFill>
          <a:ln w="12700">
            <a:solidFill>
              <a:srgbClr val="2A4468"/>
            </a:solidFill>
            <a:prstDash val="solid"/>
          </a:ln>
        </p:spPr>
      </p:sp>
      <p:sp>
        <p:nvSpPr>
          <p:cNvPr id="5" name="Text 2"/>
          <p:cNvSpPr txBox="1"/>
          <p:nvPr/>
        </p:nvSpPr>
        <p:spPr>
          <a:xfrm>
            <a:off x="777240" y="1508760"/>
            <a:ext cx="3108960" cy="365760"/>
          </a:xfrm>
          <a:prstGeom prst="rect">
            <a:avLst/>
          </a:prstGeom>
          <a:noFill/>
          <a:ln/>
        </p:spPr>
        <p:txBody>
          <a:bodyPr wrap="square" lIns="0" tIns="0" rIns="0" bIns="0" rtlCol="0" anchor="t"/>
          <a:lstStyle/>
          <a:p>
            <a:pPr indent="0" marL="0">
              <a:buNone/>
            </a:pPr>
            <a:r>
              <a:rPr lang="en-US" sz="1900" b="1" dirty="0">
                <a:solidFill>
                  <a:srgbClr val="F1F6FB"/>
                </a:solidFill>
                <a:latin typeface="Calibri" pitchFamily="34" charset="0"/>
                <a:ea typeface="Calibri" pitchFamily="34" charset="-122"/>
                <a:cs typeface="Calibri" pitchFamily="34" charset="-120"/>
              </a:rPr>
              <a:t>Snapshot-inferred</a:t>
            </a:r>
            <a:endParaRPr lang="en-US" sz="1900" dirty="0"/>
          </a:p>
        </p:txBody>
      </p:sp>
      <p:sp>
        <p:nvSpPr>
          <p:cNvPr id="6" name="Shape 3"/>
          <p:cNvSpPr/>
          <p:nvPr/>
        </p:nvSpPr>
        <p:spPr>
          <a:xfrm>
            <a:off x="777240" y="1965960"/>
            <a:ext cx="2194560" cy="292608"/>
          </a:xfrm>
          <a:prstGeom prst="roundRect">
            <a:avLst>
              <a:gd name="adj" fmla="val 15625"/>
            </a:avLst>
          </a:prstGeom>
          <a:solidFill>
            <a:srgbClr val="0A101D"/>
          </a:solidFill>
          <a:ln w="9525">
            <a:solidFill>
              <a:srgbClr val="A9BBD0"/>
            </a:solidFill>
            <a:prstDash val="solid"/>
          </a:ln>
        </p:spPr>
      </p:sp>
      <p:sp>
        <p:nvSpPr>
          <p:cNvPr id="7" name="Text 4"/>
          <p:cNvSpPr txBox="1"/>
          <p:nvPr/>
        </p:nvSpPr>
        <p:spPr>
          <a:xfrm>
            <a:off x="777240" y="1965960"/>
            <a:ext cx="2194560" cy="292608"/>
          </a:xfrm>
          <a:prstGeom prst="rect">
            <a:avLst/>
          </a:prstGeom>
          <a:noFill/>
          <a:ln/>
        </p:spPr>
        <p:txBody>
          <a:bodyPr wrap="square" lIns="0" tIns="0" rIns="0" bIns="0" rtlCol="0" anchor="ctr"/>
          <a:lstStyle/>
          <a:p>
            <a:pPr algn="ctr" indent="0" marL="0">
              <a:buNone/>
            </a:pPr>
            <a:r>
              <a:rPr lang="en-US" sz="1100" dirty="0">
                <a:solidFill>
                  <a:srgbClr val="A9BBD0"/>
                </a:solidFill>
                <a:latin typeface="Courier New" pitchFamily="34" charset="0"/>
                <a:ea typeface="Courier New" pitchFamily="34" charset="-122"/>
                <a:cs typeface="Courier New" pitchFamily="34" charset="-120"/>
              </a:rPr>
              <a:t>Inferred from snapshots</a:t>
            </a:r>
            <a:endParaRPr lang="en-US" sz="1100" dirty="0"/>
          </a:p>
        </p:txBody>
      </p:sp>
      <p:sp>
        <p:nvSpPr>
          <p:cNvPr id="8" name="Shape 5"/>
          <p:cNvSpPr/>
          <p:nvPr/>
        </p:nvSpPr>
        <p:spPr>
          <a:xfrm>
            <a:off x="777240" y="2423160"/>
            <a:ext cx="1371600" cy="640080"/>
          </a:xfrm>
          <a:prstGeom prst="roundRect">
            <a:avLst>
              <a:gd name="adj" fmla="val 11429"/>
            </a:avLst>
          </a:prstGeom>
          <a:solidFill>
            <a:srgbClr val="1A2E4D"/>
          </a:solidFill>
          <a:ln w="12700">
            <a:solidFill>
              <a:srgbClr val="2A4468"/>
            </a:solidFill>
            <a:prstDash val="solid"/>
          </a:ln>
        </p:spPr>
      </p:sp>
      <p:sp>
        <p:nvSpPr>
          <p:cNvPr id="9" name="Text 6"/>
          <p:cNvSpPr txBox="1"/>
          <p:nvPr/>
        </p:nvSpPr>
        <p:spPr>
          <a:xfrm>
            <a:off x="777240" y="2423160"/>
            <a:ext cx="1371600" cy="640080"/>
          </a:xfrm>
          <a:prstGeom prst="rect">
            <a:avLst/>
          </a:prstGeom>
          <a:noFill/>
          <a:ln/>
        </p:spPr>
        <p:txBody>
          <a:bodyPr wrap="square" lIns="0" tIns="0" rIns="0" bIns="0" rtlCol="0" anchor="ctr"/>
          <a:lstStyle/>
          <a:p>
            <a:pPr algn="ctr" indent="0" marL="0">
              <a:buNone/>
            </a:pPr>
            <a:r>
              <a:rPr lang="en-US" sz="1400" dirty="0">
                <a:solidFill>
                  <a:srgbClr val="F1F6FB"/>
                </a:solidFill>
                <a:latin typeface="Calibri" pitchFamily="34" charset="0"/>
                <a:ea typeface="Calibri" pitchFamily="34" charset="-122"/>
                <a:cs typeface="Calibri" pitchFamily="34" charset="-120"/>
              </a:rPr>
              <a:t>Snapshot 1</a:t>
            </a:r>
            <a:endParaRPr lang="en-US" sz="1400" dirty="0"/>
          </a:p>
        </p:txBody>
      </p:sp>
      <p:sp>
        <p:nvSpPr>
          <p:cNvPr id="10" name="Shape 7"/>
          <p:cNvSpPr/>
          <p:nvPr/>
        </p:nvSpPr>
        <p:spPr>
          <a:xfrm>
            <a:off x="2606040" y="2423160"/>
            <a:ext cx="1280160" cy="640080"/>
          </a:xfrm>
          <a:prstGeom prst="roundRect">
            <a:avLst>
              <a:gd name="adj" fmla="val 11429"/>
            </a:avLst>
          </a:prstGeom>
          <a:solidFill>
            <a:srgbClr val="1A2E4D"/>
          </a:solidFill>
          <a:ln w="12700">
            <a:solidFill>
              <a:srgbClr val="2A4468"/>
            </a:solidFill>
            <a:prstDash val="solid"/>
          </a:ln>
        </p:spPr>
      </p:sp>
      <p:sp>
        <p:nvSpPr>
          <p:cNvPr id="11" name="Text 8"/>
          <p:cNvSpPr txBox="1"/>
          <p:nvPr/>
        </p:nvSpPr>
        <p:spPr>
          <a:xfrm>
            <a:off x="2606040" y="2423160"/>
            <a:ext cx="1280160" cy="640080"/>
          </a:xfrm>
          <a:prstGeom prst="rect">
            <a:avLst/>
          </a:prstGeom>
          <a:noFill/>
          <a:ln/>
        </p:spPr>
        <p:txBody>
          <a:bodyPr wrap="square" lIns="0" tIns="0" rIns="0" bIns="0" rtlCol="0" anchor="ctr"/>
          <a:lstStyle/>
          <a:p>
            <a:pPr algn="ctr" indent="0" marL="0">
              <a:buNone/>
            </a:pPr>
            <a:r>
              <a:rPr lang="en-US" sz="1400" dirty="0">
                <a:solidFill>
                  <a:srgbClr val="F1F6FB"/>
                </a:solidFill>
                <a:latin typeface="Calibri" pitchFamily="34" charset="0"/>
                <a:ea typeface="Calibri" pitchFamily="34" charset="-122"/>
                <a:cs typeface="Calibri" pitchFamily="34" charset="-120"/>
              </a:rPr>
              <a:t>Snapshot 2</a:t>
            </a:r>
            <a:endParaRPr lang="en-US" sz="1400" dirty="0"/>
          </a:p>
        </p:txBody>
      </p:sp>
      <p:sp>
        <p:nvSpPr>
          <p:cNvPr id="12" name="Shape 9"/>
          <p:cNvSpPr/>
          <p:nvPr/>
        </p:nvSpPr>
        <p:spPr>
          <a:xfrm>
            <a:off x="2148840" y="2743200"/>
            <a:ext cx="457200" cy="0"/>
          </a:xfrm>
          <a:prstGeom prst="line">
            <a:avLst/>
          </a:prstGeom>
          <a:noFill/>
          <a:ln w="22225">
            <a:solidFill>
              <a:srgbClr val="22D3C5"/>
            </a:solidFill>
            <a:prstDash val="solid"/>
            <a:tailEnd type="triangle"/>
          </a:ln>
        </p:spPr>
      </p:sp>
      <p:sp>
        <p:nvSpPr>
          <p:cNvPr id="13" name="Text 10"/>
          <p:cNvSpPr txBox="1"/>
          <p:nvPr/>
        </p:nvSpPr>
        <p:spPr>
          <a:xfrm>
            <a:off x="777240" y="3291840"/>
            <a:ext cx="3108960" cy="128016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Compare them: process first seen, or no longer visible. The exit itself was not seen.</a:t>
            </a:r>
            <a:endParaRPr lang="en-US" sz="1400" dirty="0"/>
          </a:p>
        </p:txBody>
      </p:sp>
      <p:sp>
        <p:nvSpPr>
          <p:cNvPr id="14" name="Shape 11"/>
          <p:cNvSpPr/>
          <p:nvPr/>
        </p:nvSpPr>
        <p:spPr>
          <a:xfrm>
            <a:off x="4297680" y="1371600"/>
            <a:ext cx="3566160" cy="3337560"/>
          </a:xfrm>
          <a:prstGeom prst="roundRect">
            <a:avLst>
              <a:gd name="adj" fmla="val 2192"/>
            </a:avLst>
          </a:prstGeom>
          <a:solidFill>
            <a:srgbClr val="13233D"/>
          </a:solidFill>
          <a:ln w="12700">
            <a:solidFill>
              <a:srgbClr val="F5B94A"/>
            </a:solidFill>
            <a:prstDash val="dash"/>
          </a:ln>
        </p:spPr>
      </p:sp>
      <p:sp>
        <p:nvSpPr>
          <p:cNvPr id="15" name="Text 12"/>
          <p:cNvSpPr txBox="1"/>
          <p:nvPr/>
        </p:nvSpPr>
        <p:spPr>
          <a:xfrm>
            <a:off x="4526280" y="1508760"/>
            <a:ext cx="3108960" cy="365760"/>
          </a:xfrm>
          <a:prstGeom prst="rect">
            <a:avLst/>
          </a:prstGeom>
          <a:noFill/>
          <a:ln/>
        </p:spPr>
        <p:txBody>
          <a:bodyPr wrap="square" lIns="0" tIns="0" rIns="0" bIns="0" rtlCol="0" anchor="t"/>
          <a:lstStyle/>
          <a:p>
            <a:pPr indent="0" marL="0">
              <a:buNone/>
            </a:pPr>
            <a:r>
              <a:rPr lang="en-US" sz="1900" b="1" dirty="0">
                <a:solidFill>
                  <a:srgbClr val="F1F6FB"/>
                </a:solidFill>
                <a:latin typeface="Calibri" pitchFamily="34" charset="0"/>
                <a:ea typeface="Calibri" pitchFamily="34" charset="-122"/>
                <a:cs typeface="Calibri" pitchFamily="34" charset="-120"/>
              </a:rPr>
              <a:t>Kernel events (optional)</a:t>
            </a:r>
            <a:endParaRPr lang="en-US" sz="1900" dirty="0"/>
          </a:p>
        </p:txBody>
      </p:sp>
      <p:sp>
        <p:nvSpPr>
          <p:cNvPr id="16" name="Shape 13"/>
          <p:cNvSpPr/>
          <p:nvPr/>
        </p:nvSpPr>
        <p:spPr>
          <a:xfrm>
            <a:off x="4526280" y="1965960"/>
            <a:ext cx="2194560" cy="292608"/>
          </a:xfrm>
          <a:prstGeom prst="roundRect">
            <a:avLst>
              <a:gd name="adj" fmla="val 15625"/>
            </a:avLst>
          </a:prstGeom>
          <a:solidFill>
            <a:srgbClr val="0A101D"/>
          </a:solidFill>
          <a:ln w="9525">
            <a:solidFill>
              <a:srgbClr val="F5B94A"/>
            </a:solidFill>
            <a:prstDash val="solid"/>
          </a:ln>
        </p:spPr>
      </p:sp>
      <p:sp>
        <p:nvSpPr>
          <p:cNvPr id="17" name="Text 14"/>
          <p:cNvSpPr txBox="1"/>
          <p:nvPr/>
        </p:nvSpPr>
        <p:spPr>
          <a:xfrm>
            <a:off x="4526280" y="1965960"/>
            <a:ext cx="2194560" cy="292608"/>
          </a:xfrm>
          <a:prstGeom prst="rect">
            <a:avLst/>
          </a:prstGeom>
          <a:noFill/>
          <a:ln/>
        </p:spPr>
        <p:txBody>
          <a:bodyPr wrap="square" lIns="0" tIns="0" rIns="0" bIns="0" rtlCol="0" anchor="ctr"/>
          <a:lstStyle/>
          <a:p>
            <a:pPr algn="ctr" indent="0" marL="0">
              <a:buNone/>
            </a:pPr>
            <a:r>
              <a:rPr lang="en-US" sz="1100" dirty="0">
                <a:solidFill>
                  <a:srgbClr val="F5B94A"/>
                </a:solidFill>
                <a:latin typeface="Courier New" pitchFamily="34" charset="0"/>
                <a:ea typeface="Courier New" pitchFamily="34" charset="-122"/>
                <a:cs typeface="Courier New" pitchFamily="34" charset="-120"/>
              </a:rPr>
              <a:t>Kernel event · observed</a:t>
            </a:r>
            <a:endParaRPr lang="en-US" sz="1100" dirty="0"/>
          </a:p>
        </p:txBody>
      </p:sp>
      <p:sp>
        <p:nvSpPr>
          <p:cNvPr id="18" name="Text 15"/>
          <p:cNvSpPr txBox="1"/>
          <p:nvPr/>
        </p:nvSpPr>
        <p:spPr>
          <a:xfrm>
            <a:off x="4526280" y="2468880"/>
            <a:ext cx="3108960" cy="365760"/>
          </a:xfrm>
          <a:prstGeom prst="rect">
            <a:avLst/>
          </a:prstGeom>
          <a:noFill/>
          <a:ln/>
        </p:spPr>
        <p:txBody>
          <a:bodyPr wrap="square" lIns="0" tIns="0" rIns="0" bIns="0" rtlCol="0" anchor="t"/>
          <a:lstStyle/>
          <a:p>
            <a:pPr indent="0" marL="0">
              <a:buNone/>
            </a:pPr>
            <a:r>
              <a:rPr lang="en-US" sz="1800" dirty="0">
                <a:solidFill>
                  <a:srgbClr val="F5B94A"/>
                </a:solidFill>
                <a:latin typeface="Courier New" pitchFamily="34" charset="0"/>
                <a:ea typeface="Courier New" pitchFamily="34" charset="-122"/>
                <a:cs typeface="Courier New" pitchFamily="34" charset="-120"/>
              </a:rPr>
              <a:t>fork · exec · exit</a:t>
            </a:r>
            <a:endParaRPr lang="en-US" sz="1800" dirty="0"/>
          </a:p>
        </p:txBody>
      </p:sp>
      <p:sp>
        <p:nvSpPr>
          <p:cNvPr id="19" name="Text 16"/>
          <p:cNvSpPr txBox="1"/>
          <p:nvPr/>
        </p:nvSpPr>
        <p:spPr>
          <a:xfrm>
            <a:off x="4526280" y="3017520"/>
            <a:ext cx="3108960" cy="164592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Reported directly by Linux via CN_PROC when the kernel supports it and permission is available. Can lose events. Not an audit log.</a:t>
            </a:r>
            <a:endParaRPr lang="en-US" sz="1400" dirty="0"/>
          </a:p>
        </p:txBody>
      </p:sp>
      <p:sp>
        <p:nvSpPr>
          <p:cNvPr id="20" name="Shape 17"/>
          <p:cNvSpPr/>
          <p:nvPr/>
        </p:nvSpPr>
        <p:spPr>
          <a:xfrm>
            <a:off x="8046720" y="1371600"/>
            <a:ext cx="3566160" cy="3337560"/>
          </a:xfrm>
          <a:prstGeom prst="roundRect">
            <a:avLst>
              <a:gd name="adj" fmla="val 2192"/>
            </a:avLst>
          </a:prstGeom>
          <a:solidFill>
            <a:srgbClr val="13233D"/>
          </a:solidFill>
          <a:ln w="12700">
            <a:solidFill>
              <a:srgbClr val="0E7C86"/>
            </a:solidFill>
            <a:prstDash val="solid"/>
          </a:ln>
        </p:spPr>
      </p:sp>
      <p:sp>
        <p:nvSpPr>
          <p:cNvPr id="21" name="Text 18"/>
          <p:cNvSpPr txBox="1"/>
          <p:nvPr/>
        </p:nvSpPr>
        <p:spPr>
          <a:xfrm>
            <a:off x="8275320" y="1508760"/>
            <a:ext cx="3108960" cy="365760"/>
          </a:xfrm>
          <a:prstGeom prst="rect">
            <a:avLst/>
          </a:prstGeom>
          <a:noFill/>
          <a:ln/>
        </p:spPr>
        <p:txBody>
          <a:bodyPr wrap="square" lIns="0" tIns="0" rIns="0" bIns="0" rtlCol="0" anchor="t"/>
          <a:lstStyle/>
          <a:p>
            <a:pPr indent="0" marL="0">
              <a:buNone/>
            </a:pPr>
            <a:r>
              <a:rPr lang="en-US" sz="1900" b="1" dirty="0">
                <a:solidFill>
                  <a:srgbClr val="F1F6FB"/>
                </a:solidFill>
                <a:latin typeface="Calibri" pitchFamily="34" charset="0"/>
                <a:ea typeface="Calibri" pitchFamily="34" charset="-122"/>
                <a:cs typeface="Calibri" pitchFamily="34" charset="-120"/>
              </a:rPr>
              <a:t>Why PID alone fails</a:t>
            </a:r>
            <a:endParaRPr lang="en-US" sz="1900" dirty="0"/>
          </a:p>
        </p:txBody>
      </p:sp>
      <p:sp>
        <p:nvSpPr>
          <p:cNvPr id="22" name="Text 19"/>
          <p:cNvSpPr txBox="1"/>
          <p:nvPr/>
        </p:nvSpPr>
        <p:spPr>
          <a:xfrm>
            <a:off x="8275320" y="1965960"/>
            <a:ext cx="3154680" cy="502920"/>
          </a:xfrm>
          <a:prstGeom prst="rect">
            <a:avLst/>
          </a:prstGeom>
          <a:noFill/>
          <a:ln/>
        </p:spPr>
        <p:txBody>
          <a:bodyPr wrap="square" lIns="0" tIns="0" rIns="0" bIns="0" rtlCol="0" anchor="t"/>
          <a:lstStyle/>
          <a:p>
            <a:pPr indent="0" marL="0">
              <a:buNone/>
            </a:pPr>
            <a:r>
              <a:rPr lang="en-US" sz="1200" dirty="0">
                <a:solidFill>
                  <a:srgbClr val="22D3C5"/>
                </a:solidFill>
                <a:latin typeface="Courier New" pitchFamily="34" charset="0"/>
                <a:ea typeface="Courier New" pitchFamily="34" charset="-122"/>
                <a:cs typeface="Courier New" pitchFamily="34" charset="-120"/>
              </a:rPr>
              <a:t>identity = (boot_id, pid, start_time_ticks)</a:t>
            </a:r>
            <a:endParaRPr lang="en-US" sz="1200" dirty="0"/>
          </a:p>
        </p:txBody>
      </p:sp>
      <p:sp>
        <p:nvSpPr>
          <p:cNvPr id="23" name="Shape 20"/>
          <p:cNvSpPr/>
          <p:nvPr/>
        </p:nvSpPr>
        <p:spPr>
          <a:xfrm>
            <a:off x="8275320" y="2606040"/>
            <a:ext cx="1417320" cy="960120"/>
          </a:xfrm>
          <a:prstGeom prst="roundRect">
            <a:avLst>
              <a:gd name="adj" fmla="val 7619"/>
            </a:avLst>
          </a:prstGeom>
          <a:solidFill>
            <a:srgbClr val="0A101D"/>
          </a:solidFill>
          <a:ln w="12700">
            <a:solidFill>
              <a:srgbClr val="2A4468"/>
            </a:solidFill>
            <a:prstDash val="solid"/>
          </a:ln>
        </p:spPr>
      </p:sp>
      <p:sp>
        <p:nvSpPr>
          <p:cNvPr id="24" name="Text 21"/>
          <p:cNvSpPr txBox="1"/>
          <p:nvPr/>
        </p:nvSpPr>
        <p:spPr>
          <a:xfrm>
            <a:off x="8275320" y="2606040"/>
            <a:ext cx="1417320" cy="960120"/>
          </a:xfrm>
          <a:prstGeom prst="rect">
            <a:avLst/>
          </a:prstGeom>
          <a:noFill/>
          <a:ln/>
        </p:spPr>
        <p:txBody>
          <a:bodyPr wrap="square" lIns="0" tIns="0" rIns="0" bIns="0" rtlCol="0" anchor="ctr"/>
          <a:lstStyle/>
          <a:p>
            <a:pPr algn="ctr" indent="0" marL="0">
              <a:buNone/>
            </a:pPr>
            <a:r>
              <a:rPr lang="en-US" sz="1300" b="1" dirty="0">
                <a:solidFill>
                  <a:srgbClr val="F1F6FB"/>
                </a:solidFill>
                <a:latin typeface="Courier New" pitchFamily="34" charset="0"/>
                <a:ea typeface="Courier New" pitchFamily="34" charset="-122"/>
                <a:cs typeface="Courier New" pitchFamily="34" charset="-120"/>
              </a:rPr>
              <a:t>PID 4021</a:t>
            </a:r>
            <a:endParaRPr lang="en-US" sz="1300" dirty="0"/>
          </a:p>
          <a:p>
            <a:pPr algn="ctr" indent="0" marL="0">
              <a:buNone/>
            </a:pPr>
            <a:r>
              <a:rPr lang="en-US" sz="1300" dirty="0">
                <a:solidFill>
                  <a:srgbClr val="F1F6FB"/>
                </a:solidFill>
                <a:latin typeface="Courier New" pitchFamily="34" charset="0"/>
                <a:ea typeface="Courier New" pitchFamily="34" charset="-122"/>
                <a:cs typeface="Courier New" pitchFamily="34" charset="-120"/>
              </a:rPr>
              <a:t>start 18500</a:t>
            </a:r>
            <a:endParaRPr lang="en-US" sz="1300" dirty="0"/>
          </a:p>
        </p:txBody>
      </p:sp>
      <p:sp>
        <p:nvSpPr>
          <p:cNvPr id="25" name="Shape 22"/>
          <p:cNvSpPr/>
          <p:nvPr/>
        </p:nvSpPr>
        <p:spPr>
          <a:xfrm>
            <a:off x="9966960" y="2606040"/>
            <a:ext cx="1417320" cy="960120"/>
          </a:xfrm>
          <a:prstGeom prst="roundRect">
            <a:avLst>
              <a:gd name="adj" fmla="val 7619"/>
            </a:avLst>
          </a:prstGeom>
          <a:solidFill>
            <a:srgbClr val="0A101D"/>
          </a:solidFill>
          <a:ln w="12700">
            <a:solidFill>
              <a:srgbClr val="2A4468"/>
            </a:solidFill>
            <a:prstDash val="solid"/>
          </a:ln>
        </p:spPr>
      </p:sp>
      <p:sp>
        <p:nvSpPr>
          <p:cNvPr id="26" name="Text 23"/>
          <p:cNvSpPr txBox="1"/>
          <p:nvPr/>
        </p:nvSpPr>
        <p:spPr>
          <a:xfrm>
            <a:off x="9966960" y="2606040"/>
            <a:ext cx="1417320" cy="960120"/>
          </a:xfrm>
          <a:prstGeom prst="rect">
            <a:avLst/>
          </a:prstGeom>
          <a:noFill/>
          <a:ln/>
        </p:spPr>
        <p:txBody>
          <a:bodyPr wrap="square" lIns="0" tIns="0" rIns="0" bIns="0" rtlCol="0" anchor="ctr"/>
          <a:lstStyle/>
          <a:p>
            <a:pPr algn="ctr" indent="0" marL="0">
              <a:buNone/>
            </a:pPr>
            <a:r>
              <a:rPr lang="en-US" sz="1300" b="1" dirty="0">
                <a:solidFill>
                  <a:srgbClr val="F1F6FB"/>
                </a:solidFill>
                <a:latin typeface="Courier New" pitchFamily="34" charset="0"/>
                <a:ea typeface="Courier New" pitchFamily="34" charset="-122"/>
                <a:cs typeface="Courier New" pitchFamily="34" charset="-120"/>
              </a:rPr>
              <a:t>PID 4021</a:t>
            </a:r>
            <a:endParaRPr lang="en-US" sz="1300" dirty="0"/>
          </a:p>
          <a:p>
            <a:pPr algn="ctr" indent="0" marL="0">
              <a:buNone/>
            </a:pPr>
            <a:r>
              <a:rPr lang="en-US" sz="1300" dirty="0">
                <a:solidFill>
                  <a:srgbClr val="F1F6FB"/>
                </a:solidFill>
                <a:latin typeface="Courier New" pitchFamily="34" charset="0"/>
                <a:ea typeface="Courier New" pitchFamily="34" charset="-122"/>
                <a:cs typeface="Courier New" pitchFamily="34" charset="-120"/>
              </a:rPr>
              <a:t>start 91200</a:t>
            </a:r>
            <a:endParaRPr lang="en-US" sz="1300" dirty="0"/>
          </a:p>
        </p:txBody>
      </p:sp>
      <p:sp>
        <p:nvSpPr>
          <p:cNvPr id="27" name="Text 24"/>
          <p:cNvSpPr txBox="1"/>
          <p:nvPr/>
        </p:nvSpPr>
        <p:spPr>
          <a:xfrm>
            <a:off x="9692640" y="2788920"/>
            <a:ext cx="274320" cy="548640"/>
          </a:xfrm>
          <a:prstGeom prst="rect">
            <a:avLst/>
          </a:prstGeom>
          <a:noFill/>
          <a:ln/>
        </p:spPr>
        <p:txBody>
          <a:bodyPr wrap="square" lIns="0" tIns="0" rIns="0" bIns="0" rtlCol="0" anchor="t"/>
          <a:lstStyle/>
          <a:p>
            <a:pPr algn="ctr" indent="0" marL="0">
              <a:buNone/>
            </a:pPr>
            <a:r>
              <a:rPr lang="en-US" sz="2600" b="1" dirty="0">
                <a:solidFill>
                  <a:srgbClr val="F5B94A"/>
                </a:solidFill>
                <a:latin typeface="Calibri" pitchFamily="34" charset="0"/>
                <a:ea typeface="Calibri" pitchFamily="34" charset="-122"/>
                <a:cs typeface="Calibri" pitchFamily="34" charset="-120"/>
              </a:rPr>
              <a:t>≠</a:t>
            </a:r>
            <a:endParaRPr lang="en-US" sz="2600" dirty="0"/>
          </a:p>
        </p:txBody>
      </p:sp>
      <p:sp>
        <p:nvSpPr>
          <p:cNvPr id="28" name="Text 25"/>
          <p:cNvSpPr txBox="1"/>
          <p:nvPr/>
        </p:nvSpPr>
        <p:spPr>
          <a:xfrm>
            <a:off x="8275320" y="3749040"/>
            <a:ext cx="3154680" cy="82296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Same PID, two different processes. Illustrative numbers.</a:t>
            </a:r>
            <a:endParaRPr lang="en-US" sz="1400" dirty="0"/>
          </a:p>
        </p:txBody>
      </p:sp>
      <p:sp>
        <p:nvSpPr>
          <p:cNvPr id="29" name="Shape 26"/>
          <p:cNvSpPr/>
          <p:nvPr/>
        </p:nvSpPr>
        <p:spPr>
          <a:xfrm>
            <a:off x="548640" y="4937760"/>
            <a:ext cx="11064240" cy="1143000"/>
          </a:xfrm>
          <a:prstGeom prst="roundRect">
            <a:avLst>
              <a:gd name="adj" fmla="val 6400"/>
            </a:avLst>
          </a:prstGeom>
          <a:solidFill>
            <a:srgbClr val="0A101D"/>
          </a:solidFill>
          <a:ln w="12700">
            <a:solidFill>
              <a:srgbClr val="F5B94A"/>
            </a:solidFill>
            <a:prstDash val="solid"/>
          </a:ln>
        </p:spPr>
      </p:sp>
      <p:sp>
        <p:nvSpPr>
          <p:cNvPr id="30" name="Text 27"/>
          <p:cNvSpPr txBox="1"/>
          <p:nvPr/>
        </p:nvSpPr>
        <p:spPr>
          <a:xfrm>
            <a:off x="777240" y="5029200"/>
            <a:ext cx="1371600" cy="320040"/>
          </a:xfrm>
          <a:prstGeom prst="rect">
            <a:avLst/>
          </a:prstGeom>
          <a:noFill/>
          <a:ln/>
        </p:spPr>
        <p:txBody>
          <a:bodyPr wrap="square" lIns="0" tIns="0" rIns="0" bIns="0" rtlCol="0" anchor="t"/>
          <a:lstStyle/>
          <a:p>
            <a:pPr indent="0" marL="0">
              <a:buNone/>
            </a:pPr>
            <a:r>
              <a:rPr lang="en-US" sz="1600" b="1" dirty="0">
                <a:solidFill>
                  <a:srgbClr val="F5B94A"/>
                </a:solidFill>
                <a:latin typeface="Calibri" pitchFamily="34" charset="0"/>
                <a:ea typeface="Calibri" pitchFamily="34" charset="-122"/>
                <a:cs typeface="Calibri" pitchFamily="34" charset="-120"/>
              </a:rPr>
              <a:t>Limits</a:t>
            </a:r>
            <a:endParaRPr lang="en-US" sz="1600" dirty="0"/>
          </a:p>
        </p:txBody>
      </p:sp>
      <p:sp>
        <p:nvSpPr>
          <p:cNvPr id="31" name="Text 28"/>
          <p:cNvSpPr txBox="1"/>
          <p:nvPr/>
        </p:nvSpPr>
        <p:spPr>
          <a:xfrm>
            <a:off x="777240" y="5376672"/>
            <a:ext cx="10607040" cy="685800"/>
          </a:xfrm>
          <a:prstGeom prst="rect">
            <a:avLst/>
          </a:prstGeom>
          <a:noFill/>
          <a:ln/>
        </p:spPr>
        <p:txBody>
          <a:bodyPr wrap="square" lIns="0" tIns="0" rIns="0" bIns="0" rtlCol="0" anchor="t"/>
          <a:lstStyle/>
          <a:p>
            <a:pPr indent="0" marL="0">
              <a:buNone/>
            </a:pPr>
            <a:r>
              <a:rPr lang="en-US" sz="1400" dirty="0">
                <a:solidFill>
                  <a:srgbClr val="F1F6FB"/>
                </a:solidFill>
                <a:latin typeface="Calibri" pitchFamily="34" charset="0"/>
                <a:ea typeface="Calibri" pitchFamily="34" charset="-122"/>
                <a:cs typeface="Calibri" pitchFamily="34" charset="-120"/>
              </a:rPr>
              <a:t>Snapshots are best-effort and not atomic, so very short-lived processes can be missed. Event collection is optional, may be unavailable, and may lose events. A missing process may have exited or been unreadable.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93A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rgbClr val="F1F6FB"/>
                </a:solidFill>
                <a:latin typeface="Calibri" pitchFamily="34" charset="0"/>
                <a:ea typeface="Calibri" pitchFamily="34" charset="-122"/>
                <a:cs typeface="Calibri" pitchFamily="34" charset="-120"/>
              </a:rPr>
              <a:t>Process Lab: five guided experiments</a:t>
            </a:r>
            <a:endParaRPr lang="en-US" sz="3400" dirty="0"/>
          </a:p>
        </p:txBody>
      </p:sp>
      <p:sp>
        <p:nvSpPr>
          <p:cNvPr id="4" name="Shape 1"/>
          <p:cNvSpPr/>
          <p:nvPr/>
        </p:nvSpPr>
        <p:spPr>
          <a:xfrm>
            <a:off x="548640" y="1371600"/>
            <a:ext cx="2103120" cy="3749040"/>
          </a:xfrm>
          <a:prstGeom prst="roundRect">
            <a:avLst>
              <a:gd name="adj" fmla="val 3478"/>
            </a:avLst>
          </a:prstGeom>
          <a:solidFill>
            <a:srgbClr val="13233D"/>
          </a:solidFill>
          <a:ln w="12700">
            <a:solidFill>
              <a:srgbClr val="2A4468"/>
            </a:solidFill>
            <a:prstDash val="solid"/>
          </a:ln>
        </p:spPr>
      </p:sp>
      <p:sp>
        <p:nvSpPr>
          <p:cNvPr id="5" name="Shape 2"/>
          <p:cNvSpPr/>
          <p:nvPr/>
        </p:nvSpPr>
        <p:spPr>
          <a:xfrm>
            <a:off x="731520" y="1554480"/>
            <a:ext cx="457200" cy="457200"/>
          </a:xfrm>
          <a:prstGeom prst="ellipse">
            <a:avLst/>
          </a:prstGeom>
          <a:solidFill>
            <a:srgbClr val="0E7C86"/>
          </a:solidFill>
          <a:ln w="12700">
            <a:solidFill>
              <a:srgbClr val="22D3C5"/>
            </a:solidFill>
            <a:prstDash val="solid"/>
          </a:ln>
        </p:spPr>
      </p:sp>
      <p:sp>
        <p:nvSpPr>
          <p:cNvPr id="6"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600" b="1" dirty="0">
                <a:solidFill>
                  <a:srgbClr val="F1F6FB"/>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731520" y="2194560"/>
            <a:ext cx="1783080" cy="685800"/>
          </a:xfrm>
          <a:prstGeom prst="rect">
            <a:avLst/>
          </a:prstGeom>
          <a:noFill/>
          <a:ln/>
        </p:spPr>
        <p:txBody>
          <a:bodyPr wrap="square" lIns="0" tIns="0" rIns="0" bIns="0" rtlCol="0" anchor="t"/>
          <a:lstStyle/>
          <a:p>
            <a:pPr indent="0" marL="0">
              <a:buNone/>
            </a:pPr>
            <a:r>
              <a:rPr lang="en-US" sz="1600" b="1" dirty="0">
                <a:solidFill>
                  <a:srgbClr val="F1F6FB"/>
                </a:solidFill>
                <a:latin typeface="Calibri" pitchFamily="34" charset="0"/>
                <a:ea typeface="Calibri" pitchFamily="34" charset="-122"/>
                <a:cs typeface="Calibri" pitchFamily="34" charset="-120"/>
              </a:rPr>
              <a:t>Zombie</a:t>
            </a:r>
            <a:endParaRPr lang="en-US" sz="1600" dirty="0"/>
          </a:p>
        </p:txBody>
      </p:sp>
      <p:sp>
        <p:nvSpPr>
          <p:cNvPr id="8" name="Text 5"/>
          <p:cNvSpPr txBox="1"/>
          <p:nvPr/>
        </p:nvSpPr>
        <p:spPr>
          <a:xfrm>
            <a:off x="731520" y="2926080"/>
            <a:ext cx="1783080" cy="1554480"/>
          </a:xfrm>
          <a:prstGeom prst="rect">
            <a:avLst/>
          </a:prstGeom>
          <a:noFill/>
          <a:ln/>
        </p:spPr>
        <p:txBody>
          <a:bodyPr wrap="square" lIns="0" tIns="0" rIns="0" bIns="0" rtlCol="0" anchor="t"/>
          <a:lstStyle/>
          <a:p>
            <a:pPr indent="0" marL="0">
              <a:buNone/>
            </a:pPr>
            <a:r>
              <a:rPr lang="en-US" sz="1300" dirty="0">
                <a:solidFill>
                  <a:srgbClr val="A9BBD0"/>
                </a:solidFill>
                <a:latin typeface="Calibri" pitchFamily="34" charset="0"/>
                <a:ea typeface="Calibri" pitchFamily="34" charset="-122"/>
                <a:cs typeface="Calibri" pitchFamily="34" charset="-120"/>
              </a:rPr>
              <a:t>Child has exited, but the parent has not collected its exit status yet. Shows as state Z.</a:t>
            </a:r>
            <a:endParaRPr lang="en-US" sz="1300" dirty="0"/>
          </a:p>
        </p:txBody>
      </p:sp>
      <p:sp>
        <p:nvSpPr>
          <p:cNvPr id="9" name="Shape 6"/>
          <p:cNvSpPr/>
          <p:nvPr/>
        </p:nvSpPr>
        <p:spPr>
          <a:xfrm>
            <a:off x="731520" y="4617720"/>
            <a:ext cx="1005840" cy="292608"/>
          </a:xfrm>
          <a:prstGeom prst="roundRect">
            <a:avLst>
              <a:gd name="adj" fmla="val 15625"/>
            </a:avLst>
          </a:prstGeom>
          <a:solidFill>
            <a:srgbClr val="0A101D"/>
          </a:solidFill>
          <a:ln w="9525">
            <a:solidFill>
              <a:srgbClr val="22D3C5"/>
            </a:solidFill>
            <a:prstDash val="solid"/>
          </a:ln>
        </p:spPr>
      </p:sp>
      <p:sp>
        <p:nvSpPr>
          <p:cNvPr id="10" name="Text 7"/>
          <p:cNvSpPr txBox="1"/>
          <p:nvPr/>
        </p:nvSpPr>
        <p:spPr>
          <a:xfrm>
            <a:off x="731520" y="4617720"/>
            <a:ext cx="1005840" cy="292608"/>
          </a:xfrm>
          <a:prstGeom prst="rect">
            <a:avLst/>
          </a:prstGeom>
          <a:noFill/>
          <a:ln/>
        </p:spPr>
        <p:txBody>
          <a:bodyPr wrap="square" lIns="0" tIns="0" rIns="0" bIns="0" rtlCol="0" anchor="ctr"/>
          <a:lstStyle/>
          <a:p>
            <a:pPr algn="ctr" indent="0" marL="0">
              <a:buNone/>
            </a:pPr>
            <a:r>
              <a:rPr lang="en-US" sz="1100" dirty="0">
                <a:solidFill>
                  <a:srgbClr val="22D3C5"/>
                </a:solidFill>
                <a:latin typeface="Courier New" pitchFamily="34" charset="0"/>
                <a:ea typeface="Courier New" pitchFamily="34" charset="-122"/>
                <a:cs typeface="Courier New" pitchFamily="34" charset="-120"/>
              </a:rPr>
              <a:t>wait()</a:t>
            </a:r>
            <a:endParaRPr lang="en-US" sz="1100" dirty="0"/>
          </a:p>
        </p:txBody>
      </p:sp>
      <p:sp>
        <p:nvSpPr>
          <p:cNvPr id="11" name="Shape 8"/>
          <p:cNvSpPr/>
          <p:nvPr/>
        </p:nvSpPr>
        <p:spPr>
          <a:xfrm>
            <a:off x="2798064" y="1371600"/>
            <a:ext cx="2103120" cy="3749040"/>
          </a:xfrm>
          <a:prstGeom prst="roundRect">
            <a:avLst>
              <a:gd name="adj" fmla="val 3478"/>
            </a:avLst>
          </a:prstGeom>
          <a:solidFill>
            <a:srgbClr val="13233D"/>
          </a:solidFill>
          <a:ln w="12700">
            <a:solidFill>
              <a:srgbClr val="2A4468"/>
            </a:solidFill>
            <a:prstDash val="solid"/>
          </a:ln>
        </p:spPr>
      </p:sp>
      <p:sp>
        <p:nvSpPr>
          <p:cNvPr id="12" name="Shape 9"/>
          <p:cNvSpPr/>
          <p:nvPr/>
        </p:nvSpPr>
        <p:spPr>
          <a:xfrm>
            <a:off x="2980944" y="1554480"/>
            <a:ext cx="457200" cy="457200"/>
          </a:xfrm>
          <a:prstGeom prst="ellipse">
            <a:avLst/>
          </a:prstGeom>
          <a:solidFill>
            <a:srgbClr val="0E7C86"/>
          </a:solidFill>
          <a:ln w="12700">
            <a:solidFill>
              <a:srgbClr val="22D3C5"/>
            </a:solidFill>
            <a:prstDash val="solid"/>
          </a:ln>
        </p:spPr>
      </p:sp>
      <p:sp>
        <p:nvSpPr>
          <p:cNvPr id="13" name="Text 10"/>
          <p:cNvSpPr txBox="1"/>
          <p:nvPr/>
        </p:nvSpPr>
        <p:spPr>
          <a:xfrm>
            <a:off x="2980944" y="1554480"/>
            <a:ext cx="457200" cy="457200"/>
          </a:xfrm>
          <a:prstGeom prst="rect">
            <a:avLst/>
          </a:prstGeom>
          <a:noFill/>
          <a:ln/>
        </p:spPr>
        <p:txBody>
          <a:bodyPr wrap="square" lIns="0" tIns="0" rIns="0" bIns="0" rtlCol="0" anchor="ctr"/>
          <a:lstStyle/>
          <a:p>
            <a:pPr algn="ctr" indent="0" marL="0">
              <a:buNone/>
            </a:pPr>
            <a:r>
              <a:rPr lang="en-US" sz="1600" b="1" dirty="0">
                <a:solidFill>
                  <a:srgbClr val="F1F6FB"/>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2980944" y="2194560"/>
            <a:ext cx="1783080" cy="685800"/>
          </a:xfrm>
          <a:prstGeom prst="rect">
            <a:avLst/>
          </a:prstGeom>
          <a:noFill/>
          <a:ln/>
        </p:spPr>
        <p:txBody>
          <a:bodyPr wrap="square" lIns="0" tIns="0" rIns="0" bIns="0" rtlCol="0" anchor="t"/>
          <a:lstStyle/>
          <a:p>
            <a:pPr indent="0" marL="0">
              <a:buNone/>
            </a:pPr>
            <a:r>
              <a:rPr lang="en-US" sz="1600" b="1" dirty="0">
                <a:solidFill>
                  <a:srgbClr val="F1F6FB"/>
                </a:solidFill>
                <a:latin typeface="Calibri" pitchFamily="34" charset="0"/>
                <a:ea typeface="Calibri" pitchFamily="34" charset="-122"/>
                <a:cs typeface="Calibri" pitchFamily="34" charset="-120"/>
              </a:rPr>
              <a:t>Orphan re-parenting</a:t>
            </a:r>
            <a:endParaRPr lang="en-US" sz="1600" dirty="0"/>
          </a:p>
        </p:txBody>
      </p:sp>
      <p:sp>
        <p:nvSpPr>
          <p:cNvPr id="15" name="Text 12"/>
          <p:cNvSpPr txBox="1"/>
          <p:nvPr/>
        </p:nvSpPr>
        <p:spPr>
          <a:xfrm>
            <a:off x="2980944" y="2926080"/>
            <a:ext cx="1783080" cy="1554480"/>
          </a:xfrm>
          <a:prstGeom prst="rect">
            <a:avLst/>
          </a:prstGeom>
          <a:noFill/>
          <a:ln/>
        </p:spPr>
        <p:txBody>
          <a:bodyPr wrap="square" lIns="0" tIns="0" rIns="0" bIns="0" rtlCol="0" anchor="t"/>
          <a:lstStyle/>
          <a:p>
            <a:pPr indent="0" marL="0">
              <a:buNone/>
            </a:pPr>
            <a:r>
              <a:rPr lang="en-US" sz="1300" dirty="0">
                <a:solidFill>
                  <a:srgbClr val="A9BBD0"/>
                </a:solidFill>
                <a:latin typeface="Calibri" pitchFamily="34" charset="0"/>
                <a:ea typeface="Calibri" pitchFamily="34" charset="-122"/>
                <a:cs typeface="Calibri" pitchFamily="34" charset="-120"/>
              </a:rPr>
              <a:t>Parent exits first. The running child is adopted by init or a subreaper.</a:t>
            </a:r>
            <a:endParaRPr lang="en-US" sz="1300" dirty="0"/>
          </a:p>
        </p:txBody>
      </p:sp>
      <p:sp>
        <p:nvSpPr>
          <p:cNvPr id="16" name="Shape 13"/>
          <p:cNvSpPr/>
          <p:nvPr/>
        </p:nvSpPr>
        <p:spPr>
          <a:xfrm>
            <a:off x="2980944" y="4617720"/>
            <a:ext cx="1078992" cy="292608"/>
          </a:xfrm>
          <a:prstGeom prst="roundRect">
            <a:avLst>
              <a:gd name="adj" fmla="val 15625"/>
            </a:avLst>
          </a:prstGeom>
          <a:solidFill>
            <a:srgbClr val="0A101D"/>
          </a:solidFill>
          <a:ln w="9525">
            <a:solidFill>
              <a:srgbClr val="22D3C5"/>
            </a:solidFill>
            <a:prstDash val="solid"/>
          </a:ln>
        </p:spPr>
      </p:sp>
      <p:sp>
        <p:nvSpPr>
          <p:cNvPr id="17" name="Text 14"/>
          <p:cNvSpPr txBox="1"/>
          <p:nvPr/>
        </p:nvSpPr>
        <p:spPr>
          <a:xfrm>
            <a:off x="2980944" y="4617720"/>
            <a:ext cx="1078992" cy="292608"/>
          </a:xfrm>
          <a:prstGeom prst="rect">
            <a:avLst/>
          </a:prstGeom>
          <a:noFill/>
          <a:ln/>
        </p:spPr>
        <p:txBody>
          <a:bodyPr wrap="square" lIns="0" tIns="0" rIns="0" bIns="0" rtlCol="0" anchor="ctr"/>
          <a:lstStyle/>
          <a:p>
            <a:pPr algn="ctr" indent="0" marL="0">
              <a:buNone/>
            </a:pPr>
            <a:r>
              <a:rPr lang="en-US" sz="1100" dirty="0">
                <a:solidFill>
                  <a:srgbClr val="22D3C5"/>
                </a:solidFill>
                <a:latin typeface="Courier New" pitchFamily="34" charset="0"/>
                <a:ea typeface="Courier New" pitchFamily="34" charset="-122"/>
                <a:cs typeface="Courier New" pitchFamily="34" charset="-120"/>
              </a:rPr>
              <a:t>new PPID</a:t>
            </a:r>
            <a:endParaRPr lang="en-US" sz="1100" dirty="0"/>
          </a:p>
        </p:txBody>
      </p:sp>
      <p:sp>
        <p:nvSpPr>
          <p:cNvPr id="18" name="Shape 15"/>
          <p:cNvSpPr/>
          <p:nvPr/>
        </p:nvSpPr>
        <p:spPr>
          <a:xfrm>
            <a:off x="5047488" y="1371600"/>
            <a:ext cx="2103120" cy="3749040"/>
          </a:xfrm>
          <a:prstGeom prst="roundRect">
            <a:avLst>
              <a:gd name="adj" fmla="val 3478"/>
            </a:avLst>
          </a:prstGeom>
          <a:solidFill>
            <a:srgbClr val="13233D"/>
          </a:solidFill>
          <a:ln w="12700">
            <a:solidFill>
              <a:srgbClr val="2A4468"/>
            </a:solidFill>
            <a:prstDash val="solid"/>
          </a:ln>
        </p:spPr>
      </p:sp>
      <p:sp>
        <p:nvSpPr>
          <p:cNvPr id="19" name="Shape 16"/>
          <p:cNvSpPr/>
          <p:nvPr/>
        </p:nvSpPr>
        <p:spPr>
          <a:xfrm>
            <a:off x="5230368" y="1554480"/>
            <a:ext cx="457200" cy="457200"/>
          </a:xfrm>
          <a:prstGeom prst="ellipse">
            <a:avLst/>
          </a:prstGeom>
          <a:solidFill>
            <a:srgbClr val="0E7C86"/>
          </a:solidFill>
          <a:ln w="12700">
            <a:solidFill>
              <a:srgbClr val="22D3C5"/>
            </a:solidFill>
            <a:prstDash val="solid"/>
          </a:ln>
        </p:spPr>
      </p:sp>
      <p:sp>
        <p:nvSpPr>
          <p:cNvPr id="20" name="Text 17"/>
          <p:cNvSpPr txBox="1"/>
          <p:nvPr/>
        </p:nvSpPr>
        <p:spPr>
          <a:xfrm>
            <a:off x="5230368" y="1554480"/>
            <a:ext cx="457200" cy="457200"/>
          </a:xfrm>
          <a:prstGeom prst="rect">
            <a:avLst/>
          </a:prstGeom>
          <a:noFill/>
          <a:ln/>
        </p:spPr>
        <p:txBody>
          <a:bodyPr wrap="square" lIns="0" tIns="0" rIns="0" bIns="0" rtlCol="0" anchor="ctr"/>
          <a:lstStyle/>
          <a:p>
            <a:pPr algn="ctr" indent="0" marL="0">
              <a:buNone/>
            </a:pPr>
            <a:r>
              <a:rPr lang="en-US" sz="1600" b="1" dirty="0">
                <a:solidFill>
                  <a:srgbClr val="F1F6FB"/>
                </a:solidFill>
                <a:latin typeface="Calibri" pitchFamily="34" charset="0"/>
                <a:ea typeface="Calibri" pitchFamily="34" charset="-122"/>
                <a:cs typeface="Calibri" pitchFamily="34" charset="-120"/>
              </a:rPr>
              <a:t>3</a:t>
            </a:r>
            <a:endParaRPr lang="en-US" sz="1600" dirty="0"/>
          </a:p>
        </p:txBody>
      </p:sp>
      <p:sp>
        <p:nvSpPr>
          <p:cNvPr id="21" name="Text 18"/>
          <p:cNvSpPr txBox="1"/>
          <p:nvPr/>
        </p:nvSpPr>
        <p:spPr>
          <a:xfrm>
            <a:off x="5230368" y="2194560"/>
            <a:ext cx="1783080" cy="685800"/>
          </a:xfrm>
          <a:prstGeom prst="rect">
            <a:avLst/>
          </a:prstGeom>
          <a:noFill/>
          <a:ln/>
        </p:spPr>
        <p:txBody>
          <a:bodyPr wrap="square" lIns="0" tIns="0" rIns="0" bIns="0" rtlCol="0" anchor="t"/>
          <a:lstStyle/>
          <a:p>
            <a:pPr indent="0" marL="0">
              <a:buNone/>
            </a:pPr>
            <a:r>
              <a:rPr lang="en-US" sz="1600" b="1" dirty="0">
                <a:solidFill>
                  <a:srgbClr val="F1F6FB"/>
                </a:solidFill>
                <a:latin typeface="Calibri" pitchFamily="34" charset="0"/>
                <a:ea typeface="Calibri" pitchFamily="34" charset="-122"/>
                <a:cs typeface="Calibri" pitchFamily="34" charset="-120"/>
              </a:rPr>
              <a:t>Pipeline</a:t>
            </a:r>
            <a:endParaRPr lang="en-US" sz="1600" dirty="0"/>
          </a:p>
        </p:txBody>
      </p:sp>
      <p:sp>
        <p:nvSpPr>
          <p:cNvPr id="22" name="Text 19"/>
          <p:cNvSpPr txBox="1"/>
          <p:nvPr/>
        </p:nvSpPr>
        <p:spPr>
          <a:xfrm>
            <a:off x="5230368" y="2926080"/>
            <a:ext cx="1783080" cy="1554480"/>
          </a:xfrm>
          <a:prstGeom prst="rect">
            <a:avLst/>
          </a:prstGeom>
          <a:noFill/>
          <a:ln/>
        </p:spPr>
        <p:txBody>
          <a:bodyPr wrap="square" lIns="0" tIns="0" rIns="0" bIns="0" rtlCol="0" anchor="t"/>
          <a:lstStyle/>
          <a:p>
            <a:pPr indent="0" marL="0">
              <a:buNone/>
            </a:pPr>
            <a:r>
              <a:rPr lang="en-US" sz="1300" dirty="0">
                <a:solidFill>
                  <a:srgbClr val="A9BBD0"/>
                </a:solidFill>
                <a:latin typeface="Calibri" pitchFamily="34" charset="0"/>
                <a:ea typeface="Calibri" pitchFamily="34" charset="-122"/>
                <a:cs typeface="Calibri" pitchFamily="34" charset="-120"/>
              </a:rPr>
              <a:t>A parent creates two children and connects them with a pipe.</a:t>
            </a:r>
            <a:endParaRPr lang="en-US" sz="1300" dirty="0"/>
          </a:p>
        </p:txBody>
      </p:sp>
      <p:sp>
        <p:nvSpPr>
          <p:cNvPr id="23" name="Shape 20"/>
          <p:cNvSpPr/>
          <p:nvPr/>
        </p:nvSpPr>
        <p:spPr>
          <a:xfrm>
            <a:off x="5230368" y="4617720"/>
            <a:ext cx="1005840" cy="292608"/>
          </a:xfrm>
          <a:prstGeom prst="roundRect">
            <a:avLst>
              <a:gd name="adj" fmla="val 15625"/>
            </a:avLst>
          </a:prstGeom>
          <a:solidFill>
            <a:srgbClr val="0A101D"/>
          </a:solidFill>
          <a:ln w="9525">
            <a:solidFill>
              <a:srgbClr val="22D3C5"/>
            </a:solidFill>
            <a:prstDash val="solid"/>
          </a:ln>
        </p:spPr>
      </p:sp>
      <p:sp>
        <p:nvSpPr>
          <p:cNvPr id="24" name="Text 21"/>
          <p:cNvSpPr txBox="1"/>
          <p:nvPr/>
        </p:nvSpPr>
        <p:spPr>
          <a:xfrm>
            <a:off x="5230368" y="4617720"/>
            <a:ext cx="1005840" cy="292608"/>
          </a:xfrm>
          <a:prstGeom prst="rect">
            <a:avLst/>
          </a:prstGeom>
          <a:noFill/>
          <a:ln/>
        </p:spPr>
        <p:txBody>
          <a:bodyPr wrap="square" lIns="0" tIns="0" rIns="0" bIns="0" rtlCol="0" anchor="ctr"/>
          <a:lstStyle/>
          <a:p>
            <a:pPr algn="ctr" indent="0" marL="0">
              <a:buNone/>
            </a:pPr>
            <a:r>
              <a:rPr lang="en-US" sz="1100" dirty="0">
                <a:solidFill>
                  <a:srgbClr val="22D3C5"/>
                </a:solidFill>
                <a:latin typeface="Courier New" pitchFamily="34" charset="0"/>
                <a:ea typeface="Courier New" pitchFamily="34" charset="-122"/>
                <a:cs typeface="Courier New" pitchFamily="34" charset="-120"/>
              </a:rPr>
              <a:t>pipe()</a:t>
            </a:r>
            <a:endParaRPr lang="en-US" sz="1100" dirty="0"/>
          </a:p>
        </p:txBody>
      </p:sp>
      <p:sp>
        <p:nvSpPr>
          <p:cNvPr id="25" name="Shape 22"/>
          <p:cNvSpPr/>
          <p:nvPr/>
        </p:nvSpPr>
        <p:spPr>
          <a:xfrm>
            <a:off x="7296912" y="1371600"/>
            <a:ext cx="2103120" cy="3749040"/>
          </a:xfrm>
          <a:prstGeom prst="roundRect">
            <a:avLst>
              <a:gd name="adj" fmla="val 3478"/>
            </a:avLst>
          </a:prstGeom>
          <a:solidFill>
            <a:srgbClr val="13233D"/>
          </a:solidFill>
          <a:ln w="12700">
            <a:solidFill>
              <a:srgbClr val="2A4468"/>
            </a:solidFill>
            <a:prstDash val="solid"/>
          </a:ln>
        </p:spPr>
      </p:sp>
      <p:sp>
        <p:nvSpPr>
          <p:cNvPr id="26" name="Shape 23"/>
          <p:cNvSpPr/>
          <p:nvPr/>
        </p:nvSpPr>
        <p:spPr>
          <a:xfrm>
            <a:off x="7479792" y="1554480"/>
            <a:ext cx="457200" cy="457200"/>
          </a:xfrm>
          <a:prstGeom prst="ellipse">
            <a:avLst/>
          </a:prstGeom>
          <a:solidFill>
            <a:srgbClr val="0E7C86"/>
          </a:solidFill>
          <a:ln w="12700">
            <a:solidFill>
              <a:srgbClr val="22D3C5"/>
            </a:solidFill>
            <a:prstDash val="solid"/>
          </a:ln>
        </p:spPr>
      </p:sp>
      <p:sp>
        <p:nvSpPr>
          <p:cNvPr id="27" name="Text 24"/>
          <p:cNvSpPr txBox="1"/>
          <p:nvPr/>
        </p:nvSpPr>
        <p:spPr>
          <a:xfrm>
            <a:off x="7479792" y="1554480"/>
            <a:ext cx="457200" cy="457200"/>
          </a:xfrm>
          <a:prstGeom prst="rect">
            <a:avLst/>
          </a:prstGeom>
          <a:noFill/>
          <a:ln/>
        </p:spPr>
        <p:txBody>
          <a:bodyPr wrap="square" lIns="0" tIns="0" rIns="0" bIns="0" rtlCol="0" anchor="ctr"/>
          <a:lstStyle/>
          <a:p>
            <a:pPr algn="ctr" indent="0" marL="0">
              <a:buNone/>
            </a:pPr>
            <a:r>
              <a:rPr lang="en-US" sz="1600" b="1" dirty="0">
                <a:solidFill>
                  <a:srgbClr val="F1F6FB"/>
                </a:solidFill>
                <a:latin typeface="Calibri" pitchFamily="34" charset="0"/>
                <a:ea typeface="Calibri" pitchFamily="34" charset="-122"/>
                <a:cs typeface="Calibri" pitchFamily="34" charset="-120"/>
              </a:rPr>
              <a:t>4</a:t>
            </a:r>
            <a:endParaRPr lang="en-US" sz="1600" dirty="0"/>
          </a:p>
        </p:txBody>
      </p:sp>
      <p:sp>
        <p:nvSpPr>
          <p:cNvPr id="28" name="Text 25"/>
          <p:cNvSpPr txBox="1"/>
          <p:nvPr/>
        </p:nvSpPr>
        <p:spPr>
          <a:xfrm>
            <a:off x="7479792" y="2194560"/>
            <a:ext cx="1783080" cy="685800"/>
          </a:xfrm>
          <a:prstGeom prst="rect">
            <a:avLst/>
          </a:prstGeom>
          <a:noFill/>
          <a:ln/>
        </p:spPr>
        <p:txBody>
          <a:bodyPr wrap="square" lIns="0" tIns="0" rIns="0" bIns="0" rtlCol="0" anchor="t"/>
          <a:lstStyle/>
          <a:p>
            <a:pPr indent="0" marL="0">
              <a:buNone/>
            </a:pPr>
            <a:r>
              <a:rPr lang="en-US" sz="1600" b="1" dirty="0">
                <a:solidFill>
                  <a:srgbClr val="F1F6FB"/>
                </a:solidFill>
                <a:latin typeface="Calibri" pitchFamily="34" charset="0"/>
                <a:ea typeface="Calibri" pitchFamily="34" charset="-122"/>
                <a:cs typeface="Calibri" pitchFamily="34" charset="-120"/>
              </a:rPr>
              <a:t>Multithreading</a:t>
            </a:r>
            <a:endParaRPr lang="en-US" sz="1600" dirty="0"/>
          </a:p>
        </p:txBody>
      </p:sp>
      <p:sp>
        <p:nvSpPr>
          <p:cNvPr id="29" name="Text 26"/>
          <p:cNvSpPr txBox="1"/>
          <p:nvPr/>
        </p:nvSpPr>
        <p:spPr>
          <a:xfrm>
            <a:off x="7479792" y="2926080"/>
            <a:ext cx="1783080" cy="1554480"/>
          </a:xfrm>
          <a:prstGeom prst="rect">
            <a:avLst/>
          </a:prstGeom>
          <a:noFill/>
          <a:ln/>
        </p:spPr>
        <p:txBody>
          <a:bodyPr wrap="square" lIns="0" tIns="0" rIns="0" bIns="0" rtlCol="0" anchor="t"/>
          <a:lstStyle/>
          <a:p>
            <a:pPr indent="0" marL="0">
              <a:buNone/>
            </a:pPr>
            <a:r>
              <a:rPr lang="en-US" sz="1300" dirty="0">
                <a:solidFill>
                  <a:srgbClr val="A9BBD0"/>
                </a:solidFill>
                <a:latin typeface="Calibri" pitchFamily="34" charset="0"/>
                <a:ea typeface="Calibri" pitchFamily="34" charset="-122"/>
                <a:cs typeface="Calibri" pitchFamily="34" charset="-120"/>
              </a:rPr>
              <a:t>Three threads in a single process. They share memory; separate processes do not.</a:t>
            </a:r>
            <a:endParaRPr lang="en-US" sz="1300" dirty="0"/>
          </a:p>
        </p:txBody>
      </p:sp>
      <p:sp>
        <p:nvSpPr>
          <p:cNvPr id="30" name="Shape 27"/>
          <p:cNvSpPr/>
          <p:nvPr/>
        </p:nvSpPr>
        <p:spPr>
          <a:xfrm>
            <a:off x="7479792" y="4617720"/>
            <a:ext cx="1078992" cy="292608"/>
          </a:xfrm>
          <a:prstGeom prst="roundRect">
            <a:avLst>
              <a:gd name="adj" fmla="val 15625"/>
            </a:avLst>
          </a:prstGeom>
          <a:solidFill>
            <a:srgbClr val="0A101D"/>
          </a:solidFill>
          <a:ln w="9525">
            <a:solidFill>
              <a:srgbClr val="22D3C5"/>
            </a:solidFill>
            <a:prstDash val="solid"/>
          </a:ln>
        </p:spPr>
      </p:sp>
      <p:sp>
        <p:nvSpPr>
          <p:cNvPr id="31" name="Text 28"/>
          <p:cNvSpPr txBox="1"/>
          <p:nvPr/>
        </p:nvSpPr>
        <p:spPr>
          <a:xfrm>
            <a:off x="7479792" y="4617720"/>
            <a:ext cx="1078992" cy="292608"/>
          </a:xfrm>
          <a:prstGeom prst="rect">
            <a:avLst/>
          </a:prstGeom>
          <a:noFill/>
          <a:ln/>
        </p:spPr>
        <p:txBody>
          <a:bodyPr wrap="square" lIns="0" tIns="0" rIns="0" bIns="0" rtlCol="0" anchor="ctr"/>
          <a:lstStyle/>
          <a:p>
            <a:pPr algn="ctr" indent="0" marL="0">
              <a:buNone/>
            </a:pPr>
            <a:r>
              <a:rPr lang="en-US" sz="1100" dirty="0">
                <a:solidFill>
                  <a:srgbClr val="22D3C5"/>
                </a:solidFill>
                <a:latin typeface="Courier New" pitchFamily="34" charset="0"/>
                <a:ea typeface="Courier New" pitchFamily="34" charset="-122"/>
                <a:cs typeface="Courier New" pitchFamily="34" charset="-120"/>
              </a:rPr>
              <a:t>pthreads</a:t>
            </a:r>
            <a:endParaRPr lang="en-US" sz="1100" dirty="0"/>
          </a:p>
        </p:txBody>
      </p:sp>
      <p:sp>
        <p:nvSpPr>
          <p:cNvPr id="32" name="Shape 29"/>
          <p:cNvSpPr/>
          <p:nvPr/>
        </p:nvSpPr>
        <p:spPr>
          <a:xfrm>
            <a:off x="9546336" y="1371600"/>
            <a:ext cx="2103120" cy="3749040"/>
          </a:xfrm>
          <a:prstGeom prst="roundRect">
            <a:avLst>
              <a:gd name="adj" fmla="val 3478"/>
            </a:avLst>
          </a:prstGeom>
          <a:solidFill>
            <a:srgbClr val="13233D"/>
          </a:solidFill>
          <a:ln w="12700">
            <a:solidFill>
              <a:srgbClr val="2A4468"/>
            </a:solidFill>
            <a:prstDash val="solid"/>
          </a:ln>
        </p:spPr>
      </p:sp>
      <p:sp>
        <p:nvSpPr>
          <p:cNvPr id="33" name="Shape 30"/>
          <p:cNvSpPr/>
          <p:nvPr/>
        </p:nvSpPr>
        <p:spPr>
          <a:xfrm>
            <a:off x="9729216" y="1554480"/>
            <a:ext cx="457200" cy="457200"/>
          </a:xfrm>
          <a:prstGeom prst="ellipse">
            <a:avLst/>
          </a:prstGeom>
          <a:solidFill>
            <a:srgbClr val="0E7C86"/>
          </a:solidFill>
          <a:ln w="12700">
            <a:solidFill>
              <a:srgbClr val="22D3C5"/>
            </a:solidFill>
            <a:prstDash val="solid"/>
          </a:ln>
        </p:spPr>
      </p:sp>
      <p:sp>
        <p:nvSpPr>
          <p:cNvPr id="34" name="Text 31"/>
          <p:cNvSpPr txBox="1"/>
          <p:nvPr/>
        </p:nvSpPr>
        <p:spPr>
          <a:xfrm>
            <a:off x="9729216" y="1554480"/>
            <a:ext cx="457200" cy="457200"/>
          </a:xfrm>
          <a:prstGeom prst="rect">
            <a:avLst/>
          </a:prstGeom>
          <a:noFill/>
          <a:ln/>
        </p:spPr>
        <p:txBody>
          <a:bodyPr wrap="square" lIns="0" tIns="0" rIns="0" bIns="0" rtlCol="0" anchor="ctr"/>
          <a:lstStyle/>
          <a:p>
            <a:pPr algn="ctr" indent="0" marL="0">
              <a:buNone/>
            </a:pPr>
            <a:r>
              <a:rPr lang="en-US" sz="1600" b="1" dirty="0">
                <a:solidFill>
                  <a:srgbClr val="F1F6FB"/>
                </a:solidFill>
                <a:latin typeface="Calibri" pitchFamily="34" charset="0"/>
                <a:ea typeface="Calibri" pitchFamily="34" charset="-122"/>
                <a:cs typeface="Calibri" pitchFamily="34" charset="-120"/>
              </a:rPr>
              <a:t>5</a:t>
            </a:r>
            <a:endParaRPr lang="en-US" sz="1600" dirty="0"/>
          </a:p>
        </p:txBody>
      </p:sp>
      <p:sp>
        <p:nvSpPr>
          <p:cNvPr id="35" name="Text 32"/>
          <p:cNvSpPr txBox="1"/>
          <p:nvPr/>
        </p:nvSpPr>
        <p:spPr>
          <a:xfrm>
            <a:off x="9729216" y="2194560"/>
            <a:ext cx="1783080" cy="685800"/>
          </a:xfrm>
          <a:prstGeom prst="rect">
            <a:avLst/>
          </a:prstGeom>
          <a:noFill/>
          <a:ln/>
        </p:spPr>
        <p:txBody>
          <a:bodyPr wrap="square" lIns="0" tIns="0" rIns="0" bIns="0" rtlCol="0" anchor="t"/>
          <a:lstStyle/>
          <a:p>
            <a:pPr indent="0" marL="0">
              <a:buNone/>
            </a:pPr>
            <a:r>
              <a:rPr lang="en-US" sz="1600" b="1" dirty="0">
                <a:solidFill>
                  <a:srgbClr val="F1F6FB"/>
                </a:solidFill>
                <a:latin typeface="Calibri" pitchFamily="34" charset="0"/>
                <a:ea typeface="Calibri" pitchFamily="34" charset="-122"/>
                <a:cs typeface="Calibri" pitchFamily="34" charset="-120"/>
              </a:rPr>
              <a:t>Fork and exec</a:t>
            </a:r>
            <a:endParaRPr lang="en-US" sz="1600" dirty="0"/>
          </a:p>
        </p:txBody>
      </p:sp>
      <p:sp>
        <p:nvSpPr>
          <p:cNvPr id="36" name="Text 33"/>
          <p:cNvSpPr txBox="1"/>
          <p:nvPr/>
        </p:nvSpPr>
        <p:spPr>
          <a:xfrm>
            <a:off x="9729216" y="2926080"/>
            <a:ext cx="1783080" cy="1554480"/>
          </a:xfrm>
          <a:prstGeom prst="rect">
            <a:avLst/>
          </a:prstGeom>
          <a:noFill/>
          <a:ln/>
        </p:spPr>
        <p:txBody>
          <a:bodyPr wrap="square" lIns="0" tIns="0" rIns="0" bIns="0" rtlCol="0" anchor="t"/>
          <a:lstStyle/>
          <a:p>
            <a:pPr indent="0" marL="0">
              <a:buNone/>
            </a:pPr>
            <a:r>
              <a:rPr lang="en-US" sz="1300" dirty="0">
                <a:solidFill>
                  <a:srgbClr val="A9BBD0"/>
                </a:solidFill>
                <a:latin typeface="Calibri" pitchFamily="34" charset="0"/>
                <a:ea typeface="Calibri" pitchFamily="34" charset="-122"/>
                <a:cs typeface="Calibri" pitchFamily="34" charset="-120"/>
              </a:rPr>
              <a:t>fork() makes a child, exec() swaps its program for sleep.</a:t>
            </a:r>
            <a:endParaRPr lang="en-US" sz="1300" dirty="0"/>
          </a:p>
        </p:txBody>
      </p:sp>
      <p:sp>
        <p:nvSpPr>
          <p:cNvPr id="37" name="Shape 34"/>
          <p:cNvSpPr/>
          <p:nvPr/>
        </p:nvSpPr>
        <p:spPr>
          <a:xfrm>
            <a:off x="9729216" y="4617720"/>
            <a:ext cx="1380744" cy="292608"/>
          </a:xfrm>
          <a:prstGeom prst="roundRect">
            <a:avLst>
              <a:gd name="adj" fmla="val 15625"/>
            </a:avLst>
          </a:prstGeom>
          <a:solidFill>
            <a:srgbClr val="0A101D"/>
          </a:solidFill>
          <a:ln w="9525">
            <a:solidFill>
              <a:srgbClr val="22D3C5"/>
            </a:solidFill>
            <a:prstDash val="solid"/>
          </a:ln>
        </p:spPr>
      </p:sp>
      <p:sp>
        <p:nvSpPr>
          <p:cNvPr id="38" name="Text 35"/>
          <p:cNvSpPr txBox="1"/>
          <p:nvPr/>
        </p:nvSpPr>
        <p:spPr>
          <a:xfrm>
            <a:off x="9729216" y="4617720"/>
            <a:ext cx="1380744" cy="292608"/>
          </a:xfrm>
          <a:prstGeom prst="rect">
            <a:avLst/>
          </a:prstGeom>
          <a:noFill/>
          <a:ln/>
        </p:spPr>
        <p:txBody>
          <a:bodyPr wrap="square" lIns="0" tIns="0" rIns="0" bIns="0" rtlCol="0" anchor="ctr"/>
          <a:lstStyle/>
          <a:p>
            <a:pPr algn="ctr" indent="0" marL="0">
              <a:buNone/>
            </a:pPr>
            <a:r>
              <a:rPr lang="en-US" sz="1100" dirty="0">
                <a:solidFill>
                  <a:srgbClr val="22D3C5"/>
                </a:solidFill>
                <a:latin typeface="Courier New" pitchFamily="34" charset="0"/>
                <a:ea typeface="Courier New" pitchFamily="34" charset="-122"/>
                <a:cs typeface="Courier New" pitchFamily="34" charset="-120"/>
              </a:rPr>
              <a:t>fork + exec</a:t>
            </a:r>
            <a:endParaRPr lang="en-US" sz="1100" dirty="0"/>
          </a:p>
        </p:txBody>
      </p:sp>
      <p:sp>
        <p:nvSpPr>
          <p:cNvPr id="39" name="Shape 36"/>
          <p:cNvSpPr/>
          <p:nvPr/>
        </p:nvSpPr>
        <p:spPr>
          <a:xfrm>
            <a:off x="548640" y="5349240"/>
            <a:ext cx="11064240" cy="731520"/>
          </a:xfrm>
          <a:prstGeom prst="roundRect">
            <a:avLst>
              <a:gd name="adj" fmla="val 10000"/>
            </a:avLst>
          </a:prstGeom>
          <a:solidFill>
            <a:srgbClr val="0A101D"/>
          </a:solidFill>
          <a:ln w="12700">
            <a:solidFill>
              <a:srgbClr val="0E7C86"/>
            </a:solidFill>
            <a:prstDash val="solid"/>
          </a:ln>
        </p:spPr>
      </p:sp>
      <p:sp>
        <p:nvSpPr>
          <p:cNvPr id="40" name="Text 37"/>
          <p:cNvSpPr txBox="1"/>
          <p:nvPr/>
        </p:nvSpPr>
        <p:spPr>
          <a:xfrm>
            <a:off x="777240" y="5349240"/>
            <a:ext cx="10607040" cy="731520"/>
          </a:xfrm>
          <a:prstGeom prst="rect">
            <a:avLst/>
          </a:prstGeom>
          <a:noFill/>
          <a:ln/>
        </p:spPr>
        <p:txBody>
          <a:bodyPr wrap="square" lIns="0" tIns="0" rIns="0" bIns="0" rtlCol="0" anchor="ctr"/>
          <a:lstStyle/>
          <a:p>
            <a:pPr indent="0" marL="0">
              <a:buNone/>
            </a:pPr>
            <a:r>
              <a:rPr lang="en-US" sz="1500" b="1" dirty="0">
                <a:solidFill>
                  <a:srgbClr val="22D3C5"/>
                </a:solidFill>
                <a:latin typeface="Calibri" pitchFamily="34" charset="0"/>
                <a:ea typeface="Calibri" pitchFamily="34" charset="-122"/>
                <a:cs typeface="Calibri" pitchFamily="34" charset="-120"/>
              </a:rPr>
              <a:t>Educational only. </a:t>
            </a:r>
            <a:pPr indent="0" marL="0">
              <a:buNone/>
            </a:pPr>
            <a:r>
              <a:rPr lang="en-US" sz="1500" dirty="0">
                <a:solidFill>
                  <a:srgbClr val="F1F6FB"/>
                </a:solidFill>
                <a:latin typeface="Calibri" pitchFamily="34" charset="0"/>
                <a:ea typeface="Calibri" pitchFamily="34" charset="-122"/>
                <a:cs typeface="Calibri" pitchFamily="34" charset="-120"/>
              </a:rPr>
              <a:t>Fixed allow-list, runs as the current user, bounded time. The core Explorer works without the Lab.</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93A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rgbClr val="F1F6FB"/>
                </a:solidFill>
                <a:latin typeface="Calibri" pitchFamily="34" charset="0"/>
                <a:ea typeface="Calibri" pitchFamily="34" charset="-122"/>
                <a:cs typeface="Calibri" pitchFamily="34" charset="-120"/>
              </a:rPr>
              <a:t>Reports, verification and reliability</a:t>
            </a:r>
            <a:endParaRPr lang="en-US" sz="3400" dirty="0"/>
          </a:p>
        </p:txBody>
      </p:sp>
      <p:sp>
        <p:nvSpPr>
          <p:cNvPr id="4" name="Shape 1"/>
          <p:cNvSpPr/>
          <p:nvPr/>
        </p:nvSpPr>
        <p:spPr>
          <a:xfrm>
            <a:off x="548640" y="1371600"/>
            <a:ext cx="5394960" cy="3520440"/>
          </a:xfrm>
          <a:prstGeom prst="roundRect">
            <a:avLst>
              <a:gd name="adj" fmla="val 2078"/>
            </a:avLst>
          </a:prstGeom>
          <a:solidFill>
            <a:srgbClr val="13233D"/>
          </a:solidFill>
          <a:ln w="12700">
            <a:solidFill>
              <a:srgbClr val="2A4468"/>
            </a:solidFill>
            <a:prstDash val="solid"/>
          </a:ln>
        </p:spPr>
      </p:sp>
      <p:sp>
        <p:nvSpPr>
          <p:cNvPr id="5" name="Text 2"/>
          <p:cNvSpPr txBox="1"/>
          <p:nvPr/>
        </p:nvSpPr>
        <p:spPr>
          <a:xfrm>
            <a:off x="822960" y="1508760"/>
            <a:ext cx="4572000" cy="365760"/>
          </a:xfrm>
          <a:prstGeom prst="rect">
            <a:avLst/>
          </a:prstGeom>
          <a:noFill/>
          <a:ln/>
        </p:spPr>
        <p:txBody>
          <a:bodyPr wrap="square" lIns="0" tIns="0" rIns="0" bIns="0" rtlCol="0" anchor="t"/>
          <a:lstStyle/>
          <a:p>
            <a:pPr indent="0" marL="0">
              <a:buNone/>
            </a:pPr>
            <a:r>
              <a:rPr lang="en-US" sz="2000" b="1" dirty="0">
                <a:solidFill>
                  <a:srgbClr val="22D3C5"/>
                </a:solidFill>
                <a:latin typeface="Calibri" pitchFamily="34" charset="0"/>
                <a:ea typeface="Calibri" pitchFamily="34" charset="-122"/>
                <a:cs typeface="Calibri" pitchFamily="34" charset="-120"/>
              </a:rPr>
              <a:t>Reports</a:t>
            </a:r>
            <a:endParaRPr lang="en-US" sz="2000" dirty="0"/>
          </a:p>
        </p:txBody>
      </p:sp>
      <p:sp>
        <p:nvSpPr>
          <p:cNvPr id="6" name="Text 3"/>
          <p:cNvSpPr txBox="1"/>
          <p:nvPr/>
        </p:nvSpPr>
        <p:spPr>
          <a:xfrm>
            <a:off x="822960" y="2011680"/>
            <a:ext cx="4846320" cy="320040"/>
          </a:xfrm>
          <a:prstGeom prst="rect">
            <a:avLst/>
          </a:prstGeom>
          <a:noFill/>
          <a:ln/>
        </p:spPr>
        <p:txBody>
          <a:bodyPr wrap="square" lIns="0" tIns="0" rIns="0" bIns="0" rtlCol="0" anchor="t"/>
          <a:lstStyle/>
          <a:p>
            <a:pPr indent="0" marL="0">
              <a:buNone/>
            </a:pPr>
            <a:r>
              <a:rPr lang="en-US" sz="1600" b="1" dirty="0">
                <a:solidFill>
                  <a:srgbClr val="F1F6FB"/>
                </a:solidFill>
                <a:latin typeface="Calibri" pitchFamily="34" charset="0"/>
                <a:ea typeface="Calibri" pitchFamily="34" charset="-122"/>
                <a:cs typeface="Calibri" pitchFamily="34" charset="-120"/>
              </a:rPr>
              <a:t>JSON and CSV export</a:t>
            </a:r>
            <a:endParaRPr lang="en-US" sz="1600" dirty="0"/>
          </a:p>
        </p:txBody>
      </p:sp>
      <p:sp>
        <p:nvSpPr>
          <p:cNvPr id="7" name="Text 4"/>
          <p:cNvSpPr txBox="1"/>
          <p:nvPr/>
        </p:nvSpPr>
        <p:spPr>
          <a:xfrm>
            <a:off x="822960" y="2350008"/>
            <a:ext cx="4846320" cy="50292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Redacted by default (command lines, executable paths).</a:t>
            </a:r>
            <a:endParaRPr lang="en-US" sz="1400" dirty="0"/>
          </a:p>
        </p:txBody>
      </p:sp>
      <p:sp>
        <p:nvSpPr>
          <p:cNvPr id="8" name="Text 5"/>
          <p:cNvSpPr txBox="1"/>
          <p:nvPr/>
        </p:nvSpPr>
        <p:spPr>
          <a:xfrm>
            <a:off x="822960" y="2944368"/>
            <a:ext cx="4846320" cy="320040"/>
          </a:xfrm>
          <a:prstGeom prst="rect">
            <a:avLst/>
          </a:prstGeom>
          <a:noFill/>
          <a:ln/>
        </p:spPr>
        <p:txBody>
          <a:bodyPr wrap="square" lIns="0" tIns="0" rIns="0" bIns="0" rtlCol="0" anchor="t"/>
          <a:lstStyle/>
          <a:p>
            <a:pPr indent="0" marL="0">
              <a:buNone/>
            </a:pPr>
            <a:r>
              <a:rPr lang="en-US" sz="1600" b="1" dirty="0">
                <a:solidFill>
                  <a:srgbClr val="F1F6FB"/>
                </a:solidFill>
                <a:latin typeface="Calibri" pitchFamily="34" charset="0"/>
                <a:ea typeface="Calibri" pitchFamily="34" charset="-122"/>
                <a:cs typeface="Calibri" pitchFamily="34" charset="-120"/>
              </a:rPr>
              <a:t>Snapshot comparison</a:t>
            </a:r>
            <a:endParaRPr lang="en-US" sz="1600" dirty="0"/>
          </a:p>
        </p:txBody>
      </p:sp>
      <p:sp>
        <p:nvSpPr>
          <p:cNvPr id="9" name="Text 6"/>
          <p:cNvSpPr txBox="1"/>
          <p:nvPr/>
        </p:nvSpPr>
        <p:spPr>
          <a:xfrm>
            <a:off x="822960" y="3282696"/>
            <a:ext cx="4846320" cy="50292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In-session, compares two snapshots.</a:t>
            </a:r>
            <a:endParaRPr lang="en-US" sz="1400" dirty="0"/>
          </a:p>
        </p:txBody>
      </p:sp>
      <p:sp>
        <p:nvSpPr>
          <p:cNvPr id="10" name="Text 7"/>
          <p:cNvSpPr txBox="1"/>
          <p:nvPr/>
        </p:nvSpPr>
        <p:spPr>
          <a:xfrm>
            <a:off x="822960" y="3877056"/>
            <a:ext cx="4846320" cy="320040"/>
          </a:xfrm>
          <a:prstGeom prst="rect">
            <a:avLst/>
          </a:prstGeom>
          <a:noFill/>
          <a:ln/>
        </p:spPr>
        <p:txBody>
          <a:bodyPr wrap="square" lIns="0" tIns="0" rIns="0" bIns="0" rtlCol="0" anchor="t"/>
          <a:lstStyle/>
          <a:p>
            <a:pPr indent="0" marL="0">
              <a:buNone/>
            </a:pPr>
            <a:r>
              <a:rPr lang="en-US" sz="1600" b="1" dirty="0">
                <a:solidFill>
                  <a:srgbClr val="F1F6FB"/>
                </a:solidFill>
                <a:latin typeface="Calibri" pitchFamily="34" charset="0"/>
                <a:ea typeface="Calibri" pitchFamily="34" charset="-122"/>
                <a:cs typeface="Calibri" pitchFamily="34" charset="-120"/>
              </a:rPr>
              <a:t>Collector diagnostics</a:t>
            </a:r>
            <a:endParaRPr lang="en-US" sz="1600" dirty="0"/>
          </a:p>
        </p:txBody>
      </p:sp>
      <p:sp>
        <p:nvSpPr>
          <p:cNvPr id="11" name="Text 8"/>
          <p:cNvSpPr txBox="1"/>
          <p:nvPr/>
        </p:nvSpPr>
        <p:spPr>
          <a:xfrm>
            <a:off x="822960" y="4215384"/>
            <a:ext cx="4846320" cy="502920"/>
          </a:xfrm>
          <a:prstGeom prst="rect">
            <a:avLst/>
          </a:prstGeom>
          <a:noFill/>
          <a:ln/>
        </p:spPr>
        <p:txBody>
          <a:bodyPr wrap="square" lIns="0" tIns="0" rIns="0" bIns="0" rtlCol="0" anchor="t"/>
          <a:lstStyle/>
          <a:p>
            <a:pPr indent="0" marL="0">
              <a:buNone/>
            </a:pPr>
            <a:r>
              <a:rPr lang="en-US" sz="1400" dirty="0">
                <a:solidFill>
                  <a:srgbClr val="A9BBD0"/>
                </a:solidFill>
                <a:latin typeface="Calibri" pitchFamily="34" charset="0"/>
                <a:ea typeface="Calibri" pitchFamily="34" charset="-122"/>
                <a:cs typeface="Calibri" pitchFamily="34" charset="-120"/>
              </a:rPr>
              <a:t>Shows whether event mode is available.</a:t>
            </a:r>
            <a:endParaRPr lang="en-US" sz="1400" dirty="0"/>
          </a:p>
        </p:txBody>
      </p:sp>
      <p:sp>
        <p:nvSpPr>
          <p:cNvPr id="12" name="Shape 9"/>
          <p:cNvSpPr/>
          <p:nvPr/>
        </p:nvSpPr>
        <p:spPr>
          <a:xfrm>
            <a:off x="6217920" y="1371600"/>
            <a:ext cx="5394960" cy="3520440"/>
          </a:xfrm>
          <a:prstGeom prst="roundRect">
            <a:avLst>
              <a:gd name="adj" fmla="val 2078"/>
            </a:avLst>
          </a:prstGeom>
          <a:solidFill>
            <a:srgbClr val="13233D"/>
          </a:solidFill>
          <a:ln w="12700">
            <a:solidFill>
              <a:srgbClr val="2A4468"/>
            </a:solidFill>
            <a:prstDash val="solid"/>
          </a:ln>
        </p:spPr>
      </p:sp>
      <p:sp>
        <p:nvSpPr>
          <p:cNvPr id="13" name="Text 10"/>
          <p:cNvSpPr txBox="1"/>
          <p:nvPr/>
        </p:nvSpPr>
        <p:spPr>
          <a:xfrm>
            <a:off x="6492240" y="1508760"/>
            <a:ext cx="4846320" cy="365760"/>
          </a:xfrm>
          <a:prstGeom prst="rect">
            <a:avLst/>
          </a:prstGeom>
          <a:noFill/>
          <a:ln/>
        </p:spPr>
        <p:txBody>
          <a:bodyPr wrap="square" lIns="0" tIns="0" rIns="0" bIns="0" rtlCol="0" anchor="t"/>
          <a:lstStyle/>
          <a:p>
            <a:pPr indent="0" marL="0">
              <a:buNone/>
            </a:pPr>
            <a:r>
              <a:rPr lang="en-US" sz="2000" b="1" dirty="0">
                <a:solidFill>
                  <a:srgbClr val="22D3C5"/>
                </a:solidFill>
                <a:latin typeface="Calibri" pitchFamily="34" charset="0"/>
                <a:ea typeface="Calibri" pitchFamily="34" charset="-122"/>
                <a:cs typeface="Calibri" pitchFamily="34" charset="-120"/>
              </a:rPr>
              <a:t>Verification: verify_tree.py</a:t>
            </a:r>
            <a:endParaRPr lang="en-US" sz="2000" dirty="0"/>
          </a:p>
        </p:txBody>
      </p:sp>
      <p:sp>
        <p:nvSpPr>
          <p:cNvPr id="14" name="Shape 11"/>
          <p:cNvSpPr/>
          <p:nvPr/>
        </p:nvSpPr>
        <p:spPr>
          <a:xfrm>
            <a:off x="6492240" y="2011680"/>
            <a:ext cx="2286000" cy="731520"/>
          </a:xfrm>
          <a:prstGeom prst="roundRect">
            <a:avLst>
              <a:gd name="adj" fmla="val 10000"/>
            </a:avLst>
          </a:prstGeom>
          <a:solidFill>
            <a:srgbClr val="0A101D"/>
          </a:solidFill>
          <a:ln w="12700">
            <a:solidFill>
              <a:srgbClr val="2A4468"/>
            </a:solidFill>
            <a:prstDash val="solid"/>
          </a:ln>
        </p:spPr>
      </p:sp>
      <p:sp>
        <p:nvSpPr>
          <p:cNvPr id="15" name="Text 12"/>
          <p:cNvSpPr txBox="1"/>
          <p:nvPr/>
        </p:nvSpPr>
        <p:spPr>
          <a:xfrm>
            <a:off x="6492240" y="2011680"/>
            <a:ext cx="2286000" cy="731520"/>
          </a:xfrm>
          <a:prstGeom prst="rect">
            <a:avLst/>
          </a:prstGeom>
          <a:noFill/>
          <a:ln/>
        </p:spPr>
        <p:txBody>
          <a:bodyPr wrap="square" lIns="0" tIns="0" rIns="0" bIns="0" rtlCol="0" anchor="ctr"/>
          <a:lstStyle/>
          <a:p>
            <a:pPr algn="ctr" indent="0" marL="0">
              <a:buNone/>
            </a:pPr>
            <a:r>
              <a:rPr lang="en-US" sz="1200" b="1" dirty="0">
                <a:solidFill>
                  <a:srgbClr val="F1F6FB"/>
                </a:solidFill>
                <a:latin typeface="Courier New" pitchFamily="34" charset="0"/>
                <a:ea typeface="Courier New" pitchFamily="34" charset="-122"/>
                <a:cs typeface="Courier New" pitchFamily="34" charset="-120"/>
              </a:rPr>
              <a:t>ps -e</a:t>
            </a:r>
            <a:endParaRPr lang="en-US" sz="1200" dirty="0"/>
          </a:p>
          <a:p>
            <a:pPr algn="ctr" indent="0" marL="0">
              <a:buNone/>
            </a:pPr>
            <a:r>
              <a:rPr lang="en-US" sz="1200" dirty="0">
                <a:solidFill>
                  <a:srgbClr val="F1F6FB"/>
                </a:solidFill>
                <a:latin typeface="Courier New" pitchFamily="34" charset="0"/>
                <a:ea typeface="Courier New" pitchFamily="34" charset="-122"/>
                <a:cs typeface="Courier New" pitchFamily="34" charset="-120"/>
              </a:rPr>
              <a:t>-o pid=,ppid=</a:t>
            </a:r>
            <a:endParaRPr lang="en-US" sz="1200" dirty="0"/>
          </a:p>
        </p:txBody>
      </p:sp>
      <p:sp>
        <p:nvSpPr>
          <p:cNvPr id="16" name="Shape 13"/>
          <p:cNvSpPr/>
          <p:nvPr/>
        </p:nvSpPr>
        <p:spPr>
          <a:xfrm>
            <a:off x="9052560" y="2011680"/>
            <a:ext cx="2286000" cy="731520"/>
          </a:xfrm>
          <a:prstGeom prst="roundRect">
            <a:avLst>
              <a:gd name="adj" fmla="val 10000"/>
            </a:avLst>
          </a:prstGeom>
          <a:solidFill>
            <a:srgbClr val="0A101D"/>
          </a:solidFill>
          <a:ln w="12700">
            <a:solidFill>
              <a:srgbClr val="2A4468"/>
            </a:solidFill>
            <a:prstDash val="solid"/>
          </a:ln>
        </p:spPr>
      </p:sp>
      <p:sp>
        <p:nvSpPr>
          <p:cNvPr id="17" name="Text 14"/>
          <p:cNvSpPr txBox="1"/>
          <p:nvPr/>
        </p:nvSpPr>
        <p:spPr>
          <a:xfrm>
            <a:off x="9052560" y="2011680"/>
            <a:ext cx="2286000" cy="731520"/>
          </a:xfrm>
          <a:prstGeom prst="rect">
            <a:avLst/>
          </a:prstGeom>
          <a:noFill/>
          <a:ln/>
        </p:spPr>
        <p:txBody>
          <a:bodyPr wrap="square" lIns="0" tIns="0" rIns="0" bIns="0" rtlCol="0" anchor="ctr"/>
          <a:lstStyle/>
          <a:p>
            <a:pPr algn="ctr" indent="0" marL="0">
              <a:buNone/>
            </a:pPr>
            <a:r>
              <a:rPr lang="en-US" sz="1200" b="1" dirty="0">
                <a:solidFill>
                  <a:srgbClr val="F1F6FB"/>
                </a:solidFill>
                <a:latin typeface="Courier New" pitchFamily="34" charset="0"/>
                <a:ea typeface="Courier New" pitchFamily="34" charset="-122"/>
                <a:cs typeface="Courier New" pitchFamily="34" charset="-120"/>
              </a:rPr>
              <a:t>pstree</a:t>
            </a:r>
            <a:endParaRPr lang="en-US" sz="1200" dirty="0"/>
          </a:p>
          <a:p>
            <a:pPr algn="ctr" indent="0" marL="0">
              <a:buNone/>
            </a:pPr>
            <a:r>
              <a:rPr lang="en-US" sz="1200" dirty="0">
                <a:solidFill>
                  <a:srgbClr val="F1F6FB"/>
                </a:solidFill>
                <a:latin typeface="Courier New" pitchFamily="34" charset="0"/>
                <a:ea typeface="Courier New" pitchFamily="34" charset="-122"/>
                <a:cs typeface="Courier New" pitchFamily="34" charset="-120"/>
              </a:rPr>
              <a:t>-s -p -T PID</a:t>
            </a:r>
            <a:endParaRPr lang="en-US" sz="1200" dirty="0"/>
          </a:p>
        </p:txBody>
      </p:sp>
      <p:sp>
        <p:nvSpPr>
          <p:cNvPr id="18" name="Text 15"/>
          <p:cNvSpPr txBox="1"/>
          <p:nvPr/>
        </p:nvSpPr>
        <p:spPr>
          <a:xfrm>
            <a:off x="6492240" y="2834640"/>
            <a:ext cx="2286000" cy="457200"/>
          </a:xfrm>
          <a:prstGeom prst="rect">
            <a:avLst/>
          </a:prstGeom>
          <a:noFill/>
          <a:ln/>
        </p:spPr>
        <p:txBody>
          <a:bodyPr wrap="square" lIns="0" tIns="0" rIns="0" bIns="0" rtlCol="0" anchor="t"/>
          <a:lstStyle/>
          <a:p>
            <a:pPr algn="ctr" indent="0" marL="0">
              <a:buNone/>
            </a:pPr>
            <a:r>
              <a:rPr lang="en-US" sz="1300" dirty="0">
                <a:solidFill>
                  <a:srgbClr val="A9BBD0"/>
                </a:solidFill>
                <a:latin typeface="Calibri" pitchFamily="34" charset="0"/>
                <a:ea typeface="Calibri" pitchFamily="34" charset="-122"/>
                <a:cs typeface="Calibri" pitchFamily="34" charset="-120"/>
              </a:rPr>
              <a:t>All shared PPIDs compared</a:t>
            </a:r>
            <a:endParaRPr lang="en-US" sz="1300" dirty="0"/>
          </a:p>
        </p:txBody>
      </p:sp>
      <p:sp>
        <p:nvSpPr>
          <p:cNvPr id="19" name="Text 16"/>
          <p:cNvSpPr txBox="1"/>
          <p:nvPr/>
        </p:nvSpPr>
        <p:spPr>
          <a:xfrm>
            <a:off x="9052560" y="2834640"/>
            <a:ext cx="2286000" cy="457200"/>
          </a:xfrm>
          <a:prstGeom prst="rect">
            <a:avLst/>
          </a:prstGeom>
          <a:noFill/>
          <a:ln/>
        </p:spPr>
        <p:txBody>
          <a:bodyPr wrap="square" lIns="0" tIns="0" rIns="0" bIns="0" rtlCol="0" anchor="t"/>
          <a:lstStyle/>
          <a:p>
            <a:pPr algn="ctr" indent="0" marL="0">
              <a:buNone/>
            </a:pPr>
            <a:r>
              <a:rPr lang="en-US" sz="1300" dirty="0">
                <a:solidFill>
                  <a:srgbClr val="A9BBD0"/>
                </a:solidFill>
                <a:latin typeface="Calibri" pitchFamily="34" charset="0"/>
                <a:ea typeface="Calibri" pitchFamily="34" charset="-122"/>
                <a:cs typeface="Calibri" pitchFamily="34" charset="-120"/>
              </a:rPr>
              <a:t>Up to 50 sampled immediate parents</a:t>
            </a:r>
            <a:endParaRPr lang="en-US" sz="1300" dirty="0"/>
          </a:p>
        </p:txBody>
      </p:sp>
      <p:sp>
        <p:nvSpPr>
          <p:cNvPr id="20" name="Text 17"/>
          <p:cNvSpPr txBox="1"/>
          <p:nvPr/>
        </p:nvSpPr>
        <p:spPr>
          <a:xfrm>
            <a:off x="6492240" y="3520440"/>
            <a:ext cx="4846320" cy="822960"/>
          </a:xfrm>
          <a:prstGeom prst="rect">
            <a:avLst/>
          </a:prstGeom>
          <a:noFill/>
          <a:ln/>
        </p:spPr>
        <p:txBody>
          <a:bodyPr wrap="square" lIns="0" tIns="0" rIns="0" bIns="0" rtlCol="0" anchor="t"/>
          <a:lstStyle/>
          <a:p>
            <a:pPr indent="0" marL="0">
              <a:buNone/>
            </a:pPr>
            <a:r>
              <a:rPr lang="en-US" sz="1500" dirty="0">
                <a:solidFill>
                  <a:srgbClr val="F1F6FB"/>
                </a:solidFill>
                <a:latin typeface="Calibri" pitchFamily="34" charset="0"/>
                <a:ea typeface="Calibri" pitchFamily="34" charset="-122"/>
                <a:cs typeface="Calibri" pitchFamily="34" charset="-120"/>
              </a:rPr>
              <a:t>Both are checked against ProcScope's own parent links.</a:t>
            </a:r>
            <a:endParaRPr lang="en-US" sz="1500" dirty="0"/>
          </a:p>
        </p:txBody>
      </p:sp>
      <p:sp>
        <p:nvSpPr>
          <p:cNvPr id="21" name="Shape 18"/>
          <p:cNvSpPr/>
          <p:nvPr/>
        </p:nvSpPr>
        <p:spPr>
          <a:xfrm>
            <a:off x="548640" y="5120640"/>
            <a:ext cx="11064240" cy="960120"/>
          </a:xfrm>
          <a:prstGeom prst="roundRect">
            <a:avLst>
              <a:gd name="adj" fmla="val 7619"/>
            </a:avLst>
          </a:prstGeom>
          <a:solidFill>
            <a:srgbClr val="0A101D"/>
          </a:solidFill>
          <a:ln w="12700">
            <a:solidFill>
              <a:srgbClr val="F5B94A"/>
            </a:solidFill>
            <a:prstDash val="solid"/>
          </a:ln>
        </p:spPr>
      </p:sp>
      <p:sp>
        <p:nvSpPr>
          <p:cNvPr id="22" name="Text 19"/>
          <p:cNvSpPr txBox="1"/>
          <p:nvPr/>
        </p:nvSpPr>
        <p:spPr>
          <a:xfrm>
            <a:off x="777240" y="5120640"/>
            <a:ext cx="10607040" cy="960120"/>
          </a:xfrm>
          <a:prstGeom prst="rect">
            <a:avLst/>
          </a:prstGeom>
          <a:noFill/>
          <a:ln/>
        </p:spPr>
        <p:txBody>
          <a:bodyPr wrap="square" lIns="0" tIns="0" rIns="0" bIns="0" rtlCol="0" anchor="ctr"/>
          <a:lstStyle/>
          <a:p>
            <a:pPr indent="0" marL="0">
              <a:buNone/>
            </a:pPr>
            <a:r>
              <a:rPr lang="en-US" sz="1500" b="1" dirty="0">
                <a:solidFill>
                  <a:srgbClr val="F5B94A"/>
                </a:solidFill>
                <a:latin typeface="Calibri" pitchFamily="34" charset="0"/>
                <a:ea typeface="Calibri" pitchFamily="34" charset="-122"/>
                <a:cs typeface="Calibri" pitchFamily="34" charset="-120"/>
              </a:rPr>
              <a:t>Read results in context: </a:t>
            </a:r>
            <a:pPr indent="0" marL="0">
              <a:buNone/>
            </a:pPr>
            <a:r>
              <a:rPr lang="en-US" sz="1500" dirty="0">
                <a:solidFill>
                  <a:srgbClr val="F1F6FB"/>
                </a:solidFill>
                <a:latin typeface="Calibri" pitchFamily="34" charset="0"/>
                <a:ea typeface="Calibri" pitchFamily="34" charset="-122"/>
                <a:cs typeface="Calibri" pitchFamily="34" charset="-120"/>
              </a:rPr>
              <a:t>processes can start or exit between commands, so a passing run is a useful cross-check, not proof of an atomic or complete snapshot.</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93A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rgbClr val="F1F6FB"/>
                </a:solidFill>
                <a:latin typeface="Calibri" pitchFamily="34" charset="0"/>
                <a:ea typeface="Calibri" pitchFamily="34" charset="-122"/>
                <a:cs typeface="Calibri" pitchFamily="34" charset="-120"/>
              </a:rPr>
              <a:t>Results and evidence</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680960" cy="914400"/>
        </p:xfrm>
        <a:graphic>
          <a:graphicData uri="http://schemas.openxmlformats.org/drawingml/2006/table">
            <a:tbl>
              <a:tblPr/>
              <a:tblGrid>
                <a:gridCol w="3200400"/>
                <a:gridCol w="2926080"/>
                <a:gridCol w="1554480"/>
              </a:tblGrid>
              <a:tr h="512064">
                <a:tc>
                  <a:txBody>
                    <a:bodyPr/>
                    <a:lstStyle/>
                    <a:p>
                      <a:pPr indent="0" marL="0">
                        <a:buNone/>
                      </a:pPr>
                      <a:r>
                        <a:rPr lang="en-US" sz="1300" b="1" dirty="0">
                          <a:solidFill>
                            <a:srgbClr val="22D3C5"/>
                          </a:solidFill>
                          <a:latin typeface="Calibri" pitchFamily="34" charset="0"/>
                          <a:ea typeface="Calibri" pitchFamily="34" charset="-122"/>
                          <a:cs typeface="Calibri" pitchFamily="34" charset="-120"/>
                        </a:rPr>
                        <a:t>Check</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A2E4D"/>
                    </a:solidFill>
                  </a:tcPr>
                </a:tc>
                <a:tc>
                  <a:txBody>
                    <a:bodyPr/>
                    <a:lstStyle/>
                    <a:p>
                      <a:pPr indent="0" marL="0">
                        <a:buNone/>
                      </a:pPr>
                      <a:r>
                        <a:rPr lang="en-US" sz="1300" b="1" dirty="0">
                          <a:solidFill>
                            <a:srgbClr val="22D3C5"/>
                          </a:solidFill>
                          <a:latin typeface="Calibri" pitchFamily="34" charset="0"/>
                          <a:ea typeface="Calibri" pitchFamily="34" charset="-122"/>
                          <a:cs typeface="Calibri" pitchFamily="34" charset="-120"/>
                        </a:rPr>
                        <a:t>Recorded result</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A2E4D"/>
                    </a:solidFill>
                  </a:tcPr>
                </a:tc>
                <a:tc>
                  <a:txBody>
                    <a:bodyPr/>
                    <a:lstStyle/>
                    <a:p>
                      <a:pPr indent="0" marL="0">
                        <a:buNone/>
                      </a:pPr>
                      <a:r>
                        <a:rPr lang="en-US" sz="1300" b="1" dirty="0">
                          <a:solidFill>
                            <a:srgbClr val="22D3C5"/>
                          </a:solidFill>
                          <a:latin typeface="Calibri" pitchFamily="34" charset="0"/>
                          <a:ea typeface="Calibri" pitchFamily="34" charset="-122"/>
                          <a:cs typeface="Calibri" pitchFamily="34" charset="-120"/>
                        </a:rPr>
                        <a:t>Environment</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A2E4D"/>
                    </a:solidFill>
                  </a:tcPr>
                </a:tc>
              </a:tr>
              <a:tr h="512064">
                <a:tc>
                  <a:txBody>
                    <a:bodyPr/>
                    <a:lstStyle/>
                    <a:p>
                      <a:pPr indent="0" marL="0">
                        <a:buNone/>
                      </a:pPr>
                      <a:r>
                        <a:rPr lang="en-US" sz="1300" b="1" dirty="0">
                          <a:solidFill>
                            <a:srgbClr val="F1F6FB"/>
                          </a:solidFill>
                          <a:latin typeface="Calibri" pitchFamily="34" charset="0"/>
                          <a:ea typeface="Calibri" pitchFamily="34" charset="-122"/>
                          <a:cs typeface="Calibri" pitchFamily="34" charset="-120"/>
                        </a:rPr>
                        <a:t>Automated tests (run_tests.sh)</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c>
                  <a:txBody>
                    <a:bodyPr/>
                    <a:lstStyle/>
                    <a:p>
                      <a:pPr indent="0" marL="0">
                        <a:buNone/>
                      </a:pPr>
                      <a:r>
                        <a:rPr lang="en-US" sz="1300" dirty="0">
                          <a:solidFill>
                            <a:srgbClr val="F1F6FB"/>
                          </a:solidFill>
                          <a:latin typeface="Calibri" pitchFamily="34" charset="0"/>
                          <a:ea typeface="Calibri" pitchFamily="34" charset="-122"/>
                          <a:cs typeface="Calibri" pitchFamily="34" charset="-120"/>
                        </a:rPr>
                        <a:t>23 passed</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c>
                  <a:txBody>
                    <a:bodyPr/>
                    <a:lstStyle/>
                    <a:p>
                      <a:pPr indent="0" marL="0">
                        <a:buNone/>
                      </a:pPr>
                      <a:r>
                        <a:rPr lang="en-US" sz="1300" dirty="0">
                          <a:solidFill>
                            <a:srgbClr val="A9BBD0"/>
                          </a:solidFill>
                          <a:latin typeface="Calibri" pitchFamily="34" charset="0"/>
                          <a:ea typeface="Calibri" pitchFamily="34" charset="-122"/>
                          <a:cs typeface="Calibri" pitchFamily="34" charset="-120"/>
                        </a:rPr>
                        <a:t>Development</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r>
              <a:tr h="512064">
                <a:tc>
                  <a:txBody>
                    <a:bodyPr/>
                    <a:lstStyle/>
                    <a:p>
                      <a:pPr indent="0" marL="0">
                        <a:buNone/>
                      </a:pPr>
                      <a:r>
                        <a:rPr lang="en-US" sz="1300" b="1" dirty="0">
                          <a:solidFill>
                            <a:srgbClr val="F1F6FB"/>
                          </a:solidFill>
                          <a:latin typeface="Calibri" pitchFamily="34" charset="0"/>
                          <a:ea typeface="Calibri" pitchFamily="34" charset="-122"/>
                          <a:cs typeface="Calibri" pitchFamily="34" charset="-120"/>
                        </a:rPr>
                        <a:t>Python compile; JS syntax</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c>
                  <a:txBody>
                    <a:bodyPr/>
                    <a:lstStyle/>
                    <a:p>
                      <a:pPr indent="0" marL="0">
                        <a:buNone/>
                      </a:pPr>
                      <a:r>
                        <a:rPr lang="en-US" sz="1300" dirty="0">
                          <a:solidFill>
                            <a:srgbClr val="F1F6FB"/>
                          </a:solidFill>
                          <a:latin typeface="Calibri" pitchFamily="34" charset="0"/>
                          <a:ea typeface="Calibri" pitchFamily="34" charset="-122"/>
                          <a:cs typeface="Calibri" pitchFamily="34" charset="-120"/>
                        </a:rPr>
                        <a:t>Passed</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c>
                  <a:txBody>
                    <a:bodyPr/>
                    <a:lstStyle/>
                    <a:p>
                      <a:pPr indent="0" marL="0">
                        <a:buNone/>
                      </a:pPr>
                      <a:r>
                        <a:rPr lang="en-US" sz="1300" dirty="0">
                          <a:solidFill>
                            <a:srgbClr val="A9BBD0"/>
                          </a:solidFill>
                          <a:latin typeface="Calibri" pitchFamily="34" charset="0"/>
                          <a:ea typeface="Calibri" pitchFamily="34" charset="-122"/>
                          <a:cs typeface="Calibri" pitchFamily="34" charset="-120"/>
                        </a:rPr>
                        <a:t>Development</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r>
              <a:tr h="512064">
                <a:tc>
                  <a:txBody>
                    <a:bodyPr/>
                    <a:lstStyle/>
                    <a:p>
                      <a:pPr indent="0" marL="0">
                        <a:buNone/>
                      </a:pPr>
                      <a:r>
                        <a:rPr lang="en-US" sz="1300" b="1" dirty="0">
                          <a:solidFill>
                            <a:srgbClr val="F1F6FB"/>
                          </a:solidFill>
                          <a:latin typeface="Calibri" pitchFamily="34" charset="0"/>
                          <a:ea typeface="Calibri" pitchFamily="34" charset="-122"/>
                          <a:cs typeface="Calibri" pitchFamily="34" charset="-120"/>
                        </a:rPr>
                        <a:t>Strict C compile (-Wall -Wextra -Werror)</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c>
                  <a:txBody>
                    <a:bodyPr/>
                    <a:lstStyle/>
                    <a:p>
                      <a:pPr indent="0" marL="0">
                        <a:buNone/>
                      </a:pPr>
                      <a:r>
                        <a:rPr lang="en-US" sz="1300" dirty="0">
                          <a:solidFill>
                            <a:srgbClr val="F1F6FB"/>
                          </a:solidFill>
                          <a:latin typeface="Calibri" pitchFamily="34" charset="0"/>
                          <a:ea typeface="Calibri" pitchFamily="34" charset="-122"/>
                          <a:cs typeface="Calibri" pitchFamily="34" charset="-120"/>
                        </a:rPr>
                        <a:t>Passed</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c>
                  <a:txBody>
                    <a:bodyPr/>
                    <a:lstStyle/>
                    <a:p>
                      <a:pPr indent="0" marL="0">
                        <a:buNone/>
                      </a:pPr>
                      <a:r>
                        <a:rPr lang="en-US" sz="1300" dirty="0">
                          <a:solidFill>
                            <a:srgbClr val="A9BBD0"/>
                          </a:solidFill>
                          <a:latin typeface="Calibri" pitchFamily="34" charset="0"/>
                          <a:ea typeface="Calibri" pitchFamily="34" charset="-122"/>
                          <a:cs typeface="Calibri" pitchFamily="34" charset="-120"/>
                        </a:rPr>
                        <a:t>Development</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r>
              <a:tr h="512064">
                <a:tc>
                  <a:txBody>
                    <a:bodyPr/>
                    <a:lstStyle/>
                    <a:p>
                      <a:pPr indent="0" marL="0">
                        <a:buNone/>
                      </a:pPr>
                      <a:r>
                        <a:rPr lang="en-US" sz="1300" b="1" dirty="0">
                          <a:solidFill>
                            <a:srgbClr val="F1F6FB"/>
                          </a:solidFill>
                          <a:latin typeface="Calibri" pitchFamily="34" charset="0"/>
                          <a:ea typeface="Calibri" pitchFamily="34" charset="-122"/>
                          <a:cs typeface="Calibri" pitchFamily="34" charset="-120"/>
                        </a:rPr>
                        <a:t>Lab: all 5 experiments start/stop</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c>
                  <a:txBody>
                    <a:bodyPr/>
                    <a:lstStyle/>
                    <a:p>
                      <a:pPr indent="0" marL="0">
                        <a:buNone/>
                      </a:pPr>
                      <a:r>
                        <a:rPr lang="en-US" sz="1300" dirty="0">
                          <a:solidFill>
                            <a:srgbClr val="F1F6FB"/>
                          </a:solidFill>
                          <a:latin typeface="Calibri" pitchFamily="34" charset="0"/>
                          <a:ea typeface="Calibri" pitchFamily="34" charset="-122"/>
                          <a:cs typeface="Calibri" pitchFamily="34" charset="-120"/>
                        </a:rPr>
                        <a:t>Passed; no leftover processes</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c>
                  <a:txBody>
                    <a:bodyPr/>
                    <a:lstStyle/>
                    <a:p>
                      <a:pPr indent="0" marL="0">
                        <a:buNone/>
                      </a:pPr>
                      <a:r>
                        <a:rPr lang="en-US" sz="1300" dirty="0">
                          <a:solidFill>
                            <a:srgbClr val="A9BBD0"/>
                          </a:solidFill>
                          <a:latin typeface="Calibri" pitchFamily="34" charset="0"/>
                          <a:ea typeface="Calibri" pitchFamily="34" charset="-122"/>
                          <a:cs typeface="Calibri" pitchFamily="34" charset="-120"/>
                        </a:rPr>
                        <a:t>Development</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r>
              <a:tr h="512064">
                <a:tc>
                  <a:txBody>
                    <a:bodyPr/>
                    <a:lstStyle/>
                    <a:p>
                      <a:pPr indent="0" marL="0">
                        <a:buNone/>
                      </a:pPr>
                      <a:r>
                        <a:rPr lang="en-US" sz="1300" b="1" dirty="0">
                          <a:solidFill>
                            <a:srgbClr val="F1F6FB"/>
                          </a:solidFill>
                          <a:latin typeface="Calibri" pitchFamily="34" charset="0"/>
                          <a:ea typeface="Calibri" pitchFamily="34" charset="-122"/>
                          <a:cs typeface="Calibri" pitchFamily="34" charset="-120"/>
                        </a:rPr>
                        <a:t>HTTP smoke tests</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c>
                  <a:txBody>
                    <a:bodyPr/>
                    <a:lstStyle/>
                    <a:p>
                      <a:pPr indent="0" marL="0">
                        <a:buNone/>
                      </a:pPr>
                      <a:r>
                        <a:rPr lang="en-US" sz="1300" dirty="0">
                          <a:solidFill>
                            <a:srgbClr val="F1F6FB"/>
                          </a:solidFill>
                          <a:latin typeface="Calibri" pitchFamily="34" charset="0"/>
                          <a:ea typeface="Calibri" pitchFamily="34" charset="-122"/>
                          <a:cs typeface="Calibri" pitchFamily="34" charset="-120"/>
                        </a:rPr>
                        <a:t>Endpoints OK; bad Host header → 403</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c>
                  <a:txBody>
                    <a:bodyPr/>
                    <a:lstStyle/>
                    <a:p>
                      <a:pPr indent="0" marL="0">
                        <a:buNone/>
                      </a:pPr>
                      <a:r>
                        <a:rPr lang="en-US" sz="1300" dirty="0">
                          <a:solidFill>
                            <a:srgbClr val="A9BBD0"/>
                          </a:solidFill>
                          <a:latin typeface="Calibri" pitchFamily="34" charset="0"/>
                          <a:ea typeface="Calibri" pitchFamily="34" charset="-122"/>
                          <a:cs typeface="Calibri" pitchFamily="34" charset="-120"/>
                        </a:rPr>
                        <a:t>Development</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r>
              <a:tr h="512064">
                <a:tc>
                  <a:txBody>
                    <a:bodyPr/>
                    <a:lstStyle/>
                    <a:p>
                      <a:pPr indent="0" marL="0">
                        <a:buNone/>
                      </a:pPr>
                      <a:r>
                        <a:rPr lang="en-US" sz="1300" b="1" dirty="0">
                          <a:solidFill>
                            <a:srgbClr val="F1F6FB"/>
                          </a:solidFill>
                          <a:latin typeface="Calibri" pitchFamily="34" charset="0"/>
                          <a:ea typeface="Calibri" pitchFamily="34" charset="-122"/>
                          <a:cs typeface="Calibri" pitchFamily="34" charset="-120"/>
                        </a:rPr>
                        <a:t>Tree check vs ps</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c>
                  <a:txBody>
                    <a:bodyPr/>
                    <a:lstStyle/>
                    <a:p>
                      <a:pPr indent="0" marL="0">
                        <a:buNone/>
                      </a:pPr>
                      <a:r>
                        <a:rPr lang="en-US" sz="1300" dirty="0">
                          <a:solidFill>
                            <a:srgbClr val="F1F6FB"/>
                          </a:solidFill>
                          <a:latin typeface="Calibri" pitchFamily="34" charset="0"/>
                          <a:ea typeface="Calibri" pitchFamily="34" charset="-122"/>
                          <a:cs typeface="Calibri" pitchFamily="34" charset="-120"/>
                        </a:rPr>
                        <a:t>18 relationships, 0 mismatches</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c>
                  <a:txBody>
                    <a:bodyPr/>
                    <a:lstStyle/>
                    <a:p>
                      <a:pPr indent="0" marL="0">
                        <a:buNone/>
                      </a:pPr>
                      <a:r>
                        <a:rPr lang="en-US" sz="1300" dirty="0">
                          <a:solidFill>
                            <a:srgbClr val="A9BBD0"/>
                          </a:solidFill>
                          <a:latin typeface="Calibri" pitchFamily="34" charset="0"/>
                          <a:ea typeface="Calibri" pitchFamily="34" charset="-122"/>
                          <a:cs typeface="Calibri" pitchFamily="34" charset="-120"/>
                        </a:rPr>
                        <a:t>Development</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r>
              <a:tr h="512064">
                <a:tc>
                  <a:txBody>
                    <a:bodyPr/>
                    <a:lstStyle/>
                    <a:p>
                      <a:pPr indent="0" marL="0">
                        <a:buNone/>
                      </a:pPr>
                      <a:r>
                        <a:rPr lang="en-US" sz="1300" b="1" dirty="0">
                          <a:solidFill>
                            <a:srgbClr val="F1F6FB"/>
                          </a:solidFill>
                          <a:latin typeface="Calibri" pitchFamily="34" charset="0"/>
                          <a:ea typeface="Calibri" pitchFamily="34" charset="-122"/>
                          <a:cs typeface="Calibri" pitchFamily="34" charset="-120"/>
                        </a:rPr>
                        <a:t>Tree check vs pstree</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c>
                  <a:txBody>
                    <a:bodyPr/>
                    <a:lstStyle/>
                    <a:p>
                      <a:pPr indent="0" marL="0">
                        <a:buNone/>
                      </a:pPr>
                      <a:r>
                        <a:rPr lang="en-US" sz="1300" dirty="0">
                          <a:solidFill>
                            <a:srgbClr val="F1F6FB"/>
                          </a:solidFill>
                          <a:latin typeface="Calibri" pitchFamily="34" charset="0"/>
                          <a:ea typeface="Calibri" pitchFamily="34" charset="-122"/>
                          <a:cs typeface="Calibri" pitchFamily="34" charset="-120"/>
                        </a:rPr>
                        <a:t>13 sampled, 0 mismatches, 5 skipped</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c>
                  <a:txBody>
                    <a:bodyPr/>
                    <a:lstStyle/>
                    <a:p>
                      <a:pPr indent="0" marL="0">
                        <a:buNone/>
                      </a:pPr>
                      <a:r>
                        <a:rPr lang="en-US" sz="1300" dirty="0">
                          <a:solidFill>
                            <a:srgbClr val="A9BBD0"/>
                          </a:solidFill>
                          <a:latin typeface="Calibri" pitchFamily="34" charset="0"/>
                          <a:ea typeface="Calibri" pitchFamily="34" charset="-122"/>
                          <a:cs typeface="Calibri" pitchFamily="34" charset="-120"/>
                        </a:rPr>
                        <a:t>Development</a:t>
                      </a:r>
                      <a:endParaRPr lang="en-US" sz="1300" dirty="0">
                        <a:latin typeface="Calibri" charset="0"/>
                        <a:ea typeface="Calibri" charset="0"/>
                        <a:cs typeface="Calibri" charset="0"/>
                      </a:endParaRPr>
                    </a:p>
                  </a:txBody>
                  <a:tcPr marL="91440" marR="91440" marT="36576" marB="36576" anchor="ctr">
                    <a:lnL w="9525" cap="flat" cmpd="sng" algn="ctr">
                      <a:solidFill>
                        <a:srgbClr val="2A4468"/>
                      </a:solidFill>
                      <a:prstDash val="solid"/>
                      <a:round/>
                      <a:headEnd type="none" w="med" len="med"/>
                      <a:tailEnd type="none" w="med" len="med"/>
                    </a:lnL>
                    <a:lnR w="9525" cap="flat" cmpd="sng" algn="ctr">
                      <a:solidFill>
                        <a:srgbClr val="2A4468"/>
                      </a:solidFill>
                      <a:prstDash val="solid"/>
                      <a:round/>
                      <a:headEnd type="none" w="med" len="med"/>
                      <a:tailEnd type="none" w="med" len="med"/>
                    </a:lnR>
                    <a:lnT w="9525" cap="flat" cmpd="sng" algn="ctr">
                      <a:solidFill>
                        <a:srgbClr val="2A4468"/>
                      </a:solidFill>
                      <a:prstDash val="solid"/>
                      <a:round/>
                      <a:headEnd type="none" w="med" len="med"/>
                      <a:tailEnd type="none" w="med" len="med"/>
                    </a:lnT>
                    <a:lnB w="9525" cap="flat" cmpd="sng" algn="ctr">
                      <a:solidFill>
                        <a:srgbClr val="2A4468"/>
                      </a:solidFill>
                      <a:prstDash val="solid"/>
                      <a:round/>
                      <a:headEnd type="none" w="med" len="med"/>
                      <a:tailEnd type="none" w="med" len="med"/>
                    </a:lnB>
                    <a:solidFill>
                      <a:srgbClr val="13233D"/>
                    </a:solidFill>
                  </a:tcPr>
                </a:tc>
              </a:tr>
            </a:tbl>
          </a:graphicData>
        </a:graphic>
      </p:graphicFrame>
      <p:sp>
        <p:nvSpPr>
          <p:cNvPr id="5" name="Text 1"/>
          <p:cNvSpPr txBox="1"/>
          <p:nvPr/>
        </p:nvSpPr>
        <p:spPr>
          <a:xfrm>
            <a:off x="548640" y="5669280"/>
            <a:ext cx="7680960" cy="365760"/>
          </a:xfrm>
          <a:prstGeom prst="rect">
            <a:avLst/>
          </a:prstGeom>
          <a:noFill/>
          <a:ln/>
        </p:spPr>
        <p:txBody>
          <a:bodyPr wrap="square" lIns="0" tIns="0" rIns="0" bIns="0" rtlCol="0" anchor="t"/>
          <a:lstStyle/>
          <a:p>
            <a:pPr indent="0" marL="0">
              <a:buNone/>
            </a:pPr>
            <a:r>
              <a:rPr lang="en-US" sz="1100" dirty="0">
                <a:solidFill>
                  <a:srgbClr val="7F93AB"/>
                </a:solidFill>
                <a:latin typeface="Calibri" pitchFamily="34" charset="0"/>
                <a:ea typeface="Calibri" pitchFamily="34" charset="-122"/>
                <a:cs typeface="Calibri" pitchFamily="34" charset="-120"/>
              </a:rPr>
              <a:t>Source: VALIDATION_REPORT.md, v1.0.1. The tree check is a single best-effort run.</a:t>
            </a:r>
            <a:endParaRPr lang="en-US" sz="1100" dirty="0"/>
          </a:p>
        </p:txBody>
      </p:sp>
      <p:sp>
        <p:nvSpPr>
          <p:cNvPr id="6" name="Shape 2"/>
          <p:cNvSpPr/>
          <p:nvPr/>
        </p:nvSpPr>
        <p:spPr>
          <a:xfrm>
            <a:off x="8503920" y="1371600"/>
            <a:ext cx="3108960" cy="4526280"/>
          </a:xfrm>
          <a:prstGeom prst="roundRect">
            <a:avLst>
              <a:gd name="adj" fmla="val 2353"/>
            </a:avLst>
          </a:prstGeom>
          <a:solidFill>
            <a:srgbClr val="13233D"/>
          </a:solidFill>
          <a:ln w="12700">
            <a:solidFill>
              <a:srgbClr val="F5B94A"/>
            </a:solidFill>
            <a:prstDash val="dash"/>
          </a:ln>
        </p:spPr>
      </p:sp>
      <p:sp>
        <p:nvSpPr>
          <p:cNvPr id="7" name="Text 3"/>
          <p:cNvSpPr txBox="1"/>
          <p:nvPr/>
        </p:nvSpPr>
        <p:spPr>
          <a:xfrm>
            <a:off x="8732520" y="1508760"/>
            <a:ext cx="2743200" cy="365760"/>
          </a:xfrm>
          <a:prstGeom prst="rect">
            <a:avLst/>
          </a:prstGeom>
          <a:noFill/>
          <a:ln/>
        </p:spPr>
        <p:txBody>
          <a:bodyPr wrap="square" lIns="0" tIns="0" rIns="0" bIns="0" rtlCol="0" anchor="t"/>
          <a:lstStyle/>
          <a:p>
            <a:pPr indent="0" marL="0">
              <a:buNone/>
            </a:pPr>
            <a:r>
              <a:rPr lang="en-US" sz="1900" b="1" dirty="0">
                <a:solidFill>
                  <a:srgbClr val="F5B94A"/>
                </a:solidFill>
                <a:latin typeface="Calibri" pitchFamily="34" charset="0"/>
                <a:ea typeface="Calibri" pitchFamily="34" charset="-122"/>
                <a:cs typeface="Calibri" pitchFamily="34" charset="-120"/>
              </a:rPr>
              <a:t>Not yet verified</a:t>
            </a:r>
            <a:endParaRPr lang="en-US" sz="1900" dirty="0"/>
          </a:p>
        </p:txBody>
      </p:sp>
      <p:sp>
        <p:nvSpPr>
          <p:cNvPr id="8" name="Text 4"/>
          <p:cNvSpPr txBox="1"/>
          <p:nvPr/>
        </p:nvSpPr>
        <p:spPr>
          <a:xfrm>
            <a:off x="8732520" y="2103120"/>
            <a:ext cx="2697480" cy="1051560"/>
          </a:xfrm>
          <a:prstGeom prst="rect">
            <a:avLst/>
          </a:prstGeom>
          <a:noFill/>
          <a:ln/>
        </p:spPr>
        <p:txBody>
          <a:bodyPr wrap="square" lIns="0" tIns="0" rIns="0" bIns="0" rtlCol="0" anchor="t"/>
          <a:lstStyle/>
          <a:p>
            <a:pPr indent="0" marL="0">
              <a:buNone/>
            </a:pPr>
            <a:r>
              <a:rPr lang="en-US" sz="1500" dirty="0">
                <a:solidFill>
                  <a:srgbClr val="F1F6FB"/>
                </a:solidFill>
                <a:latin typeface="Calibri" pitchFamily="34" charset="0"/>
                <a:ea typeface="Calibri" pitchFamily="34" charset="-122"/>
                <a:cs typeface="Calibri" pitchFamily="34" charset="-120"/>
              </a:rPr>
              <a:t>Real-browser click-through of all four sections</a:t>
            </a:r>
            <a:endParaRPr lang="en-US" sz="1500" dirty="0"/>
          </a:p>
        </p:txBody>
      </p:sp>
      <p:sp>
        <p:nvSpPr>
          <p:cNvPr id="9" name="Text 5"/>
          <p:cNvSpPr txBox="1"/>
          <p:nvPr/>
        </p:nvSpPr>
        <p:spPr>
          <a:xfrm>
            <a:off x="8732520" y="3291840"/>
            <a:ext cx="2697480" cy="1051560"/>
          </a:xfrm>
          <a:prstGeom prst="rect">
            <a:avLst/>
          </a:prstGeom>
          <a:noFill/>
          <a:ln/>
        </p:spPr>
        <p:txBody>
          <a:bodyPr wrap="square" lIns="0" tIns="0" rIns="0" bIns="0" rtlCol="0" anchor="t"/>
          <a:lstStyle/>
          <a:p>
            <a:pPr indent="0" marL="0">
              <a:buNone/>
            </a:pPr>
            <a:r>
              <a:rPr lang="en-US" sz="1500" dirty="0">
                <a:solidFill>
                  <a:srgbClr val="F1F6FB"/>
                </a:solidFill>
                <a:latin typeface="Calibri" pitchFamily="34" charset="0"/>
                <a:ea typeface="Calibri" pitchFamily="34" charset="-122"/>
                <a:cs typeface="Calibri" pitchFamily="34" charset="-120"/>
              </a:rPr>
              <a:t>Acceptance run on the target Ubuntu machine</a:t>
            </a:r>
            <a:endParaRPr lang="en-US" sz="1500" dirty="0"/>
          </a:p>
        </p:txBody>
      </p:sp>
      <p:sp>
        <p:nvSpPr>
          <p:cNvPr id="10" name="Text 6"/>
          <p:cNvSpPr txBox="1"/>
          <p:nvPr/>
        </p:nvSpPr>
        <p:spPr>
          <a:xfrm>
            <a:off x="8732520" y="4480560"/>
            <a:ext cx="2697480" cy="1051560"/>
          </a:xfrm>
          <a:prstGeom prst="rect">
            <a:avLst/>
          </a:prstGeom>
          <a:noFill/>
          <a:ln/>
        </p:spPr>
        <p:txBody>
          <a:bodyPr wrap="square" lIns="0" tIns="0" rIns="0" bIns="0" rtlCol="0" anchor="t"/>
          <a:lstStyle/>
          <a:p>
            <a:pPr indent="0" marL="0">
              <a:buNone/>
            </a:pPr>
            <a:r>
              <a:rPr lang="en-US" sz="1500" dirty="0">
                <a:solidFill>
                  <a:srgbClr val="F1F6FB"/>
                </a:solidFill>
                <a:latin typeface="Calibri" pitchFamily="34" charset="0"/>
                <a:ea typeface="Calibri" pitchFamily="34" charset="-122"/>
                <a:cs typeface="Calibri" pitchFamily="34" charset="-120"/>
              </a:rPr>
              <a:t>Optional kernel event mode with privileges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93A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rgbClr val="F1F6FB"/>
                </a:solidFill>
                <a:latin typeface="Calibri" pitchFamily="34" charset="0"/>
                <a:ea typeface="Calibri" pitchFamily="34" charset="-122"/>
                <a:cs typeface="Calibri" pitchFamily="34" charset="-120"/>
              </a:rPr>
              <a:t>Limitations and future improvements</a:t>
            </a:r>
            <a:endParaRPr lang="en-US" sz="3400" dirty="0"/>
          </a:p>
        </p:txBody>
      </p:sp>
      <p:sp>
        <p:nvSpPr>
          <p:cNvPr id="4" name="Shape 1"/>
          <p:cNvSpPr/>
          <p:nvPr/>
        </p:nvSpPr>
        <p:spPr>
          <a:xfrm>
            <a:off x="548640" y="1371600"/>
            <a:ext cx="5486400" cy="4663440"/>
          </a:xfrm>
          <a:prstGeom prst="roundRect">
            <a:avLst>
              <a:gd name="adj" fmla="val 1569"/>
            </a:avLst>
          </a:prstGeom>
          <a:solidFill>
            <a:srgbClr val="13233D"/>
          </a:solidFill>
          <a:ln w="12700">
            <a:solidFill>
              <a:srgbClr val="2A4468"/>
            </a:solidFill>
            <a:prstDash val="solid"/>
          </a:ln>
        </p:spPr>
      </p:sp>
      <p:sp>
        <p:nvSpPr>
          <p:cNvPr id="5" name="Text 2"/>
          <p:cNvSpPr txBox="1"/>
          <p:nvPr/>
        </p:nvSpPr>
        <p:spPr>
          <a:xfrm>
            <a:off x="822960" y="1508760"/>
            <a:ext cx="4937760" cy="365760"/>
          </a:xfrm>
          <a:prstGeom prst="rect">
            <a:avLst/>
          </a:prstGeom>
          <a:noFill/>
          <a:ln/>
        </p:spPr>
        <p:txBody>
          <a:bodyPr wrap="square" lIns="0" tIns="0" rIns="0" bIns="0" rtlCol="0" anchor="t"/>
          <a:lstStyle/>
          <a:p>
            <a:pPr indent="0" marL="0">
              <a:buNone/>
            </a:pPr>
            <a:r>
              <a:rPr lang="en-US" sz="2000" b="1" dirty="0">
                <a:solidFill>
                  <a:srgbClr val="F1F6FB"/>
                </a:solidFill>
                <a:latin typeface="Calibri" pitchFamily="34" charset="0"/>
                <a:ea typeface="Calibri" pitchFamily="34" charset="-122"/>
                <a:cs typeface="Calibri" pitchFamily="34" charset="-120"/>
              </a:rPr>
              <a:t>Current limitations</a:t>
            </a:r>
            <a:endParaRPr lang="en-US" sz="2000" dirty="0"/>
          </a:p>
        </p:txBody>
      </p:sp>
      <p:sp>
        <p:nvSpPr>
          <p:cNvPr id="6" name="Shape 3"/>
          <p:cNvSpPr/>
          <p:nvPr/>
        </p:nvSpPr>
        <p:spPr>
          <a:xfrm>
            <a:off x="822960" y="2103120"/>
            <a:ext cx="128016" cy="128016"/>
          </a:xfrm>
          <a:prstGeom prst="ellipse">
            <a:avLst/>
          </a:prstGeom>
          <a:solidFill>
            <a:srgbClr val="F5B94A"/>
          </a:solidFill>
          <a:ln w="15875">
            <a:solidFill>
              <a:srgbClr val="F5B94A"/>
            </a:solidFill>
            <a:prstDash val="solid"/>
          </a:ln>
        </p:spPr>
      </p:sp>
      <p:sp>
        <p:nvSpPr>
          <p:cNvPr id="7" name="Text 4"/>
          <p:cNvSpPr txBox="1"/>
          <p:nvPr/>
        </p:nvSpPr>
        <p:spPr>
          <a:xfrm>
            <a:off x="1097280" y="2011680"/>
            <a:ext cx="4754880" cy="594360"/>
          </a:xfrm>
          <a:prstGeom prst="rect">
            <a:avLst/>
          </a:prstGeom>
          <a:noFill/>
          <a:ln/>
        </p:spPr>
        <p:txBody>
          <a:bodyPr wrap="square" lIns="0" tIns="0" rIns="0" bIns="0" rtlCol="0" anchor="t"/>
          <a:lstStyle/>
          <a:p>
            <a:pPr indent="0" marL="0">
              <a:buNone/>
            </a:pPr>
            <a:r>
              <a:rPr lang="en-US" sz="1400" dirty="0">
                <a:solidFill>
                  <a:srgbClr val="F1F6FB"/>
                </a:solidFill>
                <a:latin typeface="Calibri" pitchFamily="34" charset="0"/>
                <a:ea typeface="Calibri" pitchFamily="34" charset="-122"/>
                <a:cs typeface="Calibri" pitchFamily="34" charset="-120"/>
              </a:rPr>
              <a:t>Short-lived processes can be missed between snapshots.</a:t>
            </a:r>
            <a:endParaRPr lang="en-US" sz="1400" dirty="0"/>
          </a:p>
        </p:txBody>
      </p:sp>
      <p:sp>
        <p:nvSpPr>
          <p:cNvPr id="8" name="Shape 5"/>
          <p:cNvSpPr/>
          <p:nvPr/>
        </p:nvSpPr>
        <p:spPr>
          <a:xfrm>
            <a:off x="822960" y="2743200"/>
            <a:ext cx="128016" cy="128016"/>
          </a:xfrm>
          <a:prstGeom prst="ellipse">
            <a:avLst/>
          </a:prstGeom>
          <a:solidFill>
            <a:srgbClr val="F5B94A"/>
          </a:solidFill>
          <a:ln w="15875">
            <a:solidFill>
              <a:srgbClr val="F5B94A"/>
            </a:solidFill>
            <a:prstDash val="solid"/>
          </a:ln>
        </p:spPr>
      </p:sp>
      <p:sp>
        <p:nvSpPr>
          <p:cNvPr id="9" name="Text 6"/>
          <p:cNvSpPr txBox="1"/>
          <p:nvPr/>
        </p:nvSpPr>
        <p:spPr>
          <a:xfrm>
            <a:off x="1097280" y="2651760"/>
            <a:ext cx="4754880" cy="594360"/>
          </a:xfrm>
          <a:prstGeom prst="rect">
            <a:avLst/>
          </a:prstGeom>
          <a:noFill/>
          <a:ln/>
        </p:spPr>
        <p:txBody>
          <a:bodyPr wrap="square" lIns="0" tIns="0" rIns="0" bIns="0" rtlCol="0" anchor="t"/>
          <a:lstStyle/>
          <a:p>
            <a:pPr indent="0" marL="0">
              <a:buNone/>
            </a:pPr>
            <a:r>
              <a:rPr lang="en-US" sz="1400" dirty="0">
                <a:solidFill>
                  <a:srgbClr val="F1F6FB"/>
                </a:solidFill>
                <a:latin typeface="Calibri" pitchFamily="34" charset="0"/>
                <a:ea typeface="Calibri" pitchFamily="34" charset="-122"/>
                <a:cs typeface="Calibri" pitchFamily="34" charset="-120"/>
              </a:rPr>
              <a:t>Optional event collection needs kernel support and permissions, and can lose events.</a:t>
            </a:r>
            <a:endParaRPr lang="en-US" sz="1400" dirty="0"/>
          </a:p>
        </p:txBody>
      </p:sp>
      <p:sp>
        <p:nvSpPr>
          <p:cNvPr id="10" name="Shape 7"/>
          <p:cNvSpPr/>
          <p:nvPr/>
        </p:nvSpPr>
        <p:spPr>
          <a:xfrm>
            <a:off x="822960" y="3383280"/>
            <a:ext cx="128016" cy="128016"/>
          </a:xfrm>
          <a:prstGeom prst="ellipse">
            <a:avLst/>
          </a:prstGeom>
          <a:solidFill>
            <a:srgbClr val="F5B94A"/>
          </a:solidFill>
          <a:ln w="15875">
            <a:solidFill>
              <a:srgbClr val="F5B94A"/>
            </a:solidFill>
            <a:prstDash val="solid"/>
          </a:ln>
        </p:spPr>
      </p:sp>
      <p:sp>
        <p:nvSpPr>
          <p:cNvPr id="11" name="Text 8"/>
          <p:cNvSpPr txBox="1"/>
          <p:nvPr/>
        </p:nvSpPr>
        <p:spPr>
          <a:xfrm>
            <a:off x="1097280" y="3291840"/>
            <a:ext cx="4754880" cy="594360"/>
          </a:xfrm>
          <a:prstGeom prst="rect">
            <a:avLst/>
          </a:prstGeom>
          <a:noFill/>
          <a:ln/>
        </p:spPr>
        <p:txBody>
          <a:bodyPr wrap="square" lIns="0" tIns="0" rIns="0" bIns="0" rtlCol="0" anchor="t"/>
          <a:lstStyle/>
          <a:p>
            <a:pPr indent="0" marL="0">
              <a:buNone/>
            </a:pPr>
            <a:r>
              <a:rPr lang="en-US" sz="1400" dirty="0">
                <a:solidFill>
                  <a:srgbClr val="F1F6FB"/>
                </a:solidFill>
                <a:latin typeface="Calibri" pitchFamily="34" charset="0"/>
                <a:ea typeface="Calibri" pitchFamily="34" charset="-122"/>
                <a:cs typeface="Calibri" pitchFamily="34" charset="-120"/>
              </a:rPr>
              <a:t>Some process fields may be inaccessible.</a:t>
            </a:r>
            <a:endParaRPr lang="en-US" sz="1400" dirty="0"/>
          </a:p>
        </p:txBody>
      </p:sp>
      <p:sp>
        <p:nvSpPr>
          <p:cNvPr id="12" name="Shape 9"/>
          <p:cNvSpPr/>
          <p:nvPr/>
        </p:nvSpPr>
        <p:spPr>
          <a:xfrm>
            <a:off x="822960" y="4023360"/>
            <a:ext cx="128016" cy="128016"/>
          </a:xfrm>
          <a:prstGeom prst="ellipse">
            <a:avLst/>
          </a:prstGeom>
          <a:solidFill>
            <a:srgbClr val="F5B94A"/>
          </a:solidFill>
          <a:ln w="15875">
            <a:solidFill>
              <a:srgbClr val="F5B94A"/>
            </a:solidFill>
            <a:prstDash val="solid"/>
          </a:ln>
        </p:spPr>
      </p:sp>
      <p:sp>
        <p:nvSpPr>
          <p:cNvPr id="13" name="Text 10"/>
          <p:cNvSpPr txBox="1"/>
          <p:nvPr/>
        </p:nvSpPr>
        <p:spPr>
          <a:xfrm>
            <a:off x="1097280" y="3931920"/>
            <a:ext cx="4754880" cy="594360"/>
          </a:xfrm>
          <a:prstGeom prst="rect">
            <a:avLst/>
          </a:prstGeom>
          <a:noFill/>
          <a:ln/>
        </p:spPr>
        <p:txBody>
          <a:bodyPr wrap="square" lIns="0" tIns="0" rIns="0" bIns="0" rtlCol="0" anchor="t"/>
          <a:lstStyle/>
          <a:p>
            <a:pPr indent="0" marL="0">
              <a:buNone/>
            </a:pPr>
            <a:r>
              <a:rPr lang="en-US" sz="1400" dirty="0">
                <a:solidFill>
                  <a:srgbClr val="F1F6FB"/>
                </a:solidFill>
                <a:latin typeface="Calibri" pitchFamily="34" charset="0"/>
                <a:ea typeface="Calibri" pitchFamily="34" charset="-122"/>
                <a:cs typeface="Calibri" pitchFamily="34" charset="-120"/>
              </a:rPr>
              <a:t>Live snapshots are not perfectly atomic.</a:t>
            </a:r>
            <a:endParaRPr lang="en-US" sz="1400" dirty="0"/>
          </a:p>
        </p:txBody>
      </p:sp>
      <p:sp>
        <p:nvSpPr>
          <p:cNvPr id="14" name="Shape 11"/>
          <p:cNvSpPr/>
          <p:nvPr/>
        </p:nvSpPr>
        <p:spPr>
          <a:xfrm>
            <a:off x="822960" y="4663440"/>
            <a:ext cx="128016" cy="128016"/>
          </a:xfrm>
          <a:prstGeom prst="ellipse">
            <a:avLst/>
          </a:prstGeom>
          <a:solidFill>
            <a:srgbClr val="F5B94A"/>
          </a:solidFill>
          <a:ln w="15875">
            <a:solidFill>
              <a:srgbClr val="F5B94A"/>
            </a:solidFill>
            <a:prstDash val="solid"/>
          </a:ln>
        </p:spPr>
      </p:sp>
      <p:sp>
        <p:nvSpPr>
          <p:cNvPr id="15" name="Text 12"/>
          <p:cNvSpPr txBox="1"/>
          <p:nvPr/>
        </p:nvSpPr>
        <p:spPr>
          <a:xfrm>
            <a:off x="1097280" y="4572000"/>
            <a:ext cx="4754880" cy="594360"/>
          </a:xfrm>
          <a:prstGeom prst="rect">
            <a:avLst/>
          </a:prstGeom>
          <a:noFill/>
          <a:ln/>
        </p:spPr>
        <p:txBody>
          <a:bodyPr wrap="square" lIns="0" tIns="0" rIns="0" bIns="0" rtlCol="0" anchor="t"/>
          <a:lstStyle/>
          <a:p>
            <a:pPr indent="0" marL="0">
              <a:buNone/>
            </a:pPr>
            <a:r>
              <a:rPr lang="en-US" sz="1400" dirty="0">
                <a:solidFill>
                  <a:srgbClr val="F1F6FB"/>
                </a:solidFill>
                <a:latin typeface="Calibri" pitchFamily="34" charset="0"/>
                <a:ea typeface="Calibri" pitchFamily="34" charset="-122"/>
                <a:cs typeface="Calibri" pitchFamily="34" charset="-120"/>
              </a:rPr>
              <a:t>Timeline history is in memory and resets on server restart.</a:t>
            </a:r>
            <a:endParaRPr lang="en-US" sz="1400" dirty="0"/>
          </a:p>
        </p:txBody>
      </p:sp>
      <p:sp>
        <p:nvSpPr>
          <p:cNvPr id="16" name="Shape 13"/>
          <p:cNvSpPr/>
          <p:nvPr/>
        </p:nvSpPr>
        <p:spPr>
          <a:xfrm>
            <a:off x="822960" y="5303520"/>
            <a:ext cx="128016" cy="128016"/>
          </a:xfrm>
          <a:prstGeom prst="ellipse">
            <a:avLst/>
          </a:prstGeom>
          <a:solidFill>
            <a:srgbClr val="F5B94A"/>
          </a:solidFill>
          <a:ln w="15875">
            <a:solidFill>
              <a:srgbClr val="F5B94A"/>
            </a:solidFill>
            <a:prstDash val="solid"/>
          </a:ln>
        </p:spPr>
      </p:sp>
      <p:sp>
        <p:nvSpPr>
          <p:cNvPr id="17" name="Text 14"/>
          <p:cNvSpPr txBox="1"/>
          <p:nvPr/>
        </p:nvSpPr>
        <p:spPr>
          <a:xfrm>
            <a:off x="1097280" y="5212080"/>
            <a:ext cx="4754880" cy="594360"/>
          </a:xfrm>
          <a:prstGeom prst="rect">
            <a:avLst/>
          </a:prstGeom>
          <a:noFill/>
          <a:ln/>
        </p:spPr>
        <p:txBody>
          <a:bodyPr wrap="square" lIns="0" tIns="0" rIns="0" bIns="0" rtlCol="0" anchor="t"/>
          <a:lstStyle/>
          <a:p>
            <a:pPr indent="0" marL="0">
              <a:buNone/>
            </a:pPr>
            <a:r>
              <a:rPr lang="en-US" sz="1400" dirty="0">
                <a:solidFill>
                  <a:srgbClr val="F1F6FB"/>
                </a:solidFill>
                <a:latin typeface="Calibri" pitchFamily="34" charset="0"/>
                <a:ea typeface="Calibri" pitchFamily="34" charset="-122"/>
                <a:cs typeface="Calibri" pitchFamily="34" charset="-120"/>
              </a:rPr>
              <a:t>The Lab is educational, not a security sandbox.</a:t>
            </a:r>
            <a:endParaRPr lang="en-US" sz="1400" dirty="0"/>
          </a:p>
        </p:txBody>
      </p:sp>
      <p:sp>
        <p:nvSpPr>
          <p:cNvPr id="18" name="Shape 15"/>
          <p:cNvSpPr/>
          <p:nvPr/>
        </p:nvSpPr>
        <p:spPr>
          <a:xfrm>
            <a:off x="6309360" y="1371600"/>
            <a:ext cx="5303520" cy="4663440"/>
          </a:xfrm>
          <a:prstGeom prst="roundRect">
            <a:avLst>
              <a:gd name="adj" fmla="val 1569"/>
            </a:avLst>
          </a:prstGeom>
          <a:solidFill>
            <a:srgbClr val="13233D"/>
          </a:solidFill>
          <a:ln w="12700">
            <a:solidFill>
              <a:srgbClr val="0E7C86"/>
            </a:solidFill>
            <a:prstDash val="solid"/>
          </a:ln>
        </p:spPr>
      </p:sp>
      <p:sp>
        <p:nvSpPr>
          <p:cNvPr id="19" name="Text 16"/>
          <p:cNvSpPr txBox="1"/>
          <p:nvPr/>
        </p:nvSpPr>
        <p:spPr>
          <a:xfrm>
            <a:off x="6583680" y="1508760"/>
            <a:ext cx="4754880" cy="365760"/>
          </a:xfrm>
          <a:prstGeom prst="rect">
            <a:avLst/>
          </a:prstGeom>
          <a:noFill/>
          <a:ln/>
        </p:spPr>
        <p:txBody>
          <a:bodyPr wrap="square" lIns="0" tIns="0" rIns="0" bIns="0" rtlCol="0" anchor="t"/>
          <a:lstStyle/>
          <a:p>
            <a:pPr indent="0" marL="0">
              <a:buNone/>
            </a:pPr>
            <a:r>
              <a:rPr lang="en-US" sz="2000" b="1" dirty="0">
                <a:solidFill>
                  <a:srgbClr val="22D3C5"/>
                </a:solidFill>
                <a:latin typeface="Calibri" pitchFamily="34" charset="0"/>
                <a:ea typeface="Calibri" pitchFamily="34" charset="-122"/>
                <a:cs typeface="Calibri" pitchFamily="34" charset="-120"/>
              </a:rPr>
              <a:t>Future work (not implemented)</a:t>
            </a:r>
            <a:endParaRPr lang="en-US" sz="2000" dirty="0"/>
          </a:p>
        </p:txBody>
      </p:sp>
      <p:sp>
        <p:nvSpPr>
          <p:cNvPr id="20" name="Shape 17"/>
          <p:cNvSpPr/>
          <p:nvPr/>
        </p:nvSpPr>
        <p:spPr>
          <a:xfrm>
            <a:off x="6583680" y="2103120"/>
            <a:ext cx="128016" cy="128016"/>
          </a:xfrm>
          <a:prstGeom prst="ellipse">
            <a:avLst/>
          </a:prstGeom>
          <a:solidFill>
            <a:srgbClr val="22D3C5"/>
          </a:solidFill>
          <a:ln w="15875">
            <a:solidFill>
              <a:srgbClr val="22D3C5"/>
            </a:solidFill>
            <a:prstDash val="solid"/>
          </a:ln>
        </p:spPr>
      </p:sp>
      <p:sp>
        <p:nvSpPr>
          <p:cNvPr id="21" name="Text 18"/>
          <p:cNvSpPr txBox="1"/>
          <p:nvPr/>
        </p:nvSpPr>
        <p:spPr>
          <a:xfrm>
            <a:off x="6858000" y="2011680"/>
            <a:ext cx="4572000" cy="685800"/>
          </a:xfrm>
          <a:prstGeom prst="rect">
            <a:avLst/>
          </a:prstGeom>
          <a:noFill/>
          <a:ln/>
        </p:spPr>
        <p:txBody>
          <a:bodyPr wrap="square" lIns="0" tIns="0" rIns="0" bIns="0" rtlCol="0" anchor="t"/>
          <a:lstStyle/>
          <a:p>
            <a:pPr indent="0" marL="0">
              <a:buNone/>
            </a:pPr>
            <a:r>
              <a:rPr lang="en-US" sz="1400" dirty="0">
                <a:solidFill>
                  <a:srgbClr val="F1F6FB"/>
                </a:solidFill>
                <a:latin typeface="Calibri" pitchFamily="34" charset="0"/>
                <a:ea typeface="Calibri" pitchFamily="34" charset="-122"/>
                <a:cs typeface="Calibri" pitchFamily="34" charset="-120"/>
              </a:rPr>
              <a:t>Persist timeline history across restarts.</a:t>
            </a:r>
            <a:endParaRPr lang="en-US" sz="1400" dirty="0"/>
          </a:p>
        </p:txBody>
      </p:sp>
      <p:sp>
        <p:nvSpPr>
          <p:cNvPr id="22" name="Shape 19"/>
          <p:cNvSpPr/>
          <p:nvPr/>
        </p:nvSpPr>
        <p:spPr>
          <a:xfrm>
            <a:off x="6583680" y="2880360"/>
            <a:ext cx="128016" cy="128016"/>
          </a:xfrm>
          <a:prstGeom prst="ellipse">
            <a:avLst/>
          </a:prstGeom>
          <a:solidFill>
            <a:srgbClr val="22D3C5"/>
          </a:solidFill>
          <a:ln w="15875">
            <a:solidFill>
              <a:srgbClr val="22D3C5"/>
            </a:solidFill>
            <a:prstDash val="solid"/>
          </a:ln>
        </p:spPr>
      </p:sp>
      <p:sp>
        <p:nvSpPr>
          <p:cNvPr id="23" name="Text 20"/>
          <p:cNvSpPr txBox="1"/>
          <p:nvPr/>
        </p:nvSpPr>
        <p:spPr>
          <a:xfrm>
            <a:off x="6858000" y="2788920"/>
            <a:ext cx="4572000" cy="685800"/>
          </a:xfrm>
          <a:prstGeom prst="rect">
            <a:avLst/>
          </a:prstGeom>
          <a:noFill/>
          <a:ln/>
        </p:spPr>
        <p:txBody>
          <a:bodyPr wrap="square" lIns="0" tIns="0" rIns="0" bIns="0" rtlCol="0" anchor="t"/>
          <a:lstStyle/>
          <a:p>
            <a:pPr indent="0" marL="0">
              <a:buNone/>
            </a:pPr>
            <a:r>
              <a:rPr lang="en-US" sz="1400" dirty="0">
                <a:solidFill>
                  <a:srgbClr val="F1F6FB"/>
                </a:solidFill>
                <a:latin typeface="Calibri" pitchFamily="34" charset="0"/>
                <a:ea typeface="Calibri" pitchFamily="34" charset="-122"/>
                <a:cs typeface="Calibri" pitchFamily="34" charset="-120"/>
              </a:rPr>
              <a:t>Historical analysis of process activity.</a:t>
            </a:r>
            <a:endParaRPr lang="en-US" sz="1400" dirty="0"/>
          </a:p>
        </p:txBody>
      </p:sp>
      <p:sp>
        <p:nvSpPr>
          <p:cNvPr id="24" name="Shape 21"/>
          <p:cNvSpPr/>
          <p:nvPr/>
        </p:nvSpPr>
        <p:spPr>
          <a:xfrm>
            <a:off x="6583680" y="3657600"/>
            <a:ext cx="128016" cy="128016"/>
          </a:xfrm>
          <a:prstGeom prst="ellipse">
            <a:avLst/>
          </a:prstGeom>
          <a:solidFill>
            <a:srgbClr val="22D3C5"/>
          </a:solidFill>
          <a:ln w="15875">
            <a:solidFill>
              <a:srgbClr val="22D3C5"/>
            </a:solidFill>
            <a:prstDash val="solid"/>
          </a:ln>
        </p:spPr>
      </p:sp>
      <p:sp>
        <p:nvSpPr>
          <p:cNvPr id="25" name="Text 22"/>
          <p:cNvSpPr txBox="1"/>
          <p:nvPr/>
        </p:nvSpPr>
        <p:spPr>
          <a:xfrm>
            <a:off x="6858000" y="3566160"/>
            <a:ext cx="4572000" cy="685800"/>
          </a:xfrm>
          <a:prstGeom prst="rect">
            <a:avLst/>
          </a:prstGeom>
          <a:noFill/>
          <a:ln/>
        </p:spPr>
        <p:txBody>
          <a:bodyPr wrap="square" lIns="0" tIns="0" rIns="0" bIns="0" rtlCol="0" anchor="t"/>
          <a:lstStyle/>
          <a:p>
            <a:pPr indent="0" marL="0">
              <a:buNone/>
            </a:pPr>
            <a:r>
              <a:rPr lang="en-US" sz="1400" dirty="0">
                <a:solidFill>
                  <a:srgbClr val="F1F6FB"/>
                </a:solidFill>
                <a:latin typeface="Calibri" pitchFamily="34" charset="0"/>
                <a:ea typeface="Calibri" pitchFamily="34" charset="-122"/>
                <a:cs typeface="Calibri" pitchFamily="34" charset="-120"/>
              </a:rPr>
              <a:t>Additional visualizations beyond the tree.</a:t>
            </a:r>
            <a:endParaRPr lang="en-US" sz="1400" dirty="0"/>
          </a:p>
        </p:txBody>
      </p:sp>
      <p:sp>
        <p:nvSpPr>
          <p:cNvPr id="26" name="Shape 23"/>
          <p:cNvSpPr/>
          <p:nvPr/>
        </p:nvSpPr>
        <p:spPr>
          <a:xfrm>
            <a:off x="6583680" y="4434840"/>
            <a:ext cx="128016" cy="128016"/>
          </a:xfrm>
          <a:prstGeom prst="ellipse">
            <a:avLst/>
          </a:prstGeom>
          <a:solidFill>
            <a:srgbClr val="22D3C5"/>
          </a:solidFill>
          <a:ln w="15875">
            <a:solidFill>
              <a:srgbClr val="22D3C5"/>
            </a:solidFill>
            <a:prstDash val="solid"/>
          </a:ln>
        </p:spPr>
      </p:sp>
      <p:sp>
        <p:nvSpPr>
          <p:cNvPr id="27" name="Text 24"/>
          <p:cNvSpPr txBox="1"/>
          <p:nvPr/>
        </p:nvSpPr>
        <p:spPr>
          <a:xfrm>
            <a:off x="6858000" y="4343400"/>
            <a:ext cx="4572000" cy="685800"/>
          </a:xfrm>
          <a:prstGeom prst="rect">
            <a:avLst/>
          </a:prstGeom>
          <a:noFill/>
          <a:ln/>
        </p:spPr>
        <p:txBody>
          <a:bodyPr wrap="square" lIns="0" tIns="0" rIns="0" bIns="0" rtlCol="0" anchor="t"/>
          <a:lstStyle/>
          <a:p>
            <a:pPr indent="0" marL="0">
              <a:buNone/>
            </a:pPr>
            <a:r>
              <a:rPr lang="en-US" sz="1400" dirty="0">
                <a:solidFill>
                  <a:srgbClr val="F1F6FB"/>
                </a:solidFill>
                <a:latin typeface="Calibri" pitchFamily="34" charset="0"/>
                <a:ea typeface="Calibri" pitchFamily="34" charset="-122"/>
                <a:cs typeface="Calibri" pitchFamily="34" charset="-120"/>
              </a:rPr>
              <a:t>Complete real-browser and target-Ubuntu acceptance testing.</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93A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rgbClr val="F1F6FB"/>
                </a:solidFill>
                <a:latin typeface="Calibri" pitchFamily="34" charset="0"/>
                <a:ea typeface="Calibri" pitchFamily="34" charset="-122"/>
                <a:cs typeface="Calibri" pitchFamily="34" charset="-120"/>
              </a:rPr>
              <a:t>Conclusion</a:t>
            </a:r>
            <a:endParaRPr lang="en-US" sz="3400" dirty="0"/>
          </a:p>
        </p:txBody>
      </p:sp>
      <p:sp>
        <p:nvSpPr>
          <p:cNvPr id="4" name="Shape 1"/>
          <p:cNvSpPr/>
          <p:nvPr/>
        </p:nvSpPr>
        <p:spPr>
          <a:xfrm>
            <a:off x="548640" y="1554480"/>
            <a:ext cx="3566160" cy="3291840"/>
          </a:xfrm>
          <a:prstGeom prst="roundRect">
            <a:avLst>
              <a:gd name="adj" fmla="val 2222"/>
            </a:avLst>
          </a:prstGeom>
          <a:solidFill>
            <a:srgbClr val="13233D"/>
          </a:solidFill>
          <a:ln w="12700">
            <a:solidFill>
              <a:srgbClr val="2A4468"/>
            </a:solidFill>
            <a:prstDash val="solid"/>
          </a:ln>
        </p:spPr>
      </p:sp>
      <p:sp>
        <p:nvSpPr>
          <p:cNvPr id="5" name="Text 2"/>
          <p:cNvSpPr txBox="1"/>
          <p:nvPr/>
        </p:nvSpPr>
        <p:spPr>
          <a:xfrm>
            <a:off x="822960" y="1783080"/>
            <a:ext cx="3017520" cy="731520"/>
          </a:xfrm>
          <a:prstGeom prst="rect">
            <a:avLst/>
          </a:prstGeom>
          <a:noFill/>
          <a:ln/>
        </p:spPr>
        <p:txBody>
          <a:bodyPr wrap="square" lIns="0" tIns="0" rIns="0" bIns="0" rtlCol="0" anchor="t"/>
          <a:lstStyle/>
          <a:p>
            <a:pPr indent="0" marL="0">
              <a:buNone/>
            </a:pPr>
            <a:r>
              <a:rPr lang="en-US" sz="2100" b="1" dirty="0">
                <a:solidFill>
                  <a:srgbClr val="22D3C5"/>
                </a:solidFill>
                <a:latin typeface="Calibri" pitchFamily="34" charset="0"/>
                <a:ea typeface="Calibri" pitchFamily="34" charset="-122"/>
                <a:cs typeface="Calibri" pitchFamily="34" charset="-120"/>
              </a:rPr>
              <a:t>Technical contribution</a:t>
            </a:r>
            <a:endParaRPr lang="en-US" sz="2100" dirty="0"/>
          </a:p>
        </p:txBody>
      </p:sp>
      <p:sp>
        <p:nvSpPr>
          <p:cNvPr id="6" name="Text 3"/>
          <p:cNvSpPr txBox="1"/>
          <p:nvPr/>
        </p:nvSpPr>
        <p:spPr>
          <a:xfrm>
            <a:off x="822960" y="2606040"/>
            <a:ext cx="3017520" cy="2103120"/>
          </a:xfrm>
          <a:prstGeom prst="rect">
            <a:avLst/>
          </a:prstGeom>
          <a:noFill/>
          <a:ln/>
        </p:spPr>
        <p:txBody>
          <a:bodyPr wrap="square" lIns="0" tIns="0" rIns="0" bIns="0" rtlCol="0" anchor="t"/>
          <a:lstStyle/>
          <a:p>
            <a:pPr indent="0" marL="0">
              <a:buNone/>
            </a:pPr>
            <a:r>
              <a:rPr lang="en-US" sz="1500" dirty="0">
                <a:solidFill>
                  <a:srgbClr val="F1F6FB"/>
                </a:solidFill>
                <a:latin typeface="Calibri" pitchFamily="34" charset="0"/>
                <a:ea typeface="Calibri" pitchFamily="34" charset="-122"/>
                <a:cs typeface="Calibri" pitchFamily="34" charset="-120"/>
              </a:rPr>
              <a:t>A dependency-free /proc collector, identity from boot ID, PID and start time, and honest inferred vs observed labelling.</a:t>
            </a:r>
            <a:endParaRPr lang="en-US" sz="1500" dirty="0"/>
          </a:p>
        </p:txBody>
      </p:sp>
      <p:sp>
        <p:nvSpPr>
          <p:cNvPr id="7" name="Shape 4"/>
          <p:cNvSpPr/>
          <p:nvPr/>
        </p:nvSpPr>
        <p:spPr>
          <a:xfrm>
            <a:off x="4297680" y="1554480"/>
            <a:ext cx="3566160" cy="3291840"/>
          </a:xfrm>
          <a:prstGeom prst="roundRect">
            <a:avLst>
              <a:gd name="adj" fmla="val 2222"/>
            </a:avLst>
          </a:prstGeom>
          <a:solidFill>
            <a:srgbClr val="1A2E4D"/>
          </a:solidFill>
          <a:ln w="12700">
            <a:solidFill>
              <a:srgbClr val="0E7C86"/>
            </a:solidFill>
            <a:prstDash val="solid"/>
          </a:ln>
        </p:spPr>
      </p:sp>
      <p:sp>
        <p:nvSpPr>
          <p:cNvPr id="8" name="Text 5"/>
          <p:cNvSpPr txBox="1"/>
          <p:nvPr/>
        </p:nvSpPr>
        <p:spPr>
          <a:xfrm>
            <a:off x="4572000" y="1783080"/>
            <a:ext cx="3017520" cy="731520"/>
          </a:xfrm>
          <a:prstGeom prst="rect">
            <a:avLst/>
          </a:prstGeom>
          <a:noFill/>
          <a:ln/>
        </p:spPr>
        <p:txBody>
          <a:bodyPr wrap="square" lIns="0" tIns="0" rIns="0" bIns="0" rtlCol="0" anchor="t"/>
          <a:lstStyle/>
          <a:p>
            <a:pPr indent="0" marL="0">
              <a:buNone/>
            </a:pPr>
            <a:r>
              <a:rPr lang="en-US" sz="2100" b="1" dirty="0">
                <a:solidFill>
                  <a:srgbClr val="22D3C5"/>
                </a:solidFill>
                <a:latin typeface="Calibri" pitchFamily="34" charset="0"/>
                <a:ea typeface="Calibri" pitchFamily="34" charset="-122"/>
                <a:cs typeface="Calibri" pitchFamily="34" charset="-120"/>
              </a:rPr>
              <a:t>Educational value</a:t>
            </a:r>
            <a:endParaRPr lang="en-US" sz="2100" dirty="0"/>
          </a:p>
        </p:txBody>
      </p:sp>
      <p:sp>
        <p:nvSpPr>
          <p:cNvPr id="9" name="Text 6"/>
          <p:cNvSpPr txBox="1"/>
          <p:nvPr/>
        </p:nvSpPr>
        <p:spPr>
          <a:xfrm>
            <a:off x="4572000" y="2606040"/>
            <a:ext cx="3017520" cy="2103120"/>
          </a:xfrm>
          <a:prstGeom prst="rect">
            <a:avLst/>
          </a:prstGeom>
          <a:noFill/>
          <a:ln/>
        </p:spPr>
        <p:txBody>
          <a:bodyPr wrap="square" lIns="0" tIns="0" rIns="0" bIns="0" rtlCol="0" anchor="t"/>
          <a:lstStyle/>
          <a:p>
            <a:pPr indent="0" marL="0">
              <a:buNone/>
            </a:pPr>
            <a:r>
              <a:rPr lang="en-US" sz="1500" dirty="0">
                <a:solidFill>
                  <a:srgbClr val="F1F6FB"/>
                </a:solidFill>
                <a:latin typeface="Calibri" pitchFamily="34" charset="0"/>
                <a:ea typeface="Calibri" pitchFamily="34" charset="-122"/>
                <a:cs typeface="Calibri" pitchFamily="34" charset="-120"/>
              </a:rPr>
              <a:t>Five guided C experiments make zombies, orphans, pipes, threads and exec visible in the live tree.</a:t>
            </a:r>
            <a:endParaRPr lang="en-US" sz="1500" dirty="0"/>
          </a:p>
        </p:txBody>
      </p:sp>
      <p:sp>
        <p:nvSpPr>
          <p:cNvPr id="10" name="Shape 7"/>
          <p:cNvSpPr/>
          <p:nvPr/>
        </p:nvSpPr>
        <p:spPr>
          <a:xfrm>
            <a:off x="8046720" y="1554480"/>
            <a:ext cx="3566160" cy="3291840"/>
          </a:xfrm>
          <a:prstGeom prst="roundRect">
            <a:avLst>
              <a:gd name="adj" fmla="val 2222"/>
            </a:avLst>
          </a:prstGeom>
          <a:solidFill>
            <a:srgbClr val="13233D"/>
          </a:solidFill>
          <a:ln w="12700">
            <a:solidFill>
              <a:srgbClr val="2A4468"/>
            </a:solidFill>
            <a:prstDash val="solid"/>
          </a:ln>
        </p:spPr>
      </p:sp>
      <p:sp>
        <p:nvSpPr>
          <p:cNvPr id="11" name="Text 8"/>
          <p:cNvSpPr txBox="1"/>
          <p:nvPr/>
        </p:nvSpPr>
        <p:spPr>
          <a:xfrm>
            <a:off x="8321040" y="1783080"/>
            <a:ext cx="3017520" cy="731520"/>
          </a:xfrm>
          <a:prstGeom prst="rect">
            <a:avLst/>
          </a:prstGeom>
          <a:noFill/>
          <a:ln/>
        </p:spPr>
        <p:txBody>
          <a:bodyPr wrap="square" lIns="0" tIns="0" rIns="0" bIns="0" rtlCol="0" anchor="t"/>
          <a:lstStyle/>
          <a:p>
            <a:pPr indent="0" marL="0">
              <a:buNone/>
            </a:pPr>
            <a:r>
              <a:rPr lang="en-US" sz="2100" b="1" dirty="0">
                <a:solidFill>
                  <a:srgbClr val="22D3C5"/>
                </a:solidFill>
                <a:latin typeface="Calibri" pitchFamily="34" charset="0"/>
                <a:ea typeface="Calibri" pitchFamily="34" charset="-122"/>
                <a:cs typeface="Calibri" pitchFamily="34" charset="-120"/>
              </a:rPr>
              <a:t>Evidence and honesty</a:t>
            </a:r>
            <a:endParaRPr lang="en-US" sz="2100" dirty="0"/>
          </a:p>
        </p:txBody>
      </p:sp>
      <p:sp>
        <p:nvSpPr>
          <p:cNvPr id="12" name="Text 9"/>
          <p:cNvSpPr txBox="1"/>
          <p:nvPr/>
        </p:nvSpPr>
        <p:spPr>
          <a:xfrm>
            <a:off x="8321040" y="2606040"/>
            <a:ext cx="3017520" cy="2103120"/>
          </a:xfrm>
          <a:prstGeom prst="rect">
            <a:avLst/>
          </a:prstGeom>
          <a:noFill/>
          <a:ln/>
        </p:spPr>
        <p:txBody>
          <a:bodyPr wrap="square" lIns="0" tIns="0" rIns="0" bIns="0" rtlCol="0" anchor="t"/>
          <a:lstStyle/>
          <a:p>
            <a:pPr indent="0" marL="0">
              <a:buNone/>
            </a:pPr>
            <a:r>
              <a:rPr lang="en-US" sz="1500" dirty="0">
                <a:solidFill>
                  <a:srgbClr val="F1F6FB"/>
                </a:solidFill>
                <a:latin typeface="Calibri" pitchFamily="34" charset="0"/>
                <a:ea typeface="Calibri" pitchFamily="34" charset="-122"/>
                <a:cs typeface="Calibri" pitchFamily="34" charset="-120"/>
              </a:rPr>
              <a:t>Cross-checked against ps and pstree. Target-machine acceptance and browser review are still to be completed.</a:t>
            </a:r>
            <a:endParaRPr lang="en-US" sz="1500" dirty="0"/>
          </a:p>
        </p:txBody>
      </p:sp>
      <p:sp>
        <p:nvSpPr>
          <p:cNvPr id="13" name="Text 10"/>
          <p:cNvSpPr txBox="1"/>
          <p:nvPr/>
        </p:nvSpPr>
        <p:spPr>
          <a:xfrm>
            <a:off x="548640" y="5257800"/>
            <a:ext cx="11064240" cy="640080"/>
          </a:xfrm>
          <a:prstGeom prst="rect">
            <a:avLst/>
          </a:prstGeom>
          <a:noFill/>
          <a:ln/>
        </p:spPr>
        <p:txBody>
          <a:bodyPr wrap="square" lIns="0" tIns="0" rIns="0" bIns="0" rtlCol="0" anchor="t"/>
          <a:lstStyle/>
          <a:p>
            <a:pPr indent="0" marL="0">
              <a:buNone/>
            </a:pPr>
            <a:r>
              <a:rPr lang="en-US" sz="2000" i="1" dirty="0">
                <a:solidFill>
                  <a:srgbClr val="A9BBD0"/>
                </a:solidFill>
                <a:latin typeface="Calibri" pitchFamily="34" charset="0"/>
                <a:ea typeface="Calibri" pitchFamily="34" charset="-122"/>
                <a:cs typeface="Calibri" pitchFamily="34" charset="-120"/>
              </a:rPr>
              <a:t>ProcScope helps users see, search and understand how Linux processes are connected.</a:t>
            </a:r>
            <a:endParaRPr lang="en-US" sz="2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93A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9418320" y="1591056"/>
            <a:ext cx="0" cy="283464"/>
          </a:xfrm>
          <a:prstGeom prst="line">
            <a:avLst/>
          </a:prstGeom>
          <a:noFill/>
          <a:ln w="19050">
            <a:solidFill>
              <a:srgbClr val="1F3A5C"/>
            </a:solidFill>
            <a:prstDash val="solid"/>
          </a:ln>
        </p:spPr>
      </p:sp>
      <p:sp>
        <p:nvSpPr>
          <p:cNvPr id="3" name="Shape 1"/>
          <p:cNvSpPr/>
          <p:nvPr/>
        </p:nvSpPr>
        <p:spPr>
          <a:xfrm>
            <a:off x="8229600" y="1874520"/>
            <a:ext cx="1188720" cy="0"/>
          </a:xfrm>
          <a:prstGeom prst="line">
            <a:avLst/>
          </a:prstGeom>
          <a:noFill/>
          <a:ln w="19050">
            <a:solidFill>
              <a:srgbClr val="1F3A5C"/>
            </a:solidFill>
            <a:prstDash val="solid"/>
          </a:ln>
        </p:spPr>
      </p:sp>
      <p:sp>
        <p:nvSpPr>
          <p:cNvPr id="4" name="Shape 2"/>
          <p:cNvSpPr/>
          <p:nvPr/>
        </p:nvSpPr>
        <p:spPr>
          <a:xfrm>
            <a:off x="8229600" y="1874520"/>
            <a:ext cx="0" cy="283464"/>
          </a:xfrm>
          <a:prstGeom prst="line">
            <a:avLst/>
          </a:prstGeom>
          <a:noFill/>
          <a:ln w="19050">
            <a:solidFill>
              <a:srgbClr val="1F3A5C"/>
            </a:solidFill>
            <a:prstDash val="solid"/>
          </a:ln>
        </p:spPr>
      </p:sp>
      <p:sp>
        <p:nvSpPr>
          <p:cNvPr id="5" name="Shape 3"/>
          <p:cNvSpPr/>
          <p:nvPr/>
        </p:nvSpPr>
        <p:spPr>
          <a:xfrm>
            <a:off x="9418320" y="1591056"/>
            <a:ext cx="0" cy="283464"/>
          </a:xfrm>
          <a:prstGeom prst="line">
            <a:avLst/>
          </a:prstGeom>
          <a:noFill/>
          <a:ln w="19050">
            <a:solidFill>
              <a:srgbClr val="1F3A5C"/>
            </a:solidFill>
            <a:prstDash val="solid"/>
          </a:ln>
        </p:spPr>
      </p:sp>
      <p:sp>
        <p:nvSpPr>
          <p:cNvPr id="6" name="Shape 4"/>
          <p:cNvSpPr/>
          <p:nvPr/>
        </p:nvSpPr>
        <p:spPr>
          <a:xfrm>
            <a:off x="9418320" y="1874520"/>
            <a:ext cx="1188720" cy="0"/>
          </a:xfrm>
          <a:prstGeom prst="line">
            <a:avLst/>
          </a:prstGeom>
          <a:noFill/>
          <a:ln w="19050">
            <a:solidFill>
              <a:srgbClr val="1F3A5C"/>
            </a:solidFill>
            <a:prstDash val="solid"/>
          </a:ln>
        </p:spPr>
      </p:sp>
      <p:sp>
        <p:nvSpPr>
          <p:cNvPr id="7" name="Shape 5"/>
          <p:cNvSpPr/>
          <p:nvPr/>
        </p:nvSpPr>
        <p:spPr>
          <a:xfrm>
            <a:off x="10607040" y="1874520"/>
            <a:ext cx="0" cy="283464"/>
          </a:xfrm>
          <a:prstGeom prst="line">
            <a:avLst/>
          </a:prstGeom>
          <a:noFill/>
          <a:ln w="19050">
            <a:solidFill>
              <a:srgbClr val="1F3A5C"/>
            </a:solidFill>
            <a:prstDash val="solid"/>
          </a:ln>
        </p:spPr>
      </p:sp>
      <p:sp>
        <p:nvSpPr>
          <p:cNvPr id="8" name="Shape 6"/>
          <p:cNvSpPr/>
          <p:nvPr/>
        </p:nvSpPr>
        <p:spPr>
          <a:xfrm>
            <a:off x="8229600" y="2596896"/>
            <a:ext cx="0" cy="283464"/>
          </a:xfrm>
          <a:prstGeom prst="line">
            <a:avLst/>
          </a:prstGeom>
          <a:noFill/>
          <a:ln w="19050">
            <a:solidFill>
              <a:srgbClr val="1F3A5C"/>
            </a:solidFill>
            <a:prstDash val="solid"/>
          </a:ln>
        </p:spPr>
      </p:sp>
      <p:sp>
        <p:nvSpPr>
          <p:cNvPr id="9" name="Shape 7"/>
          <p:cNvSpPr/>
          <p:nvPr/>
        </p:nvSpPr>
        <p:spPr>
          <a:xfrm>
            <a:off x="7589520" y="2880360"/>
            <a:ext cx="640080" cy="0"/>
          </a:xfrm>
          <a:prstGeom prst="line">
            <a:avLst/>
          </a:prstGeom>
          <a:noFill/>
          <a:ln w="19050">
            <a:solidFill>
              <a:srgbClr val="1F3A5C"/>
            </a:solidFill>
            <a:prstDash val="solid"/>
          </a:ln>
        </p:spPr>
      </p:sp>
      <p:sp>
        <p:nvSpPr>
          <p:cNvPr id="10" name="Shape 8"/>
          <p:cNvSpPr/>
          <p:nvPr/>
        </p:nvSpPr>
        <p:spPr>
          <a:xfrm>
            <a:off x="7589520" y="2880360"/>
            <a:ext cx="0" cy="283464"/>
          </a:xfrm>
          <a:prstGeom prst="line">
            <a:avLst/>
          </a:prstGeom>
          <a:noFill/>
          <a:ln w="19050">
            <a:solidFill>
              <a:srgbClr val="1F3A5C"/>
            </a:solidFill>
            <a:prstDash val="solid"/>
          </a:ln>
        </p:spPr>
      </p:sp>
      <p:sp>
        <p:nvSpPr>
          <p:cNvPr id="11" name="Shape 9"/>
          <p:cNvSpPr/>
          <p:nvPr/>
        </p:nvSpPr>
        <p:spPr>
          <a:xfrm>
            <a:off x="8229600" y="2596896"/>
            <a:ext cx="0" cy="283464"/>
          </a:xfrm>
          <a:prstGeom prst="line">
            <a:avLst/>
          </a:prstGeom>
          <a:noFill/>
          <a:ln w="19050">
            <a:solidFill>
              <a:srgbClr val="1F3A5C"/>
            </a:solidFill>
            <a:prstDash val="solid"/>
          </a:ln>
        </p:spPr>
      </p:sp>
      <p:sp>
        <p:nvSpPr>
          <p:cNvPr id="12" name="Shape 10"/>
          <p:cNvSpPr/>
          <p:nvPr/>
        </p:nvSpPr>
        <p:spPr>
          <a:xfrm>
            <a:off x="8229600" y="2880360"/>
            <a:ext cx="640080" cy="0"/>
          </a:xfrm>
          <a:prstGeom prst="line">
            <a:avLst/>
          </a:prstGeom>
          <a:noFill/>
          <a:ln w="19050">
            <a:solidFill>
              <a:srgbClr val="1F3A5C"/>
            </a:solidFill>
            <a:prstDash val="solid"/>
          </a:ln>
        </p:spPr>
      </p:sp>
      <p:sp>
        <p:nvSpPr>
          <p:cNvPr id="13" name="Shape 11"/>
          <p:cNvSpPr/>
          <p:nvPr/>
        </p:nvSpPr>
        <p:spPr>
          <a:xfrm>
            <a:off x="8869680" y="2880360"/>
            <a:ext cx="0" cy="283464"/>
          </a:xfrm>
          <a:prstGeom prst="line">
            <a:avLst/>
          </a:prstGeom>
          <a:noFill/>
          <a:ln w="19050">
            <a:solidFill>
              <a:srgbClr val="1F3A5C"/>
            </a:solidFill>
            <a:prstDash val="solid"/>
          </a:ln>
        </p:spPr>
      </p:sp>
      <p:sp>
        <p:nvSpPr>
          <p:cNvPr id="14" name="Shape 12"/>
          <p:cNvSpPr/>
          <p:nvPr/>
        </p:nvSpPr>
        <p:spPr>
          <a:xfrm>
            <a:off x="10607040" y="2596896"/>
            <a:ext cx="0" cy="283464"/>
          </a:xfrm>
          <a:prstGeom prst="line">
            <a:avLst/>
          </a:prstGeom>
          <a:noFill/>
          <a:ln w="19050">
            <a:solidFill>
              <a:srgbClr val="1F3A5C"/>
            </a:solidFill>
            <a:prstDash val="solid"/>
          </a:ln>
        </p:spPr>
      </p:sp>
      <p:sp>
        <p:nvSpPr>
          <p:cNvPr id="15" name="Shape 13"/>
          <p:cNvSpPr/>
          <p:nvPr/>
        </p:nvSpPr>
        <p:spPr>
          <a:xfrm>
            <a:off x="10241280" y="2880360"/>
            <a:ext cx="365760" cy="0"/>
          </a:xfrm>
          <a:prstGeom prst="line">
            <a:avLst/>
          </a:prstGeom>
          <a:noFill/>
          <a:ln w="19050">
            <a:solidFill>
              <a:srgbClr val="1F3A5C"/>
            </a:solidFill>
            <a:prstDash val="solid"/>
          </a:ln>
        </p:spPr>
      </p:sp>
      <p:sp>
        <p:nvSpPr>
          <p:cNvPr id="16" name="Shape 14"/>
          <p:cNvSpPr/>
          <p:nvPr/>
        </p:nvSpPr>
        <p:spPr>
          <a:xfrm>
            <a:off x="10241280" y="2880360"/>
            <a:ext cx="0" cy="283464"/>
          </a:xfrm>
          <a:prstGeom prst="line">
            <a:avLst/>
          </a:prstGeom>
          <a:noFill/>
          <a:ln w="19050">
            <a:solidFill>
              <a:srgbClr val="1F3A5C"/>
            </a:solidFill>
            <a:prstDash val="solid"/>
          </a:ln>
        </p:spPr>
      </p:sp>
      <p:sp>
        <p:nvSpPr>
          <p:cNvPr id="17" name="Shape 15"/>
          <p:cNvSpPr/>
          <p:nvPr/>
        </p:nvSpPr>
        <p:spPr>
          <a:xfrm>
            <a:off x="10607040" y="2596896"/>
            <a:ext cx="0" cy="283464"/>
          </a:xfrm>
          <a:prstGeom prst="line">
            <a:avLst/>
          </a:prstGeom>
          <a:noFill/>
          <a:ln w="19050">
            <a:solidFill>
              <a:srgbClr val="1F3A5C"/>
            </a:solidFill>
            <a:prstDash val="solid"/>
          </a:ln>
        </p:spPr>
      </p:sp>
      <p:sp>
        <p:nvSpPr>
          <p:cNvPr id="18" name="Shape 16"/>
          <p:cNvSpPr/>
          <p:nvPr/>
        </p:nvSpPr>
        <p:spPr>
          <a:xfrm>
            <a:off x="10607040" y="2880360"/>
            <a:ext cx="640080" cy="0"/>
          </a:xfrm>
          <a:prstGeom prst="line">
            <a:avLst/>
          </a:prstGeom>
          <a:noFill/>
          <a:ln w="19050">
            <a:solidFill>
              <a:srgbClr val="1F3A5C"/>
            </a:solidFill>
            <a:prstDash val="solid"/>
          </a:ln>
        </p:spPr>
      </p:sp>
      <p:sp>
        <p:nvSpPr>
          <p:cNvPr id="19" name="Shape 17"/>
          <p:cNvSpPr/>
          <p:nvPr/>
        </p:nvSpPr>
        <p:spPr>
          <a:xfrm>
            <a:off x="11247120" y="2880360"/>
            <a:ext cx="0" cy="283464"/>
          </a:xfrm>
          <a:prstGeom prst="line">
            <a:avLst/>
          </a:prstGeom>
          <a:noFill/>
          <a:ln w="19050">
            <a:solidFill>
              <a:srgbClr val="1F3A5C"/>
            </a:solidFill>
            <a:prstDash val="solid"/>
          </a:ln>
        </p:spPr>
      </p:sp>
      <p:sp>
        <p:nvSpPr>
          <p:cNvPr id="20" name="Shape 18"/>
          <p:cNvSpPr/>
          <p:nvPr/>
        </p:nvSpPr>
        <p:spPr>
          <a:xfrm>
            <a:off x="7589520" y="3602736"/>
            <a:ext cx="0" cy="283464"/>
          </a:xfrm>
          <a:prstGeom prst="line">
            <a:avLst/>
          </a:prstGeom>
          <a:noFill/>
          <a:ln w="19050">
            <a:solidFill>
              <a:srgbClr val="1F3A5C"/>
            </a:solidFill>
            <a:prstDash val="solid"/>
          </a:ln>
        </p:spPr>
      </p:sp>
      <p:sp>
        <p:nvSpPr>
          <p:cNvPr id="21" name="Shape 19"/>
          <p:cNvSpPr/>
          <p:nvPr/>
        </p:nvSpPr>
        <p:spPr>
          <a:xfrm>
            <a:off x="7223760" y="3886200"/>
            <a:ext cx="365760" cy="0"/>
          </a:xfrm>
          <a:prstGeom prst="line">
            <a:avLst/>
          </a:prstGeom>
          <a:noFill/>
          <a:ln w="19050">
            <a:solidFill>
              <a:srgbClr val="1F3A5C"/>
            </a:solidFill>
            <a:prstDash val="solid"/>
          </a:ln>
        </p:spPr>
      </p:sp>
      <p:sp>
        <p:nvSpPr>
          <p:cNvPr id="22" name="Shape 20"/>
          <p:cNvSpPr/>
          <p:nvPr/>
        </p:nvSpPr>
        <p:spPr>
          <a:xfrm>
            <a:off x="7223760" y="3886200"/>
            <a:ext cx="0" cy="283464"/>
          </a:xfrm>
          <a:prstGeom prst="line">
            <a:avLst/>
          </a:prstGeom>
          <a:noFill/>
          <a:ln w="19050">
            <a:solidFill>
              <a:srgbClr val="1F3A5C"/>
            </a:solidFill>
            <a:prstDash val="solid"/>
          </a:ln>
        </p:spPr>
      </p:sp>
      <p:sp>
        <p:nvSpPr>
          <p:cNvPr id="23" name="Shape 21"/>
          <p:cNvSpPr/>
          <p:nvPr/>
        </p:nvSpPr>
        <p:spPr>
          <a:xfrm>
            <a:off x="7589520" y="3602736"/>
            <a:ext cx="0" cy="283464"/>
          </a:xfrm>
          <a:prstGeom prst="line">
            <a:avLst/>
          </a:prstGeom>
          <a:noFill/>
          <a:ln w="19050">
            <a:solidFill>
              <a:srgbClr val="1F3A5C"/>
            </a:solidFill>
            <a:prstDash val="solid"/>
          </a:ln>
        </p:spPr>
      </p:sp>
      <p:sp>
        <p:nvSpPr>
          <p:cNvPr id="24" name="Shape 22"/>
          <p:cNvSpPr/>
          <p:nvPr/>
        </p:nvSpPr>
        <p:spPr>
          <a:xfrm>
            <a:off x="7589520" y="3886200"/>
            <a:ext cx="457200" cy="0"/>
          </a:xfrm>
          <a:prstGeom prst="line">
            <a:avLst/>
          </a:prstGeom>
          <a:noFill/>
          <a:ln w="19050">
            <a:solidFill>
              <a:srgbClr val="1F3A5C"/>
            </a:solidFill>
            <a:prstDash val="solid"/>
          </a:ln>
        </p:spPr>
      </p:sp>
      <p:sp>
        <p:nvSpPr>
          <p:cNvPr id="25" name="Shape 23"/>
          <p:cNvSpPr/>
          <p:nvPr/>
        </p:nvSpPr>
        <p:spPr>
          <a:xfrm>
            <a:off x="8046720" y="3886200"/>
            <a:ext cx="0" cy="283464"/>
          </a:xfrm>
          <a:prstGeom prst="line">
            <a:avLst/>
          </a:prstGeom>
          <a:noFill/>
          <a:ln w="19050">
            <a:solidFill>
              <a:srgbClr val="1F3A5C"/>
            </a:solidFill>
            <a:prstDash val="solid"/>
          </a:ln>
        </p:spPr>
      </p:sp>
      <p:sp>
        <p:nvSpPr>
          <p:cNvPr id="26" name="Shape 24"/>
          <p:cNvSpPr/>
          <p:nvPr/>
        </p:nvSpPr>
        <p:spPr>
          <a:xfrm>
            <a:off x="11247120" y="3602736"/>
            <a:ext cx="0" cy="283464"/>
          </a:xfrm>
          <a:prstGeom prst="line">
            <a:avLst/>
          </a:prstGeom>
          <a:noFill/>
          <a:ln w="19050">
            <a:solidFill>
              <a:srgbClr val="1F3A5C"/>
            </a:solidFill>
            <a:prstDash val="solid"/>
          </a:ln>
        </p:spPr>
      </p:sp>
      <p:sp>
        <p:nvSpPr>
          <p:cNvPr id="27" name="Shape 25"/>
          <p:cNvSpPr/>
          <p:nvPr/>
        </p:nvSpPr>
        <p:spPr>
          <a:xfrm>
            <a:off x="11247120" y="3886200"/>
            <a:ext cx="0" cy="283464"/>
          </a:xfrm>
          <a:prstGeom prst="line">
            <a:avLst/>
          </a:prstGeom>
          <a:noFill/>
          <a:ln w="19050">
            <a:solidFill>
              <a:srgbClr val="1F3A5C"/>
            </a:solidFill>
            <a:prstDash val="solid"/>
          </a:ln>
        </p:spPr>
      </p:sp>
      <p:sp>
        <p:nvSpPr>
          <p:cNvPr id="28" name="Shape 26"/>
          <p:cNvSpPr/>
          <p:nvPr/>
        </p:nvSpPr>
        <p:spPr>
          <a:xfrm>
            <a:off x="9198864" y="1152144"/>
            <a:ext cx="438912" cy="438912"/>
          </a:xfrm>
          <a:prstGeom prst="ellipse">
            <a:avLst/>
          </a:prstGeom>
          <a:solidFill>
            <a:srgbClr val="22D3C5"/>
          </a:solidFill>
          <a:ln w="15875">
            <a:solidFill>
              <a:srgbClr val="1F3A5C"/>
            </a:solidFill>
            <a:prstDash val="solid"/>
          </a:ln>
        </p:spPr>
      </p:sp>
      <p:sp>
        <p:nvSpPr>
          <p:cNvPr id="29" name="Shape 27"/>
          <p:cNvSpPr/>
          <p:nvPr/>
        </p:nvSpPr>
        <p:spPr>
          <a:xfrm>
            <a:off x="8010144" y="2157984"/>
            <a:ext cx="438912" cy="438912"/>
          </a:xfrm>
          <a:prstGeom prst="ellipse">
            <a:avLst/>
          </a:prstGeom>
          <a:solidFill>
            <a:srgbClr val="0F1E36"/>
          </a:solidFill>
          <a:ln w="15875">
            <a:solidFill>
              <a:srgbClr val="1F3A5C"/>
            </a:solidFill>
            <a:prstDash val="solid"/>
          </a:ln>
        </p:spPr>
      </p:sp>
      <p:sp>
        <p:nvSpPr>
          <p:cNvPr id="30" name="Shape 28"/>
          <p:cNvSpPr/>
          <p:nvPr/>
        </p:nvSpPr>
        <p:spPr>
          <a:xfrm>
            <a:off x="10387584" y="2157984"/>
            <a:ext cx="438912" cy="438912"/>
          </a:xfrm>
          <a:prstGeom prst="ellipse">
            <a:avLst/>
          </a:prstGeom>
          <a:solidFill>
            <a:srgbClr val="0F1E36"/>
          </a:solidFill>
          <a:ln w="15875">
            <a:solidFill>
              <a:srgbClr val="1F3A5C"/>
            </a:solidFill>
            <a:prstDash val="solid"/>
          </a:ln>
        </p:spPr>
      </p:sp>
      <p:sp>
        <p:nvSpPr>
          <p:cNvPr id="31" name="Shape 29"/>
          <p:cNvSpPr/>
          <p:nvPr/>
        </p:nvSpPr>
        <p:spPr>
          <a:xfrm>
            <a:off x="7370064" y="3163824"/>
            <a:ext cx="438912" cy="438912"/>
          </a:xfrm>
          <a:prstGeom prst="ellipse">
            <a:avLst/>
          </a:prstGeom>
          <a:solidFill>
            <a:srgbClr val="0F1E36"/>
          </a:solidFill>
          <a:ln w="15875">
            <a:solidFill>
              <a:srgbClr val="1F3A5C"/>
            </a:solidFill>
            <a:prstDash val="solid"/>
          </a:ln>
        </p:spPr>
      </p:sp>
      <p:sp>
        <p:nvSpPr>
          <p:cNvPr id="32" name="Shape 30"/>
          <p:cNvSpPr/>
          <p:nvPr/>
        </p:nvSpPr>
        <p:spPr>
          <a:xfrm>
            <a:off x="8650224" y="3163824"/>
            <a:ext cx="438912" cy="438912"/>
          </a:xfrm>
          <a:prstGeom prst="ellipse">
            <a:avLst/>
          </a:prstGeom>
          <a:solidFill>
            <a:srgbClr val="0F1E36"/>
          </a:solidFill>
          <a:ln w="15875">
            <a:solidFill>
              <a:srgbClr val="1F3A5C"/>
            </a:solidFill>
            <a:prstDash val="solid"/>
          </a:ln>
        </p:spPr>
      </p:sp>
      <p:sp>
        <p:nvSpPr>
          <p:cNvPr id="33" name="Shape 31"/>
          <p:cNvSpPr/>
          <p:nvPr/>
        </p:nvSpPr>
        <p:spPr>
          <a:xfrm>
            <a:off x="10021824" y="3163824"/>
            <a:ext cx="438912" cy="438912"/>
          </a:xfrm>
          <a:prstGeom prst="ellipse">
            <a:avLst/>
          </a:prstGeom>
          <a:solidFill>
            <a:srgbClr val="0F1E36"/>
          </a:solidFill>
          <a:ln w="15875">
            <a:solidFill>
              <a:srgbClr val="1F3A5C"/>
            </a:solidFill>
            <a:prstDash val="solid"/>
          </a:ln>
        </p:spPr>
      </p:sp>
      <p:sp>
        <p:nvSpPr>
          <p:cNvPr id="34" name="Shape 32"/>
          <p:cNvSpPr/>
          <p:nvPr/>
        </p:nvSpPr>
        <p:spPr>
          <a:xfrm>
            <a:off x="11027664" y="3163824"/>
            <a:ext cx="438912" cy="438912"/>
          </a:xfrm>
          <a:prstGeom prst="ellipse">
            <a:avLst/>
          </a:prstGeom>
          <a:solidFill>
            <a:srgbClr val="22D3C5"/>
          </a:solidFill>
          <a:ln w="15875">
            <a:solidFill>
              <a:srgbClr val="1F3A5C"/>
            </a:solidFill>
            <a:prstDash val="solid"/>
          </a:ln>
        </p:spPr>
      </p:sp>
      <p:sp>
        <p:nvSpPr>
          <p:cNvPr id="35" name="Shape 33"/>
          <p:cNvSpPr/>
          <p:nvPr/>
        </p:nvSpPr>
        <p:spPr>
          <a:xfrm>
            <a:off x="7004304" y="4169664"/>
            <a:ext cx="438912" cy="438912"/>
          </a:xfrm>
          <a:prstGeom prst="ellipse">
            <a:avLst/>
          </a:prstGeom>
          <a:solidFill>
            <a:srgbClr val="0F1E36"/>
          </a:solidFill>
          <a:ln w="15875">
            <a:solidFill>
              <a:srgbClr val="1F3A5C"/>
            </a:solidFill>
            <a:prstDash val="solid"/>
          </a:ln>
        </p:spPr>
      </p:sp>
      <p:sp>
        <p:nvSpPr>
          <p:cNvPr id="36" name="Shape 34"/>
          <p:cNvSpPr/>
          <p:nvPr/>
        </p:nvSpPr>
        <p:spPr>
          <a:xfrm>
            <a:off x="7827264" y="4169664"/>
            <a:ext cx="438912" cy="438912"/>
          </a:xfrm>
          <a:prstGeom prst="ellipse">
            <a:avLst/>
          </a:prstGeom>
          <a:solidFill>
            <a:srgbClr val="0F1E36"/>
          </a:solidFill>
          <a:ln w="15875">
            <a:solidFill>
              <a:srgbClr val="1F3A5C"/>
            </a:solidFill>
            <a:prstDash val="solid"/>
          </a:ln>
        </p:spPr>
      </p:sp>
      <p:sp>
        <p:nvSpPr>
          <p:cNvPr id="37" name="Shape 35"/>
          <p:cNvSpPr/>
          <p:nvPr/>
        </p:nvSpPr>
        <p:spPr>
          <a:xfrm>
            <a:off x="11027664" y="4169664"/>
            <a:ext cx="438912" cy="438912"/>
          </a:xfrm>
          <a:prstGeom prst="ellipse">
            <a:avLst/>
          </a:prstGeom>
          <a:solidFill>
            <a:srgbClr val="0F1E36"/>
          </a:solidFill>
          <a:ln w="15875">
            <a:solidFill>
              <a:srgbClr val="1F3A5C"/>
            </a:solidFill>
            <a:prstDash val="solid"/>
          </a:ln>
        </p:spPr>
      </p:sp>
      <p:sp>
        <p:nvSpPr>
          <p:cNvPr id="38" name="Text 36"/>
          <p:cNvSpPr txBox="1"/>
          <p:nvPr/>
        </p:nvSpPr>
        <p:spPr>
          <a:xfrm>
            <a:off x="731520" y="1920240"/>
            <a:ext cx="7315200" cy="1188720"/>
          </a:xfrm>
          <a:prstGeom prst="rect">
            <a:avLst/>
          </a:prstGeom>
          <a:noFill/>
          <a:ln/>
        </p:spPr>
        <p:txBody>
          <a:bodyPr wrap="square" lIns="0" tIns="0" rIns="0" bIns="0" rtlCol="0" anchor="t"/>
          <a:lstStyle/>
          <a:p>
            <a:pPr indent="0" marL="0">
              <a:buNone/>
            </a:pPr>
            <a:r>
              <a:rPr lang="en-US" sz="6400" b="1" dirty="0">
                <a:solidFill>
                  <a:srgbClr val="F1F6FB"/>
                </a:solidFill>
                <a:latin typeface="Calibri" pitchFamily="34" charset="0"/>
                <a:ea typeface="Calibri" pitchFamily="34" charset="-122"/>
                <a:cs typeface="Calibri" pitchFamily="34" charset="-120"/>
              </a:rPr>
              <a:t>Thank You</a:t>
            </a:r>
            <a:endParaRPr lang="en-US" sz="6400" dirty="0"/>
          </a:p>
        </p:txBody>
      </p:sp>
      <p:sp>
        <p:nvSpPr>
          <p:cNvPr id="39" name="Text 37"/>
          <p:cNvSpPr txBox="1"/>
          <p:nvPr/>
        </p:nvSpPr>
        <p:spPr>
          <a:xfrm>
            <a:off x="731520" y="3154680"/>
            <a:ext cx="7315200" cy="822960"/>
          </a:xfrm>
          <a:prstGeom prst="rect">
            <a:avLst/>
          </a:prstGeom>
          <a:noFill/>
          <a:ln/>
        </p:spPr>
        <p:txBody>
          <a:bodyPr wrap="square" lIns="0" tIns="0" rIns="0" bIns="0" rtlCol="0" anchor="t"/>
          <a:lstStyle/>
          <a:p>
            <a:pPr indent="0" marL="0">
              <a:buNone/>
            </a:pPr>
            <a:r>
              <a:rPr lang="en-US" sz="3800" b="1" dirty="0">
                <a:solidFill>
                  <a:srgbClr val="22D3C5"/>
                </a:solidFill>
                <a:latin typeface="Calibri" pitchFamily="34" charset="0"/>
                <a:ea typeface="Calibri" pitchFamily="34" charset="-122"/>
                <a:cs typeface="Calibri" pitchFamily="34" charset="-120"/>
              </a:rPr>
              <a:t>Questions?</a:t>
            </a:r>
            <a:endParaRPr lang="en-US" sz="3800" dirty="0"/>
          </a:p>
        </p:txBody>
      </p:sp>
      <p:sp>
        <p:nvSpPr>
          <p:cNvPr id="40" name="Text 38"/>
          <p:cNvSpPr txBox="1"/>
          <p:nvPr/>
        </p:nvSpPr>
        <p:spPr>
          <a:xfrm>
            <a:off x="731520" y="4572000"/>
            <a:ext cx="7315200" cy="365760"/>
          </a:xfrm>
          <a:prstGeom prst="rect">
            <a:avLst/>
          </a:prstGeom>
          <a:noFill/>
          <a:ln/>
        </p:spPr>
        <p:txBody>
          <a:bodyPr wrap="square" lIns="0" tIns="0" rIns="0" bIns="0" rtlCol="0" anchor="t"/>
          <a:lstStyle/>
          <a:p>
            <a:pPr indent="0" marL="0">
              <a:buNone/>
            </a:pPr>
            <a:r>
              <a:rPr lang="en-US" sz="1800" dirty="0">
                <a:solidFill>
                  <a:srgbClr val="A9BBD0"/>
                </a:solidFill>
                <a:latin typeface="Calibri" pitchFamily="34" charset="0"/>
                <a:ea typeface="Calibri" pitchFamily="34" charset="-122"/>
                <a:cs typeface="Calibri" pitchFamily="34" charset="-120"/>
              </a:rPr>
              <a:t>G.Neha Deepika · Poojitha Sai · M.Poojitha</a:t>
            </a:r>
            <a:endParaRPr lang="en-US" sz="1800" dirty="0"/>
          </a:p>
        </p:txBody>
      </p:sp>
      <p:sp>
        <p:nvSpPr>
          <p:cNvPr id="41" name="Text 39"/>
          <p:cNvSpPr txBox="1"/>
          <p:nvPr/>
        </p:nvSpPr>
        <p:spPr>
          <a:xfrm>
            <a:off x="731520" y="4983480"/>
            <a:ext cx="7315200" cy="365760"/>
          </a:xfrm>
          <a:prstGeom prst="rect">
            <a:avLst/>
          </a:prstGeom>
          <a:noFill/>
          <a:ln/>
        </p:spPr>
        <p:txBody>
          <a:bodyPr wrap="square" lIns="0" tIns="0" rIns="0" bIns="0" rtlCol="0" anchor="t"/>
          <a:lstStyle/>
          <a:p>
            <a:pPr indent="0" marL="0">
              <a:buNone/>
            </a:pPr>
            <a:r>
              <a:rPr lang="en-US" sz="1400" dirty="0">
                <a:solidFill>
                  <a:srgbClr val="7F93AB"/>
                </a:solidFill>
                <a:latin typeface="Calibri" pitchFamily="34" charset="0"/>
                <a:ea typeface="Calibri" pitchFamily="34" charset="-122"/>
                <a:cs typeface="Calibri" pitchFamily="34" charset="-120"/>
              </a:rPr>
              <a:t>KL University, Hyderabad · CSE (AIML)</a:t>
            </a:r>
            <a:endParaRPr lang="en-US" sz="1400" dirty="0"/>
          </a:p>
        </p:txBody>
      </p:sp>
    </p:spTree>
  </p:cSld>
  <p:clrMapOvr>
    <a:masterClrMapping/>
  </p:clrMapOvr>
</p:sld>
</file>

<file path=ppt/theme/theme1.xml><?xml version="1.0" encoding="utf-8"?>
<a:theme xmlns:a="http://schemas.openxmlformats.org/drawingml/2006/main" name="ProcScope Dark">
  <a:themeElements>
    <a:clrScheme name="ProcScope Dark">
      <a:dk1>
        <a:srgbClr val="0B1426"/>
      </a:dk1>
      <a:lt1>
        <a:srgbClr val="F1F6FB"/>
      </a:lt1>
      <a:dk2>
        <a:srgbClr val="13233D"/>
      </a:dk2>
      <a:lt2>
        <a:srgbClr val="A9BBD0"/>
      </a:lt2>
      <a:accent1>
        <a:srgbClr val="22D3C5"/>
      </a:accent1>
      <a:accent2>
        <a:srgbClr val="0E7C86"/>
      </a:accent2>
      <a:accent3>
        <a:srgbClr val="F5B94A"/>
      </a:accent3>
      <a:accent4>
        <a:srgbClr val="5B8DEF"/>
      </a:accent4>
      <a:accent5>
        <a:srgbClr val="2A4468"/>
      </a:accent5>
      <a:accent6>
        <a:srgbClr val="7F93AB"/>
      </a:accent6>
      <a:hlink>
        <a:srgbClr val="22D3C5"/>
      </a:hlink>
      <a:folHlink>
        <a:srgbClr val="A9BBD0"/>
      </a:folHlink>
    </a:clrScheme>
    <a:fontScheme name="ProcScope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ProcScope — Linux Process Tree Visualizer</dc:title>
  <dc:subject>PptxGenJS Presentation</dc:subject>
  <dc:creator>G.Neha Deepika, Poojitha Sai, M.Poojitha</dc:creator>
  <cp:lastModifiedBy>G.Neha Deepika, Poojitha Sai, M.Poojitha</cp:lastModifiedBy>
  <cp:revision>1</cp:revision>
  <dcterms:created xsi:type="dcterms:W3CDTF">2026-10-17T06:14:29Z</dcterms:created>
  <dcterms:modified xsi:type="dcterms:W3CDTF">2026-10-17T06:14:29Z</dcterms:modified>
</cp:coreProperties>
</file>